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 the panel, introduce the team members and the supervisor, and state the title of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 Every organisation receives requests; a helpdesk turns them into tickets that can be prioritised, assigned, tracked against a promised response time and closed. Commercial platforms serve large enterprises; small teams rely on shared mailboxes or open-source tools that store tickets but leave decisions to people. Smart Helpdesk serves many organisations (tenants) from one installation and makes four decisions automatically, explaining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1.2. These problems came from reviewing how small support teams work and from the study of existing open-source helpdesks in Section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1.3 and 1.4. Four objectives. The algorithms are intentionally minimal and replaceable, so they can be understood completely and later substituted with stronger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 Requirements were known at the start from the problem statement and course requirements, and the project had a fixed period of three months (16 June to 15 September 2026). Phases were completed one after another, each ending with a reviewed document or product. The two members worked on separate features during implementation and reviewed each other's work before merging.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2.1 and 2.2. Impact and urgency are the usual priority inputs (Jira matrix); ITIL notes the backlog and target times also matter, motivating an ageing term. Simple Additive Weighting, least-loaded skill-based routing from contact centres, Jaccard similarity from information retrieval, and PostgreSQL row-level security. Of the four open-source helpdesks, only GLPI computes priority (fixed matrix, no waiting time); none assigns by workload and skills, and none detects duplicates automatically. Runeson et al. found about 30 % of duplicates among the top five suggestions using word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3.1.1. Actors: Platform Super Admin, Tenant Admin, Support Manager, Support Agent, external systems, Contact (by email) and the scheduler. Table 3.1 lists the functional requirements by module; Tables 3.2 and 3.3 describe the Create ticket and Assign ticket use cases; Table 3.4 lists the non-functional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3.1.2. Technical: mature open-source components run together with Docker Compose on one VM; the live deployment uses an AWS instance with two vCPUs and 2 GB of memory. Operational: follows existing support workflows and explains every decision. Economic: no licence; a VM of the required size costs roughly US$8 to 35 per month. Schedule: three months, 16 June to 15 September 2026 (Table 3.5, Figure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3.2. Clients reach one virtual machine over HTTPS. A reverse proxy terminates HTTPS for the application, API, administration, documentation, file and mail hosts and serves the React single-page application. The PHP application, queue workers and scheduler run from one container image; the backend is divided into modules with one-way dependencies, and notification, integration, reporting and audit only react to events. Each algorithm is an interface with a simple baseline implementation that returns its result and an explanation. PostgreSQL (with row-level security on every workspace table and the change-capture trigger), Valkey, object storage and the mail server run as separate containers on an internal network. The same arrangement runs on a developer computer, an organisation's own server or any cloud 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3.3.1 and 3.3.2. Priority: a weighted sum of four inputs scaled to 0–1 (simple additive weighting), computed on creation, when an input changes and hourly for open tickets; a manager's manual priority always wins; constant cost. Example: impact 2, urgency 3, premium customer gives 47.5 (P3) after 24 hours and 54.2 (P2) after 72 hours, showing ageing. Assignment: eligible agents are available, on shift if enforced, hold all required skills, are in the team and below capacity; the lowest open-to-capacity ratio wins, ties to the least recently assigned; cost O(A log A). Example: Asha and Chen 3/10, Bikram 2/5 = 0.40; Chen, assigned earlier than Asha, gets the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3.3.3 to 3.3.5. Duplicates: title and description are lower-cased, split on non-letters/digits/hyphens, stripped of 117 stop words and words shorter than three characters; candidates are same-tenant tickets from the last 30 days that are not closed, at most 50; threshold 0.35, top five kept; cost O(K × W). SLA: first-response and resolution timers, each a state machine; deadlines through a calendar of all hours or working hours; the per-minute check reads only due timers and records sent notifications, so running twice has no extra effect. History: a trigger records each change with old and new values; a record at time t is rebuilt by undoing later changes newest first, O(k); ticket events are swept into intervals, O(e), for time in status, backlog and workload over time, with daily snapshots.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4.1. Tools in Table 4.1. The backend is divided into modules with their own routes, models, rules and tables; each data change runs in one transaction; the algorithms are plain functions behind interfaces. Workspace comes from the session or API client, never the web address, and row-level security limits every query. Tickets: numbered per workspace, with priority, SLA timers, duplicates and assignment in the same transaction. Media: direct uploads to object storage through short-lived signed links. Mail: reply address identifies the ticket; incoming mail read every minute. Reporting: trigger-based history, CSV and XLSX exports. Integrations: client credentials and signed webhooks with retries. Frontend: features on a shared design system with light and dark themes.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4.2 and 4.3. Testing was manual: each function on its own (unit testing), then complete workflows through the web application on the development machine and the deployed server (system testing), in both themes in Google Chrome, repeated after each correction. All 15 unit and 8 system test cases passed. The algorithms were checked with worked examples calculated by hand. Limitations found: duplicates in completely different words are not detected, and behaviour under heavy load was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All objectives of Section 1.3 were met. The main lessons: explanations make automatic decisions easier to trust, time handling is the hardest part of SLA management, and data separation must be checked on every screen and API. Limitations from Section 1.4 and the results; future work from Section 5.2.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146BDC"/>
          </a:solidFill>
          <a:ln w="12700">
            <a:solidFill>
              <a:srgbClr val="146BDC"/>
            </a:solidFill>
            <a:prstDash val="solid"/>
          </a:ln>
        </p:spPr>
      </p:sp>
      <p:pic>
        <p:nvPicPr>
          <p:cNvPr id="3" name="Image 0" descr="/home/subham/Projects/college/fyp/smart-helpdesk/report/university/figures/tu-logo.png">    </p:cNvPr>
          <p:cNvPicPr>
            <a:picLocks noChangeAspect="1"/>
          </p:cNvPicPr>
          <p:nvPr/>
        </p:nvPicPr>
        <p:blipFill>
          <a:blip r:embed="rId1"/>
          <a:stretch>
            <a:fillRect/>
          </a:stretch>
        </p:blipFill>
        <p:spPr>
          <a:xfrm>
            <a:off x="5592928" y="411480"/>
            <a:ext cx="1005840" cy="1039257"/>
          </a:xfrm>
          <a:prstGeom prst="rect">
            <a:avLst/>
          </a:prstGeom>
        </p:spPr>
      </p:pic>
      <p:sp>
        <p:nvSpPr>
          <p:cNvPr id="4" name="Text 1"/>
          <p:cNvSpPr/>
          <p:nvPr/>
        </p:nvSpPr>
        <p:spPr>
          <a:xfrm>
            <a:off x="0" y="1572768"/>
            <a:ext cx="12191695" cy="365760"/>
          </a:xfrm>
          <a:prstGeom prst="rect">
            <a:avLst/>
          </a:prstGeom>
          <a:noFill/>
          <a:ln/>
        </p:spPr>
        <p:txBody>
          <a:bodyPr wrap="square" rtlCol="0" anchor="ctr"/>
          <a:lstStyle/>
          <a:p>
            <a:pPr algn="ctr" indent="0" marL="0">
              <a:buNone/>
            </a:pPr>
            <a:r>
              <a:rPr lang="en-US" sz="2000" b="1" dirty="0">
                <a:solidFill>
                  <a:srgbClr val="0F1B33"/>
                </a:solidFill>
                <a:latin typeface="Calibri" pitchFamily="34" charset="0"/>
                <a:ea typeface="Calibri" pitchFamily="34" charset="-122"/>
                <a:cs typeface="Calibri" pitchFamily="34" charset="-120"/>
              </a:rPr>
              <a:t>Tribhuvan University</a:t>
            </a:r>
            <a:endParaRPr lang="en-US" sz="2000" dirty="0"/>
          </a:p>
        </p:txBody>
      </p:sp>
      <p:sp>
        <p:nvSpPr>
          <p:cNvPr id="5" name="Text 2"/>
          <p:cNvSpPr/>
          <p:nvPr/>
        </p:nvSpPr>
        <p:spPr>
          <a:xfrm>
            <a:off x="0" y="1901952"/>
            <a:ext cx="12191695" cy="320040"/>
          </a:xfrm>
          <a:prstGeom prst="rect">
            <a:avLst/>
          </a:prstGeom>
          <a:noFill/>
          <a:ln/>
        </p:spPr>
        <p:txBody>
          <a:bodyPr wrap="square" rtlCol="0" anchor="ctr"/>
          <a:lstStyle/>
          <a:p>
            <a:pPr algn="ctr" indent="0" marL="0">
              <a:buNone/>
            </a:pPr>
            <a:r>
              <a:rPr lang="en-US" sz="1500" dirty="0">
                <a:solidFill>
                  <a:srgbClr val="5B6576"/>
                </a:solidFill>
                <a:latin typeface="Calibri" pitchFamily="34" charset="0"/>
                <a:ea typeface="Calibri" pitchFamily="34" charset="-122"/>
                <a:cs typeface="Calibri" pitchFamily="34" charset="-120"/>
              </a:rPr>
              <a:t>Faculty of Humanities and Social Sciences</a:t>
            </a:r>
            <a:endParaRPr lang="en-US" sz="1500" dirty="0"/>
          </a:p>
        </p:txBody>
      </p:sp>
      <p:sp>
        <p:nvSpPr>
          <p:cNvPr id="6" name="Text 3"/>
          <p:cNvSpPr/>
          <p:nvPr/>
        </p:nvSpPr>
        <p:spPr>
          <a:xfrm>
            <a:off x="0" y="2395728"/>
            <a:ext cx="12191695" cy="320040"/>
          </a:xfrm>
          <a:prstGeom prst="rect">
            <a:avLst/>
          </a:prstGeom>
          <a:noFill/>
          <a:ln/>
        </p:spPr>
        <p:txBody>
          <a:bodyPr wrap="square" rtlCol="0" anchor="ctr"/>
          <a:lstStyle/>
          <a:p>
            <a:pPr algn="ctr" indent="0" marL="0">
              <a:buNone/>
            </a:pPr>
            <a:r>
              <a:rPr lang="en-US" sz="1500" dirty="0">
                <a:solidFill>
                  <a:srgbClr val="5B6576"/>
                </a:solidFill>
                <a:latin typeface="Calibri" pitchFamily="34" charset="0"/>
                <a:ea typeface="Calibri" pitchFamily="34" charset="-122"/>
                <a:cs typeface="Calibri" pitchFamily="34" charset="-120"/>
              </a:rPr>
              <a:t>A Project Presentation on</a:t>
            </a:r>
            <a:endParaRPr lang="en-US" sz="1500" dirty="0"/>
          </a:p>
        </p:txBody>
      </p:sp>
      <p:sp>
        <p:nvSpPr>
          <p:cNvPr id="7" name="Text 4"/>
          <p:cNvSpPr/>
          <p:nvPr/>
        </p:nvSpPr>
        <p:spPr>
          <a:xfrm>
            <a:off x="0" y="2697480"/>
            <a:ext cx="12191695" cy="731520"/>
          </a:xfrm>
          <a:prstGeom prst="rect">
            <a:avLst/>
          </a:prstGeom>
          <a:noFill/>
          <a:ln/>
        </p:spPr>
        <p:txBody>
          <a:bodyPr wrap="square" rtlCol="0" anchor="ctr"/>
          <a:lstStyle/>
          <a:p>
            <a:pPr algn="ctr" indent="0" marL="0">
              <a:buNone/>
            </a:pPr>
            <a:r>
              <a:rPr lang="en-US" sz="4400" b="1" dirty="0">
                <a:solidFill>
                  <a:srgbClr val="146BDC"/>
                </a:solidFill>
                <a:latin typeface="Calibri" pitchFamily="34" charset="0"/>
                <a:ea typeface="Calibri" pitchFamily="34" charset="-122"/>
                <a:cs typeface="Calibri" pitchFamily="34" charset="-120"/>
              </a:rPr>
              <a:t>Smart Helpdesk</a:t>
            </a:r>
            <a:endParaRPr lang="en-US" sz="4400" dirty="0"/>
          </a:p>
        </p:txBody>
      </p:sp>
      <p:sp>
        <p:nvSpPr>
          <p:cNvPr id="8" name="Text 5"/>
          <p:cNvSpPr/>
          <p:nvPr/>
        </p:nvSpPr>
        <p:spPr>
          <a:xfrm>
            <a:off x="0" y="3401568"/>
            <a:ext cx="12191695" cy="411480"/>
          </a:xfrm>
          <a:prstGeom prst="rect">
            <a:avLst/>
          </a:prstGeom>
          <a:noFill/>
          <a:ln/>
        </p:spPr>
        <p:txBody>
          <a:bodyPr wrap="square" rtlCol="0" anchor="ctr"/>
          <a:lstStyle/>
          <a:p>
            <a:pPr algn="ctr" indent="0" marL="0">
              <a:buNone/>
            </a:pPr>
            <a:r>
              <a:rPr lang="en-US" sz="2200" dirty="0">
                <a:solidFill>
                  <a:srgbClr val="0F1B33"/>
                </a:solidFill>
                <a:latin typeface="Calibri" pitchFamily="34" charset="0"/>
                <a:ea typeface="Calibri" pitchFamily="34" charset="-122"/>
                <a:cs typeface="Calibri" pitchFamily="34" charset="-120"/>
              </a:rPr>
              <a:t>A Multi-Tenant Support Ticket Management System</a:t>
            </a:r>
            <a:endParaRPr lang="en-US" sz="2200" dirty="0"/>
          </a:p>
        </p:txBody>
      </p:sp>
      <p:sp>
        <p:nvSpPr>
          <p:cNvPr id="9" name="Shape 6"/>
          <p:cNvSpPr/>
          <p:nvPr/>
        </p:nvSpPr>
        <p:spPr>
          <a:xfrm>
            <a:off x="4724248" y="3977640"/>
            <a:ext cx="2743200" cy="0"/>
          </a:xfrm>
          <a:prstGeom prst="line">
            <a:avLst/>
          </a:prstGeom>
          <a:noFill/>
          <a:ln w="12700">
            <a:solidFill>
              <a:srgbClr val="D9DEE7"/>
            </a:solidFill>
            <a:prstDash val="solid"/>
          </a:ln>
        </p:spPr>
      </p:sp>
      <p:sp>
        <p:nvSpPr>
          <p:cNvPr id="10" name="Text 7"/>
          <p:cNvSpPr/>
          <p:nvPr/>
        </p:nvSpPr>
        <p:spPr>
          <a:xfrm>
            <a:off x="1463040" y="4160520"/>
            <a:ext cx="4206240" cy="1280160"/>
          </a:xfrm>
          <a:prstGeom prst="rect">
            <a:avLst/>
          </a:prstGeom>
          <a:noFill/>
          <a:ln/>
        </p:spPr>
        <p:txBody>
          <a:bodyPr wrap="square" rtlCol="0" anchor="t"/>
          <a:lstStyle/>
          <a:p>
            <a:pPr algn="ctr" indent="0" marL="0">
              <a:buNone/>
            </a:pPr>
            <a:r>
              <a:rPr lang="en-US" sz="1500" b="1" dirty="0">
                <a:solidFill>
                  <a:srgbClr val="0F1B33"/>
                </a:solidFill>
                <a:latin typeface="Calibri" pitchFamily="34" charset="0"/>
                <a:ea typeface="Calibri" pitchFamily="34" charset="-122"/>
                <a:cs typeface="Calibri" pitchFamily="34" charset="-120"/>
              </a:rPr>
              <a:t>Submitted by</a:t>
            </a:r>
            <a:endParaRPr lang="en-US" sz="1500" dirty="0"/>
          </a:p>
          <a:p>
            <a:pPr algn="ctr" indent="0" marL="0">
              <a:buNone/>
            </a:pPr>
            <a:r>
              <a:rPr lang="en-US" sz="1500" dirty="0">
                <a:solidFill>
                  <a:srgbClr val="1E293B"/>
                </a:solidFill>
                <a:latin typeface="Calibri" pitchFamily="34" charset="0"/>
                <a:ea typeface="Calibri" pitchFamily="34" charset="-122"/>
                <a:cs typeface="Calibri" pitchFamily="34" charset="-120"/>
              </a:rPr>
              <a:t>Subham Bhandari (6-2-355-29-2021)</a:t>
            </a:r>
            <a:endParaRPr lang="en-US" sz="1500" dirty="0"/>
          </a:p>
          <a:p>
            <a:pPr algn="ctr" indent="0" marL="0">
              <a:buNone/>
            </a:pPr>
            <a:r>
              <a:rPr lang="en-US" sz="1500" dirty="0">
                <a:solidFill>
                  <a:srgbClr val="1E293B"/>
                </a:solidFill>
                <a:latin typeface="Calibri" pitchFamily="34" charset="0"/>
                <a:ea typeface="Calibri" pitchFamily="34" charset="-122"/>
                <a:cs typeface="Calibri" pitchFamily="34" charset="-120"/>
              </a:rPr>
              <a:t>Utsav Karki (6-2-355-33-2021)</a:t>
            </a:r>
            <a:endParaRPr lang="en-US" sz="1500" dirty="0"/>
          </a:p>
          <a:p>
            <a:pPr algn="ctr" indent="0" marL="0">
              <a:buNone/>
            </a:pPr>
            <a:r>
              <a:rPr lang="en-US" sz="1500" dirty="0">
                <a:solidFill>
                  <a:srgbClr val="1E293B"/>
                </a:solidFill>
                <a:latin typeface="Calibri" pitchFamily="34" charset="0"/>
                <a:ea typeface="Calibri" pitchFamily="34" charset="-122"/>
                <a:cs typeface="Calibri" pitchFamily="34" charset="-120"/>
              </a:rPr>
              <a:t>BCA 8th Semester, IV Year</a:t>
            </a:r>
            <a:endParaRPr lang="en-US" sz="1500" dirty="0"/>
          </a:p>
        </p:txBody>
      </p:sp>
      <p:sp>
        <p:nvSpPr>
          <p:cNvPr id="11" name="Text 8"/>
          <p:cNvSpPr/>
          <p:nvPr/>
        </p:nvSpPr>
        <p:spPr>
          <a:xfrm>
            <a:off x="6492240" y="4160520"/>
            <a:ext cx="4206240" cy="1280160"/>
          </a:xfrm>
          <a:prstGeom prst="rect">
            <a:avLst/>
          </a:prstGeom>
          <a:noFill/>
          <a:ln/>
        </p:spPr>
        <p:txBody>
          <a:bodyPr wrap="square" rtlCol="0" anchor="t"/>
          <a:lstStyle/>
          <a:p>
            <a:pPr algn="ctr" indent="0" marL="0">
              <a:buNone/>
            </a:pPr>
            <a:r>
              <a:rPr lang="en-US" sz="1500" b="1" dirty="0">
                <a:solidFill>
                  <a:srgbClr val="0F1B33"/>
                </a:solidFill>
                <a:latin typeface="Calibri" pitchFamily="34" charset="0"/>
                <a:ea typeface="Calibri" pitchFamily="34" charset="-122"/>
                <a:cs typeface="Calibri" pitchFamily="34" charset="-120"/>
              </a:rPr>
              <a:t>Under the supervision of</a:t>
            </a:r>
            <a:endParaRPr lang="en-US" sz="1500" dirty="0"/>
          </a:p>
          <a:p>
            <a:pPr algn="ctr" indent="0" marL="0">
              <a:buNone/>
            </a:pPr>
            <a:r>
              <a:rPr lang="en-US" sz="1500" dirty="0">
                <a:solidFill>
                  <a:srgbClr val="1E293B"/>
                </a:solidFill>
                <a:latin typeface="Calibri" pitchFamily="34" charset="0"/>
                <a:ea typeface="Calibri" pitchFamily="34" charset="-122"/>
                <a:cs typeface="Calibri" pitchFamily="34" charset="-120"/>
              </a:rPr>
              <a:t>Mr. Kamal Pathak</a:t>
            </a:r>
            <a:endParaRPr lang="en-US" sz="1500" dirty="0"/>
          </a:p>
          <a:p>
            <a:pPr algn="ctr" indent="0" marL="0">
              <a:buNone/>
            </a:pPr>
            <a:r>
              <a:rPr lang="en-US" sz="1500" dirty="0">
                <a:solidFill>
                  <a:srgbClr val="1E293B"/>
                </a:solidFill>
                <a:latin typeface="Calibri" pitchFamily="34" charset="0"/>
                <a:ea typeface="Calibri" pitchFamily="34" charset="-122"/>
                <a:cs typeface="Calibri" pitchFamily="34" charset="-120"/>
              </a:rPr>
              <a:t>Department of BCA</a:t>
            </a:r>
            <a:endParaRPr lang="en-US" sz="1500" dirty="0"/>
          </a:p>
        </p:txBody>
      </p:sp>
      <p:sp>
        <p:nvSpPr>
          <p:cNvPr id="12" name="Text 9"/>
          <p:cNvSpPr/>
          <p:nvPr/>
        </p:nvSpPr>
        <p:spPr>
          <a:xfrm>
            <a:off x="0" y="5989320"/>
            <a:ext cx="12191695" cy="320040"/>
          </a:xfrm>
          <a:prstGeom prst="rect">
            <a:avLst/>
          </a:prstGeom>
          <a:noFill/>
          <a:ln/>
        </p:spPr>
        <p:txBody>
          <a:bodyPr wrap="square" rtlCol="0" anchor="ctr"/>
          <a:lstStyle/>
          <a:p>
            <a:pPr algn="ctr" indent="0" marL="0">
              <a:buNone/>
            </a:pPr>
            <a:r>
              <a:rPr lang="en-US" sz="1300" dirty="0">
                <a:solidFill>
                  <a:srgbClr val="5B6576"/>
                </a:solidFill>
                <a:latin typeface="Calibri" pitchFamily="34" charset="0"/>
                <a:ea typeface="Calibri" pitchFamily="34" charset="-122"/>
                <a:cs typeface="Calibri" pitchFamily="34" charset="-120"/>
              </a:rPr>
              <a:t>Department of BCA  ·  Everest College, Thapathali, Kathmandu  ·  CACS452 Project III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1 · INTRODUCTION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Introduction</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1 / 13</a:t>
            </a:r>
            <a:endParaRPr lang="en-US" sz="1000" dirty="0"/>
          </a:p>
        </p:txBody>
      </p:sp>
      <p:sp>
        <p:nvSpPr>
          <p:cNvPr id="9" name="Text 6"/>
          <p:cNvSpPr/>
          <p:nvPr/>
        </p:nvSpPr>
        <p:spPr>
          <a:xfrm>
            <a:off x="502920" y="1280160"/>
            <a:ext cx="5852160" cy="1005840"/>
          </a:xfrm>
          <a:prstGeom prst="rect">
            <a:avLst/>
          </a:prstGeom>
          <a:noFill/>
          <a:ln/>
        </p:spPr>
        <p:txBody>
          <a:bodyPr wrap="square" lIns="25400" tIns="25400" rIns="25400" bIns="25400" rtlCol="0" anchor="t"/>
          <a:lstStyle/>
          <a:p>
            <a:pPr indent="0" marL="0">
              <a:buNone/>
            </a:pPr>
            <a:r>
              <a:rPr lang="en-US" sz="1500" dirty="0">
                <a:solidFill>
                  <a:srgbClr val="5B6576"/>
                </a:solidFill>
                <a:latin typeface="Calibri" pitchFamily="34" charset="0"/>
                <a:ea typeface="Calibri" pitchFamily="34" charset="-122"/>
                <a:cs typeface="Calibri" pitchFamily="34" charset="-120"/>
              </a:rPr>
              <a:t>Every organisation receives requests: a login that fails, an invoice that is wrong, a server that is down. A helpdesk turns these requests into tickets that can be prioritised, assigned, tracked against a promised response time and closed.</a:t>
            </a:r>
            <a:endParaRPr lang="en-US" sz="1500" dirty="0"/>
          </a:p>
        </p:txBody>
      </p:sp>
      <p:sp>
        <p:nvSpPr>
          <p:cNvPr id="10" name="Text 7"/>
          <p:cNvSpPr/>
          <p:nvPr/>
        </p:nvSpPr>
        <p:spPr>
          <a:xfrm>
            <a:off x="502920" y="2331720"/>
            <a:ext cx="5852160" cy="3108960"/>
          </a:xfrm>
          <a:prstGeom prst="rect">
            <a:avLst/>
          </a:prstGeom>
          <a:noFill/>
          <a:ln/>
        </p:spPr>
        <p:txBody>
          <a:bodyPr wrap="square" lIns="25400" tIns="25400" rIns="25400" bIns="25400" rtlCol="0" anchor="t"/>
          <a:lstStyle/>
          <a:p>
            <a:pPr marL="203200" indent="-203200">
              <a:spcAft>
                <a:spcPts val="900"/>
              </a:spcAft>
              <a:buSzPct val="100000"/>
              <a:buChar char="■"/>
            </a:pPr>
            <a:r>
              <a:rPr lang="en-US" sz="1500" b="1" dirty="0">
                <a:solidFill>
                  <a:srgbClr val="0F1B33"/>
                </a:solidFill>
                <a:latin typeface="Calibri" pitchFamily="34" charset="0"/>
                <a:ea typeface="Calibri" pitchFamily="34" charset="-122"/>
                <a:cs typeface="Calibri" pitchFamily="34" charset="-120"/>
              </a:rPr>
              <a:t>Web-based</a:t>
            </a:r>
            <a:r>
              <a:rPr lang="en-US" sz="1500" dirty="0">
                <a:solidFill>
                  <a:srgbClr val="1E293B"/>
                </a:solidFill>
                <a:latin typeface="Calibri" pitchFamily="34" charset="0"/>
                <a:ea typeface="Calibri" pitchFamily="34" charset="-122"/>
                <a:cs typeface="Calibri" pitchFamily="34" charset="-120"/>
              </a:rPr>
              <a:t> support ticket management system for small and medium support teams.</a:t>
            </a:r>
            <a:endParaRPr lang="en-US" sz="1500" dirty="0"/>
          </a:p>
          <a:p>
            <a:pPr marL="203200" indent="-203200">
              <a:spcAft>
                <a:spcPts val="900"/>
              </a:spcAft>
              <a:buSzPct val="100000"/>
              <a:buChar char="■"/>
            </a:pPr>
            <a:r>
              <a:rPr lang="en-US" sz="1500" b="1" dirty="0">
                <a:solidFill>
                  <a:srgbClr val="0F1B33"/>
                </a:solidFill>
                <a:latin typeface="Calibri" pitchFamily="34" charset="0"/>
                <a:ea typeface="Calibri" pitchFamily="34" charset="-122"/>
                <a:cs typeface="Calibri" pitchFamily="34" charset="-120"/>
              </a:rPr>
              <a:t>Multi-tenant:</a:t>
            </a:r>
            <a:r>
              <a:rPr lang="en-US" sz="1500" dirty="0">
                <a:solidFill>
                  <a:srgbClr val="1E293B"/>
                </a:solidFill>
                <a:latin typeface="Calibri" pitchFamily="34" charset="0"/>
                <a:ea typeface="Calibri" pitchFamily="34" charset="-122"/>
                <a:cs typeface="Calibri" pitchFamily="34" charset="-120"/>
              </a:rPr>
              <a:t> one installation serves many independent organisations (tenants), each with its own users, agents, customers, tickets and settings.</a:t>
            </a:r>
            <a:endParaRPr lang="en-US" sz="1500" dirty="0"/>
          </a:p>
          <a:p>
            <a:pPr marL="203200" indent="-203200">
              <a:spcAft>
                <a:spcPts val="900"/>
              </a:spcAft>
              <a:buSzPct val="100000"/>
              <a:buChar char="■"/>
            </a:pPr>
            <a:r>
              <a:rPr lang="en-US" sz="1500" b="1" dirty="0">
                <a:solidFill>
                  <a:srgbClr val="0F1B33"/>
                </a:solidFill>
                <a:latin typeface="Calibri" pitchFamily="34" charset="0"/>
                <a:ea typeface="Calibri" pitchFamily="34" charset="-122"/>
                <a:cs typeface="Calibri" pitchFamily="34" charset="-120"/>
              </a:rPr>
              <a:t>Four automatic decisions,</a:t>
            </a:r>
            <a:r>
              <a:rPr lang="en-US" sz="1500" dirty="0">
                <a:solidFill>
                  <a:srgbClr val="1E293B"/>
                </a:solidFill>
                <a:latin typeface="Calibri" pitchFamily="34" charset="0"/>
                <a:ea typeface="Calibri" pitchFamily="34" charset="-122"/>
                <a:cs typeface="Calibri" pitchFamily="34" charset="-120"/>
              </a:rPr>
              <a:t> each explained: how urgent a ticket is, who should handle it, whether it repeats another ticket, and whether its SLA is at risk.</a:t>
            </a:r>
            <a:endParaRPr lang="en-US" sz="1500" dirty="0"/>
          </a:p>
          <a:p>
            <a:pPr marL="203200" indent="-203200">
              <a:spcAft>
                <a:spcPts val="900"/>
              </a:spcAft>
              <a:buSzPct val="100000"/>
              <a:buChar char="■"/>
            </a:pPr>
            <a:r>
              <a:rPr lang="en-US" sz="1500" b="1" dirty="0">
                <a:solidFill>
                  <a:srgbClr val="0F1B33"/>
                </a:solidFill>
                <a:latin typeface="Calibri" pitchFamily="34" charset="0"/>
                <a:ea typeface="Calibri" pitchFamily="34" charset="-122"/>
                <a:cs typeface="Calibri" pitchFamily="34" charset="-120"/>
              </a:rPr>
              <a:t>Also:</a:t>
            </a:r>
            <a:r>
              <a:rPr lang="en-US" sz="1500" dirty="0">
                <a:solidFill>
                  <a:srgbClr val="1E293B"/>
                </a:solidFill>
                <a:latin typeface="Calibri" pitchFamily="34" charset="0"/>
                <a:ea typeface="Calibri" pitchFamily="34" charset="-122"/>
                <a:cs typeface="Calibri" pitchFamily="34" charset="-120"/>
              </a:rPr>
              <a:t> change history, reports, email notifications, email-to-ticket, a REST API and webhooks.</a:t>
            </a:r>
            <a:endParaRPr lang="en-US" sz="1500" dirty="0"/>
          </a:p>
        </p:txBody>
      </p:sp>
      <p:sp>
        <p:nvSpPr>
          <p:cNvPr id="11" name="Text 8"/>
          <p:cNvSpPr/>
          <p:nvPr/>
        </p:nvSpPr>
        <p:spPr>
          <a:xfrm>
            <a:off x="502920" y="5669280"/>
            <a:ext cx="1380744"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00" b="1" dirty="0">
                <a:solidFill>
                  <a:srgbClr val="146BDC"/>
                </a:solidFill>
                <a:latin typeface="Calibri" pitchFamily="34" charset="0"/>
                <a:ea typeface="Calibri" pitchFamily="34" charset="-122"/>
                <a:cs typeface="Calibri" pitchFamily="34" charset="-120"/>
              </a:rPr>
              <a:t>Laravel API</a:t>
            </a:r>
            <a:endParaRPr lang="en-US" sz="1200" dirty="0"/>
          </a:p>
        </p:txBody>
      </p:sp>
      <p:sp>
        <p:nvSpPr>
          <p:cNvPr id="12" name="Text 9"/>
          <p:cNvSpPr/>
          <p:nvPr/>
        </p:nvSpPr>
        <p:spPr>
          <a:xfrm>
            <a:off x="1993392" y="5669280"/>
            <a:ext cx="1380744"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00" b="1" dirty="0">
                <a:solidFill>
                  <a:srgbClr val="146BDC"/>
                </a:solidFill>
                <a:latin typeface="Calibri" pitchFamily="34" charset="0"/>
                <a:ea typeface="Calibri" pitchFamily="34" charset="-122"/>
                <a:cs typeface="Calibri" pitchFamily="34" charset="-120"/>
              </a:rPr>
              <a:t>React SPA</a:t>
            </a:r>
            <a:endParaRPr lang="en-US" sz="1200" dirty="0"/>
          </a:p>
        </p:txBody>
      </p:sp>
      <p:sp>
        <p:nvSpPr>
          <p:cNvPr id="13" name="Text 10"/>
          <p:cNvSpPr/>
          <p:nvPr/>
        </p:nvSpPr>
        <p:spPr>
          <a:xfrm>
            <a:off x="3483864" y="5669280"/>
            <a:ext cx="1380744"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00" b="1" dirty="0">
                <a:solidFill>
                  <a:srgbClr val="146BDC"/>
                </a:solidFill>
                <a:latin typeface="Calibri" pitchFamily="34" charset="0"/>
                <a:ea typeface="Calibri" pitchFamily="34" charset="-122"/>
                <a:cs typeface="Calibri" pitchFamily="34" charset="-120"/>
              </a:rPr>
              <a:t>PostgreSQL</a:t>
            </a:r>
            <a:endParaRPr lang="en-US" sz="1200" dirty="0"/>
          </a:p>
        </p:txBody>
      </p:sp>
      <p:sp>
        <p:nvSpPr>
          <p:cNvPr id="14" name="Text 11"/>
          <p:cNvSpPr/>
          <p:nvPr/>
        </p:nvSpPr>
        <p:spPr>
          <a:xfrm>
            <a:off x="4974336" y="5669280"/>
            <a:ext cx="1380744"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00" b="1" dirty="0">
                <a:solidFill>
                  <a:srgbClr val="146BDC"/>
                </a:solidFill>
                <a:latin typeface="Calibri" pitchFamily="34" charset="0"/>
                <a:ea typeface="Calibri" pitchFamily="34" charset="-122"/>
                <a:cs typeface="Calibri" pitchFamily="34" charset="-120"/>
              </a:rPr>
              <a:t>Docker</a:t>
            </a:r>
            <a:endParaRPr lang="en-US" sz="1200" dirty="0"/>
          </a:p>
        </p:txBody>
      </p:sp>
      <p:sp>
        <p:nvSpPr>
          <p:cNvPr id="15" name="Shape 12"/>
          <p:cNvSpPr/>
          <p:nvPr/>
        </p:nvSpPr>
        <p:spPr>
          <a:xfrm>
            <a:off x="6647688" y="1921383"/>
            <a:ext cx="5084064" cy="3198114"/>
          </a:xfrm>
          <a:prstGeom prst="rect">
            <a:avLst/>
          </a:prstGeom>
          <a:solidFill>
            <a:srgbClr val="FFFFFF"/>
          </a:solidFill>
          <a:ln w="9525">
            <a:solidFill>
              <a:srgbClr val="D9DEE7"/>
            </a:solidFill>
            <a:prstDash val="solid"/>
          </a:ln>
        </p:spPr>
      </p:sp>
      <p:pic>
        <p:nvPicPr>
          <p:cNvPr id="16" name="Image 0" descr="/home/subham/Projects/college/fyp/smart-helpdesk/report/university/figures/app-landing.png">    </p:cNvPr>
          <p:cNvPicPr>
            <a:picLocks noChangeAspect="1"/>
          </p:cNvPicPr>
          <p:nvPr/>
        </p:nvPicPr>
        <p:blipFill>
          <a:blip r:embed="rId1"/>
          <a:stretch>
            <a:fillRect/>
          </a:stretch>
        </p:blipFill>
        <p:spPr>
          <a:xfrm>
            <a:off x="6675120" y="1948815"/>
            <a:ext cx="5029200" cy="3143250"/>
          </a:xfrm>
          <a:prstGeom prst="rect">
            <a:avLst/>
          </a:prstGeom>
        </p:spPr>
      </p:pic>
      <p:sp>
        <p:nvSpPr>
          <p:cNvPr id="17" name="Text 13"/>
          <p:cNvSpPr/>
          <p:nvPr/>
        </p:nvSpPr>
        <p:spPr>
          <a:xfrm>
            <a:off x="6675120" y="5183505"/>
            <a:ext cx="502920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Landing page of Smart Helpdesk</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1 · INTRODUCTION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Problem Statement</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2 / 13</a:t>
            </a:r>
            <a:endParaRPr lang="en-US" sz="1000" dirty="0"/>
          </a:p>
        </p:txBody>
      </p:sp>
      <p:sp>
        <p:nvSpPr>
          <p:cNvPr id="9" name="Shape 6"/>
          <p:cNvSpPr/>
          <p:nvPr/>
        </p:nvSpPr>
        <p:spPr>
          <a:xfrm>
            <a:off x="502920" y="1371600"/>
            <a:ext cx="3611880" cy="2240280"/>
          </a:xfrm>
          <a:prstGeom prst="rect">
            <a:avLst/>
          </a:prstGeom>
          <a:solidFill>
            <a:srgbClr val="EEF4FD"/>
          </a:solidFill>
          <a:ln w="12700">
            <a:solidFill>
              <a:srgbClr val="EEF4FD"/>
            </a:solidFill>
            <a:prstDash val="solid"/>
          </a:ln>
        </p:spPr>
      </p:sp>
      <p:sp>
        <p:nvSpPr>
          <p:cNvPr id="10" name="Shape 7"/>
          <p:cNvSpPr/>
          <p:nvPr/>
        </p:nvSpPr>
        <p:spPr>
          <a:xfrm>
            <a:off x="502920" y="1371600"/>
            <a:ext cx="54864" cy="2240280"/>
          </a:xfrm>
          <a:prstGeom prst="rect">
            <a:avLst/>
          </a:prstGeom>
          <a:solidFill>
            <a:srgbClr val="146BDC"/>
          </a:solidFill>
          <a:ln w="12700">
            <a:solidFill>
              <a:srgbClr val="146BDC"/>
            </a:solidFill>
            <a:prstDash val="solid"/>
          </a:ln>
        </p:spPr>
      </p:sp>
      <p:sp>
        <p:nvSpPr>
          <p:cNvPr id="11" name="Text 8"/>
          <p:cNvSpPr/>
          <p:nvPr/>
        </p:nvSpPr>
        <p:spPr>
          <a:xfrm>
            <a:off x="640080" y="1444752"/>
            <a:ext cx="3383280" cy="2093976"/>
          </a:xfrm>
          <a:prstGeom prst="rect">
            <a:avLst/>
          </a:prstGeom>
          <a:noFill/>
          <a:ln/>
        </p:spPr>
        <p:txBody>
          <a:bodyPr wrap="square" lIns="25400" tIns="25400" rIns="25400" bIns="25400" rtlCol="0" anchor="t"/>
          <a:lstStyle/>
          <a:p>
            <a:pPr indent="0" marL="0">
              <a:spcAft>
                <a:spcPts val="400"/>
              </a:spcAft>
              <a:buNone/>
            </a:pPr>
            <a:r>
              <a:rPr lang="en-US" sz="1900" b="1" dirty="0">
                <a:solidFill>
                  <a:srgbClr val="0F1B33"/>
                </a:solidFill>
                <a:latin typeface="Calibri" pitchFamily="34" charset="0"/>
                <a:ea typeface="Calibri" pitchFamily="34" charset="-122"/>
                <a:cs typeface="Calibri" pitchFamily="34" charset="-120"/>
              </a:rPr>
              <a:t>1. Inconsistent prioritisation</a:t>
            </a:r>
            <a:endParaRPr lang="en-US" sz="1900" dirty="0"/>
          </a:p>
          <a:p>
            <a:pPr indent="0" marL="0">
              <a:spcAft>
                <a:spcPts val="400"/>
              </a:spcAft>
              <a:buNone/>
            </a:pPr>
            <a:r>
              <a:rPr lang="en-US" sz="1700" dirty="0">
                <a:solidFill>
                  <a:srgbClr val="1E293B"/>
                </a:solidFill>
                <a:latin typeface="Calibri" pitchFamily="34" charset="0"/>
                <a:ea typeface="Calibri" pitchFamily="34" charset="-122"/>
                <a:cs typeface="Calibri" pitchFamily="34" charset="-120"/>
              </a:rPr>
              <a:t>Priority is chosen by whoever creates the ticket, and a ticket's urgency does not grow while it waits.</a:t>
            </a:r>
            <a:endParaRPr lang="en-US" sz="1900" dirty="0"/>
          </a:p>
        </p:txBody>
      </p:sp>
      <p:sp>
        <p:nvSpPr>
          <p:cNvPr id="12" name="Shape 9"/>
          <p:cNvSpPr/>
          <p:nvPr/>
        </p:nvSpPr>
        <p:spPr>
          <a:xfrm>
            <a:off x="4297680" y="1371600"/>
            <a:ext cx="3611880" cy="2240280"/>
          </a:xfrm>
          <a:prstGeom prst="rect">
            <a:avLst/>
          </a:prstGeom>
          <a:solidFill>
            <a:srgbClr val="EEF4FD"/>
          </a:solidFill>
          <a:ln w="12700">
            <a:solidFill>
              <a:srgbClr val="EEF4FD"/>
            </a:solidFill>
            <a:prstDash val="solid"/>
          </a:ln>
        </p:spPr>
      </p:sp>
      <p:sp>
        <p:nvSpPr>
          <p:cNvPr id="13" name="Shape 10"/>
          <p:cNvSpPr/>
          <p:nvPr/>
        </p:nvSpPr>
        <p:spPr>
          <a:xfrm>
            <a:off x="4297680" y="1371600"/>
            <a:ext cx="54864" cy="2240280"/>
          </a:xfrm>
          <a:prstGeom prst="rect">
            <a:avLst/>
          </a:prstGeom>
          <a:solidFill>
            <a:srgbClr val="146BDC"/>
          </a:solidFill>
          <a:ln w="12700">
            <a:solidFill>
              <a:srgbClr val="146BDC"/>
            </a:solidFill>
            <a:prstDash val="solid"/>
          </a:ln>
        </p:spPr>
      </p:sp>
      <p:sp>
        <p:nvSpPr>
          <p:cNvPr id="14" name="Text 11"/>
          <p:cNvSpPr/>
          <p:nvPr/>
        </p:nvSpPr>
        <p:spPr>
          <a:xfrm>
            <a:off x="4434840" y="1444752"/>
            <a:ext cx="3383280" cy="2093976"/>
          </a:xfrm>
          <a:prstGeom prst="rect">
            <a:avLst/>
          </a:prstGeom>
          <a:noFill/>
          <a:ln/>
        </p:spPr>
        <p:txBody>
          <a:bodyPr wrap="square" lIns="25400" tIns="25400" rIns="25400" bIns="25400" rtlCol="0" anchor="t"/>
          <a:lstStyle/>
          <a:p>
            <a:pPr indent="0" marL="0">
              <a:spcAft>
                <a:spcPts val="400"/>
              </a:spcAft>
              <a:buNone/>
            </a:pPr>
            <a:r>
              <a:rPr lang="en-US" sz="1900" b="1" dirty="0">
                <a:solidFill>
                  <a:srgbClr val="0F1B33"/>
                </a:solidFill>
                <a:latin typeface="Calibri" pitchFamily="34" charset="0"/>
                <a:ea typeface="Calibri" pitchFamily="34" charset="-122"/>
                <a:cs typeface="Calibri" pitchFamily="34" charset="-120"/>
              </a:rPr>
              <a:t>2. Unbalanced assignment</a:t>
            </a:r>
            <a:endParaRPr lang="en-US" sz="1900" dirty="0"/>
          </a:p>
          <a:p>
            <a:pPr indent="0" marL="0">
              <a:spcAft>
                <a:spcPts val="400"/>
              </a:spcAft>
              <a:buNone/>
            </a:pPr>
            <a:r>
              <a:rPr lang="en-US" sz="1700" dirty="0">
                <a:solidFill>
                  <a:srgbClr val="1E293B"/>
                </a:solidFill>
                <a:latin typeface="Calibri" pitchFamily="34" charset="0"/>
                <a:ea typeface="Calibri" pitchFamily="34" charset="-122"/>
                <a:cs typeface="Calibri" pitchFamily="34" charset="-120"/>
              </a:rPr>
              <a:t>Tickets are assigned by hand or by rotation, so work piles up on experienced agents while skills and workload are ignored.</a:t>
            </a:r>
            <a:endParaRPr lang="en-US" sz="1900" dirty="0"/>
          </a:p>
        </p:txBody>
      </p:sp>
      <p:sp>
        <p:nvSpPr>
          <p:cNvPr id="15" name="Shape 12"/>
          <p:cNvSpPr/>
          <p:nvPr/>
        </p:nvSpPr>
        <p:spPr>
          <a:xfrm>
            <a:off x="8092440" y="1371600"/>
            <a:ext cx="3611880" cy="2240280"/>
          </a:xfrm>
          <a:prstGeom prst="rect">
            <a:avLst/>
          </a:prstGeom>
          <a:solidFill>
            <a:srgbClr val="EEF4FD"/>
          </a:solidFill>
          <a:ln w="12700">
            <a:solidFill>
              <a:srgbClr val="EEF4FD"/>
            </a:solidFill>
            <a:prstDash val="solid"/>
          </a:ln>
        </p:spPr>
      </p:sp>
      <p:sp>
        <p:nvSpPr>
          <p:cNvPr id="16" name="Shape 13"/>
          <p:cNvSpPr/>
          <p:nvPr/>
        </p:nvSpPr>
        <p:spPr>
          <a:xfrm>
            <a:off x="8092440" y="1371600"/>
            <a:ext cx="54864" cy="2240280"/>
          </a:xfrm>
          <a:prstGeom prst="rect">
            <a:avLst/>
          </a:prstGeom>
          <a:solidFill>
            <a:srgbClr val="146BDC"/>
          </a:solidFill>
          <a:ln w="12700">
            <a:solidFill>
              <a:srgbClr val="146BDC"/>
            </a:solidFill>
            <a:prstDash val="solid"/>
          </a:ln>
        </p:spPr>
      </p:sp>
      <p:sp>
        <p:nvSpPr>
          <p:cNvPr id="17" name="Text 14"/>
          <p:cNvSpPr/>
          <p:nvPr/>
        </p:nvSpPr>
        <p:spPr>
          <a:xfrm>
            <a:off x="8229600" y="1444752"/>
            <a:ext cx="3383280" cy="2093976"/>
          </a:xfrm>
          <a:prstGeom prst="rect">
            <a:avLst/>
          </a:prstGeom>
          <a:noFill/>
          <a:ln/>
        </p:spPr>
        <p:txBody>
          <a:bodyPr wrap="square" lIns="25400" tIns="25400" rIns="25400" bIns="25400" rtlCol="0" anchor="t"/>
          <a:lstStyle/>
          <a:p>
            <a:pPr indent="0" marL="0">
              <a:spcAft>
                <a:spcPts val="400"/>
              </a:spcAft>
              <a:buNone/>
            </a:pPr>
            <a:r>
              <a:rPr lang="en-US" sz="1900" b="1" dirty="0">
                <a:solidFill>
                  <a:srgbClr val="0F1B33"/>
                </a:solidFill>
                <a:latin typeface="Calibri" pitchFamily="34" charset="0"/>
                <a:ea typeface="Calibri" pitchFamily="34" charset="-122"/>
                <a:cs typeface="Calibri" pitchFamily="34" charset="-120"/>
              </a:rPr>
              <a:t>3. Duplicate tickets</a:t>
            </a:r>
            <a:endParaRPr lang="en-US" sz="1900" dirty="0"/>
          </a:p>
          <a:p>
            <a:pPr indent="0" marL="0">
              <a:spcAft>
                <a:spcPts val="400"/>
              </a:spcAft>
              <a:buNone/>
            </a:pPr>
            <a:r>
              <a:rPr lang="en-US" sz="1700" dirty="0">
                <a:solidFill>
                  <a:srgbClr val="1E293B"/>
                </a:solidFill>
                <a:latin typeface="Calibri" pitchFamily="34" charset="0"/>
                <a:ea typeface="Calibri" pitchFamily="34" charset="-122"/>
                <a:cs typeface="Calibri" pitchFamily="34" charset="-120"/>
              </a:rPr>
              <a:t>One outage produces many tickets describing the same problem in different words, worked on in parallel.</a:t>
            </a:r>
            <a:endParaRPr lang="en-US" sz="1900" dirty="0"/>
          </a:p>
        </p:txBody>
      </p:sp>
      <p:sp>
        <p:nvSpPr>
          <p:cNvPr id="18" name="Shape 15"/>
          <p:cNvSpPr/>
          <p:nvPr/>
        </p:nvSpPr>
        <p:spPr>
          <a:xfrm>
            <a:off x="502920" y="3840480"/>
            <a:ext cx="3611880" cy="2240280"/>
          </a:xfrm>
          <a:prstGeom prst="rect">
            <a:avLst/>
          </a:prstGeom>
          <a:solidFill>
            <a:srgbClr val="EEF4FD"/>
          </a:solidFill>
          <a:ln w="12700">
            <a:solidFill>
              <a:srgbClr val="EEF4FD"/>
            </a:solidFill>
            <a:prstDash val="solid"/>
          </a:ln>
        </p:spPr>
      </p:sp>
      <p:sp>
        <p:nvSpPr>
          <p:cNvPr id="19" name="Shape 16"/>
          <p:cNvSpPr/>
          <p:nvPr/>
        </p:nvSpPr>
        <p:spPr>
          <a:xfrm>
            <a:off x="502920" y="3840480"/>
            <a:ext cx="54864" cy="2240280"/>
          </a:xfrm>
          <a:prstGeom prst="rect">
            <a:avLst/>
          </a:prstGeom>
          <a:solidFill>
            <a:srgbClr val="146BDC"/>
          </a:solidFill>
          <a:ln w="12700">
            <a:solidFill>
              <a:srgbClr val="146BDC"/>
            </a:solidFill>
            <a:prstDash val="solid"/>
          </a:ln>
        </p:spPr>
      </p:sp>
      <p:sp>
        <p:nvSpPr>
          <p:cNvPr id="20" name="Text 17"/>
          <p:cNvSpPr/>
          <p:nvPr/>
        </p:nvSpPr>
        <p:spPr>
          <a:xfrm>
            <a:off x="640080" y="3913632"/>
            <a:ext cx="3383280" cy="2093976"/>
          </a:xfrm>
          <a:prstGeom prst="rect">
            <a:avLst/>
          </a:prstGeom>
          <a:noFill/>
          <a:ln/>
        </p:spPr>
        <p:txBody>
          <a:bodyPr wrap="square" lIns="25400" tIns="25400" rIns="25400" bIns="25400" rtlCol="0" anchor="t"/>
          <a:lstStyle/>
          <a:p>
            <a:pPr indent="0" marL="0">
              <a:spcAft>
                <a:spcPts val="400"/>
              </a:spcAft>
              <a:buNone/>
            </a:pPr>
            <a:r>
              <a:rPr lang="en-US" sz="1900" b="1" dirty="0">
                <a:solidFill>
                  <a:srgbClr val="0F1B33"/>
                </a:solidFill>
                <a:latin typeface="Calibri" pitchFamily="34" charset="0"/>
                <a:ea typeface="Calibri" pitchFamily="34" charset="-122"/>
                <a:cs typeface="Calibri" pitchFamily="34" charset="-120"/>
              </a:rPr>
              <a:t>4. Late SLA awareness</a:t>
            </a:r>
            <a:endParaRPr lang="en-US" sz="1900" dirty="0"/>
          </a:p>
          <a:p>
            <a:pPr indent="0" marL="0">
              <a:spcAft>
                <a:spcPts val="400"/>
              </a:spcAft>
              <a:buNone/>
            </a:pPr>
            <a:r>
              <a:rPr lang="en-US" sz="1700" dirty="0">
                <a:solidFill>
                  <a:srgbClr val="1E293B"/>
                </a:solidFill>
                <a:latin typeface="Calibri" pitchFamily="34" charset="0"/>
                <a:ea typeface="Calibri" pitchFamily="34" charset="-122"/>
                <a:cs typeface="Calibri" pitchFamily="34" charset="-120"/>
              </a:rPr>
              <a:t>Response and resolution targets are checked in reports after the fact instead of warning agents before a breach.</a:t>
            </a:r>
            <a:endParaRPr lang="en-US" sz="1900" dirty="0"/>
          </a:p>
        </p:txBody>
      </p:sp>
      <p:sp>
        <p:nvSpPr>
          <p:cNvPr id="21" name="Shape 18"/>
          <p:cNvSpPr/>
          <p:nvPr/>
        </p:nvSpPr>
        <p:spPr>
          <a:xfrm>
            <a:off x="4297680" y="3840480"/>
            <a:ext cx="3611880" cy="2240280"/>
          </a:xfrm>
          <a:prstGeom prst="rect">
            <a:avLst/>
          </a:prstGeom>
          <a:solidFill>
            <a:srgbClr val="EEF4FD"/>
          </a:solidFill>
          <a:ln w="12700">
            <a:solidFill>
              <a:srgbClr val="EEF4FD"/>
            </a:solidFill>
            <a:prstDash val="solid"/>
          </a:ln>
        </p:spPr>
      </p:sp>
      <p:sp>
        <p:nvSpPr>
          <p:cNvPr id="22" name="Shape 19"/>
          <p:cNvSpPr/>
          <p:nvPr/>
        </p:nvSpPr>
        <p:spPr>
          <a:xfrm>
            <a:off x="4297680" y="3840480"/>
            <a:ext cx="54864" cy="2240280"/>
          </a:xfrm>
          <a:prstGeom prst="rect">
            <a:avLst/>
          </a:prstGeom>
          <a:solidFill>
            <a:srgbClr val="146BDC"/>
          </a:solidFill>
          <a:ln w="12700">
            <a:solidFill>
              <a:srgbClr val="146BDC"/>
            </a:solidFill>
            <a:prstDash val="solid"/>
          </a:ln>
        </p:spPr>
      </p:sp>
      <p:sp>
        <p:nvSpPr>
          <p:cNvPr id="23" name="Text 20"/>
          <p:cNvSpPr/>
          <p:nvPr/>
        </p:nvSpPr>
        <p:spPr>
          <a:xfrm>
            <a:off x="4434840" y="3913632"/>
            <a:ext cx="3383280" cy="2093976"/>
          </a:xfrm>
          <a:prstGeom prst="rect">
            <a:avLst/>
          </a:prstGeom>
          <a:noFill/>
          <a:ln/>
        </p:spPr>
        <p:txBody>
          <a:bodyPr wrap="square" lIns="25400" tIns="25400" rIns="25400" bIns="25400" rtlCol="0" anchor="t"/>
          <a:lstStyle/>
          <a:p>
            <a:pPr indent="0" marL="0">
              <a:spcAft>
                <a:spcPts val="400"/>
              </a:spcAft>
              <a:buNone/>
            </a:pPr>
            <a:r>
              <a:rPr lang="en-US" sz="1900" b="1" dirty="0">
                <a:solidFill>
                  <a:srgbClr val="0F1B33"/>
                </a:solidFill>
                <a:latin typeface="Calibri" pitchFamily="34" charset="0"/>
                <a:ea typeface="Calibri" pitchFamily="34" charset="-122"/>
                <a:cs typeface="Calibri" pitchFamily="34" charset="-120"/>
              </a:rPr>
              <a:t>5. Shallow reporting</a:t>
            </a:r>
            <a:endParaRPr lang="en-US" sz="1900" dirty="0"/>
          </a:p>
          <a:p>
            <a:pPr indent="0" marL="0">
              <a:spcAft>
                <a:spcPts val="400"/>
              </a:spcAft>
              <a:buNone/>
            </a:pPr>
            <a:r>
              <a:rPr lang="en-US" sz="1700" dirty="0">
                <a:solidFill>
                  <a:srgbClr val="1E293B"/>
                </a:solidFill>
                <a:latin typeface="Calibri" pitchFamily="34" charset="0"/>
                <a:ea typeface="Calibri" pitchFamily="34" charset="-122"/>
                <a:cs typeface="Calibri" pitchFamily="34" charset="-120"/>
              </a:rPr>
              <a:t>Managers see current counts but not how the backlog or a customer's record looked on a past date.</a:t>
            </a:r>
            <a:endParaRPr lang="en-US" sz="1900" dirty="0"/>
          </a:p>
        </p:txBody>
      </p:sp>
      <p:sp>
        <p:nvSpPr>
          <p:cNvPr id="24" name="Shape 21"/>
          <p:cNvSpPr/>
          <p:nvPr/>
        </p:nvSpPr>
        <p:spPr>
          <a:xfrm>
            <a:off x="8092440" y="3840480"/>
            <a:ext cx="3611880" cy="2240280"/>
          </a:xfrm>
          <a:prstGeom prst="rect">
            <a:avLst/>
          </a:prstGeom>
          <a:solidFill>
            <a:srgbClr val="EEF4FD"/>
          </a:solidFill>
          <a:ln w="12700">
            <a:solidFill>
              <a:srgbClr val="EEF4FD"/>
            </a:solidFill>
            <a:prstDash val="solid"/>
          </a:ln>
        </p:spPr>
      </p:sp>
      <p:sp>
        <p:nvSpPr>
          <p:cNvPr id="25" name="Shape 22"/>
          <p:cNvSpPr/>
          <p:nvPr/>
        </p:nvSpPr>
        <p:spPr>
          <a:xfrm>
            <a:off x="8092440" y="3840480"/>
            <a:ext cx="54864" cy="2240280"/>
          </a:xfrm>
          <a:prstGeom prst="rect">
            <a:avLst/>
          </a:prstGeom>
          <a:solidFill>
            <a:srgbClr val="146BDC"/>
          </a:solidFill>
          <a:ln w="12700">
            <a:solidFill>
              <a:srgbClr val="146BDC"/>
            </a:solidFill>
            <a:prstDash val="solid"/>
          </a:ln>
        </p:spPr>
      </p:sp>
      <p:sp>
        <p:nvSpPr>
          <p:cNvPr id="26" name="Text 23"/>
          <p:cNvSpPr/>
          <p:nvPr/>
        </p:nvSpPr>
        <p:spPr>
          <a:xfrm>
            <a:off x="8229600" y="3913632"/>
            <a:ext cx="3383280" cy="2093976"/>
          </a:xfrm>
          <a:prstGeom prst="rect">
            <a:avLst/>
          </a:prstGeom>
          <a:noFill/>
          <a:ln/>
        </p:spPr>
        <p:txBody>
          <a:bodyPr wrap="square" lIns="25400" tIns="25400" rIns="25400" bIns="25400" rtlCol="0" anchor="t"/>
          <a:lstStyle/>
          <a:p>
            <a:pPr indent="0" marL="0">
              <a:spcAft>
                <a:spcPts val="400"/>
              </a:spcAft>
              <a:buNone/>
            </a:pPr>
            <a:r>
              <a:rPr lang="en-US" sz="1900" b="1" dirty="0">
                <a:solidFill>
                  <a:srgbClr val="0F1B33"/>
                </a:solidFill>
                <a:latin typeface="Calibri" pitchFamily="34" charset="0"/>
                <a:ea typeface="Calibri" pitchFamily="34" charset="-122"/>
                <a:cs typeface="Calibri" pitchFamily="34" charset="-120"/>
              </a:rPr>
              <a:t>6. Isolation and deployment</a:t>
            </a:r>
            <a:endParaRPr lang="en-US" sz="1900" dirty="0"/>
          </a:p>
          <a:p>
            <a:pPr indent="0" marL="0">
              <a:spcAft>
                <a:spcPts val="400"/>
              </a:spcAft>
              <a:buNone/>
            </a:pPr>
            <a:r>
              <a:rPr lang="en-US" sz="1700" dirty="0">
                <a:solidFill>
                  <a:srgbClr val="1E293B"/>
                </a:solidFill>
                <a:latin typeface="Calibri" pitchFamily="34" charset="0"/>
                <a:ea typeface="Calibri" pitchFamily="34" charset="-122"/>
                <a:cs typeface="Calibri" pitchFamily="34" charset="-120"/>
              </a:rPr>
              <a:t>A hosted helpdesk must keep each organisation's data separate, while some need the software on their own servers.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1 · INTRODUCTION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Objectives and Scope</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3 / 13</a:t>
            </a:r>
            <a:endParaRPr lang="en-US" sz="1000" dirty="0"/>
          </a:p>
        </p:txBody>
      </p:sp>
      <p:sp>
        <p:nvSpPr>
          <p:cNvPr id="9" name="Text 6"/>
          <p:cNvSpPr/>
          <p:nvPr/>
        </p:nvSpPr>
        <p:spPr>
          <a:xfrm>
            <a:off x="502920" y="1280160"/>
            <a:ext cx="5486400" cy="365760"/>
          </a:xfrm>
          <a:prstGeom prst="rect">
            <a:avLst/>
          </a:prstGeom>
          <a:noFill/>
          <a:ln/>
        </p:spPr>
        <p:txBody>
          <a:bodyPr wrap="square" lIns="0" tIns="0" rIns="0" bIns="0" rtlCol="0" anchor="ctr"/>
          <a:lstStyle/>
          <a:p>
            <a:pPr indent="0" marL="0">
              <a:buNone/>
            </a:pPr>
            <a:r>
              <a:rPr lang="en-US" sz="1800" b="1" dirty="0">
                <a:solidFill>
                  <a:srgbClr val="146BDC"/>
                </a:solidFill>
                <a:latin typeface="Calibri" pitchFamily="34" charset="0"/>
                <a:ea typeface="Calibri" pitchFamily="34" charset="-122"/>
                <a:cs typeface="Calibri" pitchFamily="34" charset="-120"/>
              </a:rPr>
              <a:t>Objectives</a:t>
            </a:r>
            <a:endParaRPr lang="en-US" sz="1800" dirty="0"/>
          </a:p>
        </p:txBody>
      </p:sp>
      <p:sp>
        <p:nvSpPr>
          <p:cNvPr id="10" name="Text 7"/>
          <p:cNvSpPr/>
          <p:nvPr/>
        </p:nvSpPr>
        <p:spPr>
          <a:xfrm>
            <a:off x="502920" y="1737360"/>
            <a:ext cx="457200" cy="457200"/>
          </a:xfrm>
          <a:prstGeom prst="ellipse">
            <a:avLst/>
          </a:prstGeom>
          <a:solidFill>
            <a:srgbClr val="146BDC"/>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1" name="Text 8"/>
          <p:cNvSpPr/>
          <p:nvPr/>
        </p:nvSpPr>
        <p:spPr>
          <a:xfrm>
            <a:off x="1097280" y="1664208"/>
            <a:ext cx="5120640" cy="1005840"/>
          </a:xfrm>
          <a:prstGeom prst="rect">
            <a:avLst/>
          </a:prstGeom>
          <a:noFill/>
          <a:ln/>
        </p:spPr>
        <p:txBody>
          <a:bodyPr wrap="square" lIns="25400" tIns="25400" rIns="25400" bIns="25400" rtlCol="0" anchor="t"/>
          <a:lstStyle/>
          <a:p>
            <a:pPr indent="0" marL="0">
              <a:buNone/>
            </a:pPr>
            <a:r>
              <a:rPr lang="en-US" sz="1400" dirty="0">
                <a:solidFill>
                  <a:srgbClr val="1E293B"/>
                </a:solidFill>
                <a:latin typeface="Calibri" pitchFamily="34" charset="0"/>
                <a:ea typeface="Calibri" pitchFamily="34" charset="-122"/>
                <a:cs typeface="Calibri" pitchFamily="34" charset="-120"/>
              </a:rPr>
              <a:t>Design and implement a multi-tenant helpdesk in which each organisation's data is strictly isolated, running on any virtual machine or an organisation's own server.</a:t>
            </a:r>
            <a:endParaRPr lang="en-US" sz="1400" dirty="0"/>
          </a:p>
        </p:txBody>
      </p:sp>
      <p:sp>
        <p:nvSpPr>
          <p:cNvPr id="12" name="Text 9"/>
          <p:cNvSpPr/>
          <p:nvPr/>
        </p:nvSpPr>
        <p:spPr>
          <a:xfrm>
            <a:off x="502920" y="2816352"/>
            <a:ext cx="457200" cy="457200"/>
          </a:xfrm>
          <a:prstGeom prst="ellipse">
            <a:avLst/>
          </a:prstGeom>
          <a:solidFill>
            <a:srgbClr val="146BDC"/>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0"/>
          <p:cNvSpPr/>
          <p:nvPr/>
        </p:nvSpPr>
        <p:spPr>
          <a:xfrm>
            <a:off x="1097280" y="2743200"/>
            <a:ext cx="5120640" cy="1005840"/>
          </a:xfrm>
          <a:prstGeom prst="rect">
            <a:avLst/>
          </a:prstGeom>
          <a:noFill/>
          <a:ln/>
        </p:spPr>
        <p:txBody>
          <a:bodyPr wrap="square" lIns="25400" tIns="25400" rIns="25400" bIns="25400" rtlCol="0" anchor="t"/>
          <a:lstStyle/>
          <a:p>
            <a:pPr indent="0" marL="0">
              <a:buNone/>
            </a:pPr>
            <a:r>
              <a:rPr lang="en-US" sz="1400" dirty="0">
                <a:solidFill>
                  <a:srgbClr val="1E293B"/>
                </a:solidFill>
                <a:latin typeface="Calibri" pitchFamily="34" charset="0"/>
                <a:ea typeface="Calibri" pitchFamily="34" charset="-122"/>
                <a:cs typeface="Calibri" pitchFamily="34" charset="-120"/>
              </a:rPr>
              <a:t>Implement simple, explainable algorithms for priority scoring, agent assignment, duplicate ticket detection and SLA monitoring with working-hours calendars.</a:t>
            </a:r>
            <a:endParaRPr lang="en-US" sz="1400" dirty="0"/>
          </a:p>
        </p:txBody>
      </p:sp>
      <p:sp>
        <p:nvSpPr>
          <p:cNvPr id="14" name="Text 11"/>
          <p:cNvSpPr/>
          <p:nvPr/>
        </p:nvSpPr>
        <p:spPr>
          <a:xfrm>
            <a:off x="502920" y="3895344"/>
            <a:ext cx="457200" cy="457200"/>
          </a:xfrm>
          <a:prstGeom prst="ellipse">
            <a:avLst/>
          </a:prstGeom>
          <a:solidFill>
            <a:srgbClr val="146BDC"/>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5" name="Text 12"/>
          <p:cNvSpPr/>
          <p:nvPr/>
        </p:nvSpPr>
        <p:spPr>
          <a:xfrm>
            <a:off x="1097280" y="3822192"/>
            <a:ext cx="5120640" cy="1005840"/>
          </a:xfrm>
          <a:prstGeom prst="rect">
            <a:avLst/>
          </a:prstGeom>
          <a:noFill/>
          <a:ln/>
        </p:spPr>
        <p:txBody>
          <a:bodyPr wrap="square" lIns="25400" tIns="25400" rIns="25400" bIns="25400" rtlCol="0" anchor="t"/>
          <a:lstStyle/>
          <a:p>
            <a:pPr indent="0" marL="0">
              <a:buNone/>
            </a:pPr>
            <a:r>
              <a:rPr lang="en-US" sz="1400" dirty="0">
                <a:solidFill>
                  <a:srgbClr val="1E293B"/>
                </a:solidFill>
                <a:latin typeface="Calibri" pitchFamily="34" charset="0"/>
                <a:ea typeface="Calibri" pitchFamily="34" charset="-122"/>
                <a:cs typeface="Calibri" pitchFamily="34" charset="-120"/>
              </a:rPr>
              <a:t>Provide the supporting features for real use: ticket lifecycle with public replies and internal notes, media library, email notifications and email-to-ticket, dashboard, audit trail, REST API and signed webhooks.</a:t>
            </a:r>
            <a:endParaRPr lang="en-US" sz="1400" dirty="0"/>
          </a:p>
        </p:txBody>
      </p:sp>
      <p:sp>
        <p:nvSpPr>
          <p:cNvPr id="16" name="Text 13"/>
          <p:cNvSpPr/>
          <p:nvPr/>
        </p:nvSpPr>
        <p:spPr>
          <a:xfrm>
            <a:off x="502920" y="4974336"/>
            <a:ext cx="457200" cy="457200"/>
          </a:xfrm>
          <a:prstGeom prst="ellipse">
            <a:avLst/>
          </a:prstGeom>
          <a:solidFill>
            <a:srgbClr val="146BDC"/>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7" name="Text 14"/>
          <p:cNvSpPr/>
          <p:nvPr/>
        </p:nvSpPr>
        <p:spPr>
          <a:xfrm>
            <a:off x="1097280" y="4901184"/>
            <a:ext cx="5120640" cy="1005840"/>
          </a:xfrm>
          <a:prstGeom prst="rect">
            <a:avLst/>
          </a:prstGeom>
          <a:noFill/>
          <a:ln/>
        </p:spPr>
        <p:txBody>
          <a:bodyPr wrap="square" lIns="25400" tIns="25400" rIns="25400" bIns="25400" rtlCol="0" anchor="t"/>
          <a:lstStyle/>
          <a:p>
            <a:pPr indent="0" marL="0">
              <a:buNone/>
            </a:pPr>
            <a:r>
              <a:rPr lang="en-US" sz="1400" dirty="0">
                <a:solidFill>
                  <a:srgbClr val="1E293B"/>
                </a:solidFill>
                <a:latin typeface="Calibri" pitchFamily="34" charset="0"/>
                <a:ea typeface="Calibri" pitchFamily="34" charset="-122"/>
                <a:cs typeface="Calibri" pitchFamily="34" charset="-120"/>
              </a:rPr>
              <a:t>Implement a reporting module that records every change to the main records and shows any record as it was at a past moment.</a:t>
            </a:r>
            <a:endParaRPr lang="en-US" sz="1400" dirty="0"/>
          </a:p>
        </p:txBody>
      </p:sp>
      <p:sp>
        <p:nvSpPr>
          <p:cNvPr id="18" name="Shape 15"/>
          <p:cNvSpPr/>
          <p:nvPr/>
        </p:nvSpPr>
        <p:spPr>
          <a:xfrm>
            <a:off x="6629400" y="1280160"/>
            <a:ext cx="5074920" cy="4892040"/>
          </a:xfrm>
          <a:prstGeom prst="rect">
            <a:avLst/>
          </a:prstGeom>
          <a:solidFill>
            <a:srgbClr val="EEF4FD"/>
          </a:solidFill>
          <a:ln w="12700">
            <a:solidFill>
              <a:srgbClr val="EEF4FD"/>
            </a:solidFill>
            <a:prstDash val="solid"/>
          </a:ln>
        </p:spPr>
      </p:sp>
      <p:sp>
        <p:nvSpPr>
          <p:cNvPr id="19" name="Text 16"/>
          <p:cNvSpPr/>
          <p:nvPr/>
        </p:nvSpPr>
        <p:spPr>
          <a:xfrm>
            <a:off x="6858000" y="1389888"/>
            <a:ext cx="4572000" cy="365760"/>
          </a:xfrm>
          <a:prstGeom prst="rect">
            <a:avLst/>
          </a:prstGeom>
          <a:noFill/>
          <a:ln/>
        </p:spPr>
        <p:txBody>
          <a:bodyPr wrap="square" lIns="0" tIns="0" rIns="0" bIns="0" rtlCol="0" anchor="ctr"/>
          <a:lstStyle/>
          <a:p>
            <a:pPr indent="0" marL="0">
              <a:buNone/>
            </a:pPr>
            <a:r>
              <a:rPr lang="en-US" sz="1800" b="1" dirty="0">
                <a:solidFill>
                  <a:srgbClr val="146BDC"/>
                </a:solidFill>
                <a:latin typeface="Calibri" pitchFamily="34" charset="0"/>
                <a:ea typeface="Calibri" pitchFamily="34" charset="-122"/>
                <a:cs typeface="Calibri" pitchFamily="34" charset="-120"/>
              </a:rPr>
              <a:t>Scope</a:t>
            </a:r>
            <a:endParaRPr lang="en-US" sz="1800" dirty="0"/>
          </a:p>
        </p:txBody>
      </p:sp>
      <p:sp>
        <p:nvSpPr>
          <p:cNvPr id="20" name="Text 17"/>
          <p:cNvSpPr/>
          <p:nvPr/>
        </p:nvSpPr>
        <p:spPr>
          <a:xfrm>
            <a:off x="6858000" y="1828800"/>
            <a:ext cx="4754880" cy="4297680"/>
          </a:xfrm>
          <a:prstGeom prst="rect">
            <a:avLst/>
          </a:prstGeom>
          <a:noFill/>
          <a:ln/>
        </p:spPr>
        <p:txBody>
          <a:bodyPr wrap="square" lIns="25400" tIns="25400" rIns="25400" bIns="25400" rtlCol="0" anchor="t"/>
          <a:lstStyle/>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Workspace provisioning by a platform administrator</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Sign-in, invitations, roles and permissions per workspace</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Contacts and organisations with customer tiers</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Teams, skills, categories, agent capacity, availability, shifts</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Complete ticket lifecycle with comments, attachments, history</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Four algorithms with explanations shown to agents</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SLA policies with business calendars, warnings and breaches</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In-app and email notifications; email-to-ticket; media library</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Dashboard and report catalogue with drill-down and point-in-time views</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REST API with client credentials and signed webhooks</a:t>
            </a:r>
            <a:endParaRPr lang="en-US" sz="1400" dirty="0"/>
          </a:p>
          <a:p>
            <a:pPr marL="203200" indent="-203200">
              <a:spcAft>
                <a:spcPts val="400"/>
              </a:spcAft>
              <a:buSzPct val="100000"/>
              <a:buChar char="■"/>
            </a:pPr>
            <a:r>
              <a:rPr lang="en-US" sz="1400" dirty="0">
                <a:solidFill>
                  <a:srgbClr val="1E293B"/>
                </a:solidFill>
                <a:latin typeface="Calibri" pitchFamily="34" charset="0"/>
                <a:ea typeface="Calibri" pitchFamily="34" charset="-122"/>
                <a:cs typeface="Calibri" pitchFamily="34" charset="-120"/>
              </a:rPr>
              <a:t>Light and dark themes; Docker deployment to any VM (AWS)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1 · INTRODUCTION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Development Methodology: Waterfall Model</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4 / 13</a:t>
            </a:r>
            <a:endParaRPr lang="en-US" sz="1000" dirty="0"/>
          </a:p>
        </p:txBody>
      </p:sp>
      <p:sp>
        <p:nvSpPr>
          <p:cNvPr id="9" name="Shape 6"/>
          <p:cNvSpPr/>
          <p:nvPr/>
        </p:nvSpPr>
        <p:spPr>
          <a:xfrm>
            <a:off x="475488" y="1939456"/>
            <a:ext cx="5175504" cy="2979087"/>
          </a:xfrm>
          <a:prstGeom prst="rect">
            <a:avLst/>
          </a:prstGeom>
          <a:solidFill>
            <a:srgbClr val="FFFFFF"/>
          </a:solidFill>
          <a:ln w="9525">
            <a:solidFill>
              <a:srgbClr val="D9DEE7"/>
            </a:solidFill>
            <a:prstDash val="solid"/>
          </a:ln>
        </p:spPr>
      </p:sp>
      <p:pic>
        <p:nvPicPr>
          <p:cNvPr id="10" name="Image 0" descr="/home/subham/Projects/college/fyp/smart-helpdesk/report/university/figures/waterfall.png">    </p:cNvPr>
          <p:cNvPicPr>
            <a:picLocks noChangeAspect="1"/>
          </p:cNvPicPr>
          <p:nvPr/>
        </p:nvPicPr>
        <p:blipFill>
          <a:blip r:embed="rId1"/>
          <a:stretch>
            <a:fillRect/>
          </a:stretch>
        </p:blipFill>
        <p:spPr>
          <a:xfrm>
            <a:off x="502920" y="1966888"/>
            <a:ext cx="5120640" cy="2924223"/>
          </a:xfrm>
          <a:prstGeom prst="rect">
            <a:avLst/>
          </a:prstGeom>
        </p:spPr>
      </p:pic>
      <p:sp>
        <p:nvSpPr>
          <p:cNvPr id="11" name="Text 7"/>
          <p:cNvSpPr/>
          <p:nvPr/>
        </p:nvSpPr>
        <p:spPr>
          <a:xfrm>
            <a:off x="502920" y="5000840"/>
            <a:ext cx="512064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Figure 1.1: Waterfall model of the development</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943600" y="1371600"/>
          <a:ext cx="5760720" cy="914400"/>
        </p:xfrm>
        <a:graphic>
          <a:graphicData uri="http://schemas.openxmlformats.org/drawingml/2006/table">
            <a:tbl>
              <a:tblPr/>
              <a:tblGrid>
                <a:gridCol w="2148840"/>
                <a:gridCol w="1463040"/>
                <a:gridCol w="2148840"/>
              </a:tblGrid>
              <a:tr h="457200">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Phase</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Period (2026)</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Output</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457200">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Requirement analysis</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16 Jun – 29 Jun</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Requirement specification</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System design</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30 Jun – 13 Jul</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Design documents and diagrams</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457200">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Implementation</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14 Jul – 24 Aug</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Working system</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457200">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Testing</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25 Aug – 7 Sep</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Tested system and test report</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457200">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Deployment and maintenance</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8 Sep – 15 Sep</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Calibri" pitchFamily="34" charset="0"/>
                          <a:ea typeface="Calibri" pitchFamily="34" charset="-122"/>
                          <a:cs typeface="Calibri" pitchFamily="34" charset="-120"/>
                        </a:rPr>
                        <a:t>Live system and project report</a:t>
                      </a:r>
                      <a:endParaRPr lang="en-US" sz="12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bl>
          </a:graphicData>
        </a:graphic>
      </p:graphicFrame>
      <p:sp>
        <p:nvSpPr>
          <p:cNvPr id="13" name="Text 8"/>
          <p:cNvSpPr/>
          <p:nvPr/>
        </p:nvSpPr>
        <p:spPr>
          <a:xfrm>
            <a:off x="5943600" y="4343400"/>
            <a:ext cx="5760720" cy="1737360"/>
          </a:xfrm>
          <a:prstGeom prst="rect">
            <a:avLst/>
          </a:prstGeom>
          <a:noFill/>
          <a:ln/>
        </p:spPr>
        <p:txBody>
          <a:bodyPr wrap="square" lIns="25400" tIns="25400" rIns="25400" bIns="25400" rtlCol="0" anchor="t"/>
          <a:lstStyle/>
          <a:p>
            <a:pPr marL="203200" indent="-2032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Fixed three-month period with requirements known at the start.</a:t>
            </a:r>
            <a:endParaRPr lang="en-US" sz="1400" dirty="0"/>
          </a:p>
          <a:p>
            <a:pPr marL="203200" indent="-2032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Each phase ended with a reviewed output before the next began.</a:t>
            </a:r>
            <a:endParaRPr lang="en-US" sz="1400" dirty="0"/>
          </a:p>
          <a:p>
            <a:pPr marL="203200" indent="-203200">
              <a:spcAft>
                <a:spcPts val="600"/>
              </a:spcAft>
              <a:buSzPct val="100000"/>
              <a:buChar char="■"/>
            </a:pPr>
            <a:r>
              <a:rPr lang="en-US" sz="1400" dirty="0">
                <a:solidFill>
                  <a:srgbClr val="1E293B"/>
                </a:solidFill>
                <a:latin typeface="Calibri" pitchFamily="34" charset="0"/>
                <a:ea typeface="Calibri" pitchFamily="34" charset="-122"/>
                <a:cs typeface="Calibri" pitchFamily="34" charset="-120"/>
              </a:rPr>
              <a:t>Two members worked on separate features and reviewed each other's work.</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2 · BACKGROUND STUDY AND LITERATURE REVIEW</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Background Study and Literature Review</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5 / 13</a:t>
            </a:r>
            <a:endParaRPr lang="en-US" sz="1000" dirty="0"/>
          </a:p>
        </p:txBody>
      </p:sp>
      <p:sp>
        <p:nvSpPr>
          <p:cNvPr id="9" name="Shape 6"/>
          <p:cNvSpPr/>
          <p:nvPr/>
        </p:nvSpPr>
        <p:spPr>
          <a:xfrm>
            <a:off x="502920" y="1325880"/>
            <a:ext cx="4206240" cy="1078992"/>
          </a:xfrm>
          <a:prstGeom prst="rect">
            <a:avLst/>
          </a:prstGeom>
          <a:solidFill>
            <a:srgbClr val="EEF4FD"/>
          </a:solidFill>
          <a:ln w="12700">
            <a:solidFill>
              <a:srgbClr val="EEF4FD"/>
            </a:solidFill>
            <a:prstDash val="solid"/>
          </a:ln>
        </p:spPr>
      </p:sp>
      <p:sp>
        <p:nvSpPr>
          <p:cNvPr id="10" name="Shape 7"/>
          <p:cNvSpPr/>
          <p:nvPr/>
        </p:nvSpPr>
        <p:spPr>
          <a:xfrm>
            <a:off x="502920" y="1325880"/>
            <a:ext cx="54864" cy="1078992"/>
          </a:xfrm>
          <a:prstGeom prst="rect">
            <a:avLst/>
          </a:prstGeom>
          <a:solidFill>
            <a:srgbClr val="146BDC"/>
          </a:solidFill>
          <a:ln w="12700">
            <a:solidFill>
              <a:srgbClr val="146BDC"/>
            </a:solidFill>
            <a:prstDash val="solid"/>
          </a:ln>
        </p:spPr>
      </p:sp>
      <p:sp>
        <p:nvSpPr>
          <p:cNvPr id="11" name="Text 8"/>
          <p:cNvSpPr/>
          <p:nvPr/>
        </p:nvSpPr>
        <p:spPr>
          <a:xfrm>
            <a:off x="640080" y="1399032"/>
            <a:ext cx="3977640" cy="932688"/>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Tickets, priority and SLA</a:t>
            </a:r>
            <a:endParaRPr lang="en-US" sz="1500" dirty="0"/>
          </a:p>
          <a:p>
            <a:pPr indent="0" marL="0">
              <a:spcAft>
                <a:spcPts val="200"/>
              </a:spcAft>
              <a:buNone/>
            </a:pPr>
            <a:r>
              <a:rPr lang="en-US" sz="1350" dirty="0">
                <a:solidFill>
                  <a:srgbClr val="1E293B"/>
                </a:solidFill>
                <a:latin typeface="Calibri" pitchFamily="34" charset="0"/>
                <a:ea typeface="Calibri" pitchFamily="34" charset="-122"/>
                <a:cs typeface="Calibri" pitchFamily="34" charset="-120"/>
              </a:rPr>
              <a:t>Six statuses; priority from impact and urgency (ITIL, Jira); first-response and resolution targets.</a:t>
            </a:r>
            <a:endParaRPr lang="en-US" sz="1500" dirty="0"/>
          </a:p>
        </p:txBody>
      </p:sp>
      <p:sp>
        <p:nvSpPr>
          <p:cNvPr id="12" name="Shape 9"/>
          <p:cNvSpPr/>
          <p:nvPr/>
        </p:nvSpPr>
        <p:spPr>
          <a:xfrm>
            <a:off x="502920" y="2514600"/>
            <a:ext cx="4206240" cy="1078992"/>
          </a:xfrm>
          <a:prstGeom prst="rect">
            <a:avLst/>
          </a:prstGeom>
          <a:solidFill>
            <a:srgbClr val="EEF4FD"/>
          </a:solidFill>
          <a:ln w="12700">
            <a:solidFill>
              <a:srgbClr val="EEF4FD"/>
            </a:solidFill>
            <a:prstDash val="solid"/>
          </a:ln>
        </p:spPr>
      </p:sp>
      <p:sp>
        <p:nvSpPr>
          <p:cNvPr id="13" name="Shape 10"/>
          <p:cNvSpPr/>
          <p:nvPr/>
        </p:nvSpPr>
        <p:spPr>
          <a:xfrm>
            <a:off x="502920" y="2514600"/>
            <a:ext cx="54864" cy="1078992"/>
          </a:xfrm>
          <a:prstGeom prst="rect">
            <a:avLst/>
          </a:prstGeom>
          <a:solidFill>
            <a:srgbClr val="146BDC"/>
          </a:solidFill>
          <a:ln w="12700">
            <a:solidFill>
              <a:srgbClr val="146BDC"/>
            </a:solidFill>
            <a:prstDash val="solid"/>
          </a:ln>
        </p:spPr>
      </p:sp>
      <p:sp>
        <p:nvSpPr>
          <p:cNvPr id="14" name="Text 11"/>
          <p:cNvSpPr/>
          <p:nvPr/>
        </p:nvSpPr>
        <p:spPr>
          <a:xfrm>
            <a:off x="640080" y="2587752"/>
            <a:ext cx="3977640" cy="932688"/>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Weighted scoring and load balancing</a:t>
            </a:r>
            <a:endParaRPr lang="en-US" sz="1500" dirty="0"/>
          </a:p>
          <a:p>
            <a:pPr indent="0" marL="0">
              <a:spcAft>
                <a:spcPts val="200"/>
              </a:spcAft>
              <a:buNone/>
            </a:pPr>
            <a:r>
              <a:rPr lang="en-US" sz="1350" dirty="0">
                <a:solidFill>
                  <a:srgbClr val="1E293B"/>
                </a:solidFill>
                <a:latin typeface="Calibri" pitchFamily="34" charset="0"/>
                <a:ea typeface="Calibri" pitchFamily="34" charset="-122"/>
                <a:cs typeface="Calibri" pitchFamily="34" charset="-120"/>
              </a:rPr>
              <a:t>Simple Additive Weighting, ageing, least-loaded skill-based routing.</a:t>
            </a:r>
            <a:endParaRPr lang="en-US" sz="1500" dirty="0"/>
          </a:p>
        </p:txBody>
      </p:sp>
      <p:sp>
        <p:nvSpPr>
          <p:cNvPr id="15" name="Shape 12"/>
          <p:cNvSpPr/>
          <p:nvPr/>
        </p:nvSpPr>
        <p:spPr>
          <a:xfrm>
            <a:off x="502920" y="3703320"/>
            <a:ext cx="4206240" cy="1078992"/>
          </a:xfrm>
          <a:prstGeom prst="rect">
            <a:avLst/>
          </a:prstGeom>
          <a:solidFill>
            <a:srgbClr val="EEF4FD"/>
          </a:solidFill>
          <a:ln w="12700">
            <a:solidFill>
              <a:srgbClr val="EEF4FD"/>
            </a:solidFill>
            <a:prstDash val="solid"/>
          </a:ln>
        </p:spPr>
      </p:sp>
      <p:sp>
        <p:nvSpPr>
          <p:cNvPr id="16" name="Shape 13"/>
          <p:cNvSpPr/>
          <p:nvPr/>
        </p:nvSpPr>
        <p:spPr>
          <a:xfrm>
            <a:off x="502920" y="3703320"/>
            <a:ext cx="54864" cy="1078992"/>
          </a:xfrm>
          <a:prstGeom prst="rect">
            <a:avLst/>
          </a:prstGeom>
          <a:solidFill>
            <a:srgbClr val="146BDC"/>
          </a:solidFill>
          <a:ln w="12700">
            <a:solidFill>
              <a:srgbClr val="146BDC"/>
            </a:solidFill>
            <a:prstDash val="solid"/>
          </a:ln>
        </p:spPr>
      </p:sp>
      <p:sp>
        <p:nvSpPr>
          <p:cNvPr id="17" name="Text 14"/>
          <p:cNvSpPr/>
          <p:nvPr/>
        </p:nvSpPr>
        <p:spPr>
          <a:xfrm>
            <a:off x="640080" y="3776472"/>
            <a:ext cx="3977640" cy="932688"/>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Text similarity</a:t>
            </a:r>
            <a:endParaRPr lang="en-US" sz="1500" dirty="0"/>
          </a:p>
          <a:p>
            <a:pPr indent="0" marL="0">
              <a:spcAft>
                <a:spcPts val="200"/>
              </a:spcAft>
              <a:buNone/>
            </a:pPr>
            <a:r>
              <a:rPr lang="en-US" sz="1350" dirty="0">
                <a:solidFill>
                  <a:srgbClr val="1E293B"/>
                </a:solidFill>
                <a:latin typeface="Calibri" pitchFamily="34" charset="0"/>
                <a:ea typeface="Calibri" pitchFamily="34" charset="-122"/>
                <a:cs typeface="Calibri" pitchFamily="34" charset="-120"/>
              </a:rPr>
              <a:t>Word sets without stop words; Jaccard = shared ÷ distinct words.</a:t>
            </a:r>
            <a:endParaRPr lang="en-US" sz="1500" dirty="0"/>
          </a:p>
        </p:txBody>
      </p:sp>
      <p:sp>
        <p:nvSpPr>
          <p:cNvPr id="18" name="Shape 15"/>
          <p:cNvSpPr/>
          <p:nvPr/>
        </p:nvSpPr>
        <p:spPr>
          <a:xfrm>
            <a:off x="502920" y="4892040"/>
            <a:ext cx="4206240" cy="1078992"/>
          </a:xfrm>
          <a:prstGeom prst="rect">
            <a:avLst/>
          </a:prstGeom>
          <a:solidFill>
            <a:srgbClr val="EEF4FD"/>
          </a:solidFill>
          <a:ln w="12700">
            <a:solidFill>
              <a:srgbClr val="EEF4FD"/>
            </a:solidFill>
            <a:prstDash val="solid"/>
          </a:ln>
        </p:spPr>
      </p:sp>
      <p:sp>
        <p:nvSpPr>
          <p:cNvPr id="19" name="Shape 16"/>
          <p:cNvSpPr/>
          <p:nvPr/>
        </p:nvSpPr>
        <p:spPr>
          <a:xfrm>
            <a:off x="502920" y="4892040"/>
            <a:ext cx="54864" cy="1078992"/>
          </a:xfrm>
          <a:prstGeom prst="rect">
            <a:avLst/>
          </a:prstGeom>
          <a:solidFill>
            <a:srgbClr val="146BDC"/>
          </a:solidFill>
          <a:ln w="12700">
            <a:solidFill>
              <a:srgbClr val="146BDC"/>
            </a:solidFill>
            <a:prstDash val="solid"/>
          </a:ln>
        </p:spPr>
      </p:sp>
      <p:sp>
        <p:nvSpPr>
          <p:cNvPr id="20" name="Text 17"/>
          <p:cNvSpPr/>
          <p:nvPr/>
        </p:nvSpPr>
        <p:spPr>
          <a:xfrm>
            <a:off x="640080" y="4965192"/>
            <a:ext cx="3977640" cy="932688"/>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Multi-tenant software</a:t>
            </a:r>
            <a:endParaRPr lang="en-US" sz="1500" dirty="0"/>
          </a:p>
          <a:p>
            <a:pPr indent="0" marL="0">
              <a:spcAft>
                <a:spcPts val="200"/>
              </a:spcAft>
              <a:buNone/>
            </a:pPr>
            <a:r>
              <a:rPr lang="en-US" sz="1350" dirty="0">
                <a:solidFill>
                  <a:srgbClr val="1E293B"/>
                </a:solidFill>
                <a:latin typeface="Calibri" pitchFamily="34" charset="0"/>
                <a:ea typeface="Calibri" pitchFamily="34" charset="-122"/>
                <a:cs typeface="Calibri" pitchFamily="34" charset="-120"/>
              </a:rPr>
              <a:t>Shared tables with a tenant id plus PostgreSQL row-level security.</a:t>
            </a:r>
            <a:endParaRPr lang="en-US" sz="1500" dirty="0"/>
          </a:p>
        </p:txBody>
      </p:sp>
      <p:sp>
        <p:nvSpPr>
          <p:cNvPr id="21" name="Text 18"/>
          <p:cNvSpPr/>
          <p:nvPr/>
        </p:nvSpPr>
        <p:spPr>
          <a:xfrm>
            <a:off x="4983480" y="1298448"/>
            <a:ext cx="6675120" cy="32004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Existing open-source helpdesks (Table 2.1)</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983480" y="1691640"/>
          <a:ext cx="6720840" cy="914400"/>
        </p:xfrm>
        <a:graphic>
          <a:graphicData uri="http://schemas.openxmlformats.org/drawingml/2006/table">
            <a:tbl>
              <a:tblPr/>
              <a:tblGrid>
                <a:gridCol w="1051560"/>
                <a:gridCol w="1463040"/>
                <a:gridCol w="1691640"/>
                <a:gridCol w="1097280"/>
                <a:gridCol w="1417320"/>
              </a:tblGrid>
              <a:tr h="45720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System</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Priority</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Assignment</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Duplicates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SLA</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457200">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osTicket</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manual per help topic</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by department; manual claim</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grace period, then overdue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Zammad</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three fixed levels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group rules; no workload</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manual merge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timers with calendars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457200">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GLPI</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urgency × impact matrix</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rules pick technician/group</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attached by rules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457200">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FreeScout</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minimal</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workflow rules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paid module only</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bl>
          </a:graphicData>
        </a:graphic>
      </p:graphicFrame>
      <p:sp>
        <p:nvSpPr>
          <p:cNvPr id="23" name="Shape 19"/>
          <p:cNvSpPr/>
          <p:nvPr/>
        </p:nvSpPr>
        <p:spPr>
          <a:xfrm>
            <a:off x="4983480" y="4206240"/>
            <a:ext cx="6720840" cy="1874520"/>
          </a:xfrm>
          <a:prstGeom prst="rect">
            <a:avLst/>
          </a:prstGeom>
          <a:solidFill>
            <a:srgbClr val="FFF7E6"/>
          </a:solidFill>
          <a:ln w="9525">
            <a:solidFill>
              <a:srgbClr val="F5D48C"/>
            </a:solidFill>
            <a:prstDash val="solid"/>
          </a:ln>
        </p:spPr>
      </p:sp>
      <p:sp>
        <p:nvSpPr>
          <p:cNvPr id="24" name="Text 20"/>
          <p:cNvSpPr/>
          <p:nvPr/>
        </p:nvSpPr>
        <p:spPr>
          <a:xfrm>
            <a:off x="5166360" y="4297680"/>
            <a:ext cx="6400800" cy="1691640"/>
          </a:xfrm>
          <a:prstGeom prst="rect">
            <a:avLst/>
          </a:prstGeom>
          <a:noFill/>
          <a:ln/>
        </p:spPr>
        <p:txBody>
          <a:bodyPr wrap="square" lIns="25400" tIns="25400" rIns="25400" bIns="25400" rtlCol="0" anchor="t"/>
          <a:lstStyle/>
          <a:p>
            <a:pPr indent="0" marL="0">
              <a:spcAft>
                <a:spcPts val="400"/>
              </a:spcAft>
              <a:buNone/>
            </a:pPr>
            <a:r>
              <a:rPr lang="en-US" sz="1350" b="1" dirty="0">
                <a:solidFill>
                  <a:srgbClr val="8A5A00"/>
                </a:solidFill>
                <a:latin typeface="Calibri" pitchFamily="34" charset="0"/>
                <a:ea typeface="Calibri" pitchFamily="34" charset="-122"/>
                <a:cs typeface="Calibri" pitchFamily="34" charset="-120"/>
              </a:rPr>
              <a:t>Gap identified</a:t>
            </a:r>
            <a:endParaRPr lang="en-US" sz="1350" dirty="0"/>
          </a:p>
          <a:p>
            <a:pPr indent="0" marL="0">
              <a:buNone/>
            </a:pPr>
            <a:r>
              <a:rPr lang="en-US" sz="1350" dirty="0">
                <a:solidFill>
                  <a:srgbClr val="1E293B"/>
                </a:solidFill>
                <a:latin typeface="Calibri" pitchFamily="34" charset="0"/>
                <a:ea typeface="Calibri" pitchFamily="34" charset="-122"/>
                <a:cs typeface="Calibri" pitchFamily="34" charset="-120"/>
              </a:rPr>
              <a:t>Only GLPI computes priority, with a fixed matrix and no waiting time. None assigns by measured workload and skills, and none detects duplicates automatically. Research favours machine learning, which needs labelled history and is hard to explain, so a transparent baseline is a reasonable start.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3 · SYSTEM ANALYSIS</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Requirement Analysis</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6 / 13</a:t>
            </a:r>
            <a:endParaRPr lang="en-US" sz="1000" dirty="0"/>
          </a:p>
        </p:txBody>
      </p:sp>
      <p:sp>
        <p:nvSpPr>
          <p:cNvPr id="9" name="Text 6"/>
          <p:cNvSpPr/>
          <p:nvPr/>
        </p:nvSpPr>
        <p:spPr>
          <a:xfrm>
            <a:off x="502920" y="1234440"/>
            <a:ext cx="11201400" cy="320040"/>
          </a:xfrm>
          <a:prstGeom prst="rect">
            <a:avLst/>
          </a:prstGeom>
          <a:noFill/>
          <a:ln/>
        </p:spPr>
        <p:txBody>
          <a:bodyPr wrap="square" lIns="0" tIns="0" rIns="0" bIns="0" rtlCol="0" anchor="ctr"/>
          <a:lstStyle/>
          <a:p>
            <a:pPr indent="0" marL="0">
              <a:buNone/>
            </a:pPr>
            <a:r>
              <a:rPr lang="en-US" sz="1350" b="1" dirty="0">
                <a:solidFill>
                  <a:srgbClr val="0F1B33"/>
                </a:solidFill>
                <a:latin typeface="Calibri" pitchFamily="34" charset="0"/>
                <a:ea typeface="Calibri" pitchFamily="34" charset="-122"/>
                <a:cs typeface="Calibri" pitchFamily="34" charset="-120"/>
              </a:rPr>
              <a:t>Actors: </a:t>
            </a:r>
            <a:r>
              <a:rPr lang="en-US" sz="1350" dirty="0">
                <a:solidFill>
                  <a:srgbClr val="1E293B"/>
                </a:solidFill>
                <a:latin typeface="Calibri" pitchFamily="34" charset="0"/>
                <a:ea typeface="Calibri" pitchFamily="34" charset="-122"/>
                <a:cs typeface="Calibri" pitchFamily="34" charset="-120"/>
              </a:rPr>
              <a:t>Platform Super Admin · Tenant Admin · Support Manager · Support Agent · External system · Contact · Scheduler</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6309360" cy="914400"/>
        </p:xfrm>
        <a:graphic>
          <a:graphicData uri="http://schemas.openxmlformats.org/drawingml/2006/table">
            <a:tbl>
              <a:tblPr/>
              <a:tblGrid>
                <a:gridCol w="1554480"/>
                <a:gridCol w="4754880"/>
              </a:tblGrid>
              <a:tr h="3383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Module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Functional requirement</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Tenancy</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Create, suspend, reactivate workspaces; workspace from session or API client</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Identity</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Sign in, invitations, roles made of permissions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Contacts, agents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Contacts, organisations, tiers; teams, skills, capacity, shifts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Tickets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Lifecycle, replies and notes, attachments, history, search</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Automation</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Score priority, assign agents, suggest duplicates, explain</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SLA</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Policies, calendars, timers, pause while pending, warn, breach</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Media and email</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Workspace library; notifications; email-to-ticket</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Integrations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REST API, client credentials, signed webhooks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38328">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Change history, reports, point-in-time view, CSV/XLSX</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bl>
          </a:graphicData>
        </a:graphic>
      </p:graphicFrame>
      <p:sp>
        <p:nvSpPr>
          <p:cNvPr id="11" name="Shape 7"/>
          <p:cNvSpPr/>
          <p:nvPr/>
        </p:nvSpPr>
        <p:spPr>
          <a:xfrm>
            <a:off x="7236905" y="1664208"/>
            <a:ext cx="4317111" cy="3575304"/>
          </a:xfrm>
          <a:prstGeom prst="rect">
            <a:avLst/>
          </a:prstGeom>
          <a:solidFill>
            <a:srgbClr val="FFFFFF"/>
          </a:solidFill>
          <a:ln w="9525">
            <a:solidFill>
              <a:srgbClr val="D9DEE7"/>
            </a:solidFill>
            <a:prstDash val="solid"/>
          </a:ln>
        </p:spPr>
      </p:sp>
      <p:pic>
        <p:nvPicPr>
          <p:cNvPr id="12" name="Image 0" descr="/home/subham/Projects/college/fyp/smart-helpdesk/report/university/figures/uc-01.png">    </p:cNvPr>
          <p:cNvPicPr>
            <a:picLocks noChangeAspect="1"/>
          </p:cNvPicPr>
          <p:nvPr/>
        </p:nvPicPr>
        <p:blipFill>
          <a:blip r:embed="rId1"/>
          <a:stretch>
            <a:fillRect/>
          </a:stretch>
        </p:blipFill>
        <p:spPr>
          <a:xfrm>
            <a:off x="7264337" y="1691640"/>
            <a:ext cx="4262247" cy="3520440"/>
          </a:xfrm>
          <a:prstGeom prst="rect">
            <a:avLst/>
          </a:prstGeom>
        </p:spPr>
      </p:pic>
      <p:sp>
        <p:nvSpPr>
          <p:cNvPr id="13" name="Text 8"/>
          <p:cNvSpPr/>
          <p:nvPr/>
        </p:nvSpPr>
        <p:spPr>
          <a:xfrm>
            <a:off x="7086600" y="5285232"/>
            <a:ext cx="461772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Figure 3.1: Use case diagram of ticket handling and automation</a:t>
            </a:r>
            <a:endParaRPr lang="en-US" sz="1050" dirty="0"/>
          </a:p>
        </p:txBody>
      </p:sp>
      <p:sp>
        <p:nvSpPr>
          <p:cNvPr id="14" name="Text 9"/>
          <p:cNvSpPr/>
          <p:nvPr/>
        </p:nvSpPr>
        <p:spPr>
          <a:xfrm>
            <a:off x="502920" y="5230368"/>
            <a:ext cx="5486400" cy="27432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Non-functional requirements</a:t>
            </a:r>
            <a:endParaRPr lang="en-US" sz="1300" dirty="0"/>
          </a:p>
        </p:txBody>
      </p:sp>
      <p:sp>
        <p:nvSpPr>
          <p:cNvPr id="15" name="Text 10"/>
          <p:cNvSpPr/>
          <p:nvPr/>
        </p:nvSpPr>
        <p:spPr>
          <a:xfrm>
            <a:off x="502920" y="5577840"/>
            <a:ext cx="2152498"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50" b="1" dirty="0">
                <a:solidFill>
                  <a:srgbClr val="146BDC"/>
                </a:solidFill>
                <a:latin typeface="Calibri" pitchFamily="34" charset="0"/>
                <a:ea typeface="Calibri" pitchFamily="34" charset="-122"/>
                <a:cs typeface="Calibri" pitchFamily="34" charset="-120"/>
              </a:rPr>
              <a:t>Security</a:t>
            </a:r>
            <a:endParaRPr lang="en-US" sz="1250" dirty="0"/>
          </a:p>
        </p:txBody>
      </p:sp>
      <p:sp>
        <p:nvSpPr>
          <p:cNvPr id="16" name="Text 11"/>
          <p:cNvSpPr/>
          <p:nvPr/>
        </p:nvSpPr>
        <p:spPr>
          <a:xfrm>
            <a:off x="2765146" y="5577840"/>
            <a:ext cx="2152498"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50" b="1" dirty="0">
                <a:solidFill>
                  <a:srgbClr val="146BDC"/>
                </a:solidFill>
                <a:latin typeface="Calibri" pitchFamily="34" charset="0"/>
                <a:ea typeface="Calibri" pitchFamily="34" charset="-122"/>
                <a:cs typeface="Calibri" pitchFamily="34" charset="-120"/>
              </a:rPr>
              <a:t>Performance ≈ 1 s</a:t>
            </a:r>
            <a:endParaRPr lang="en-US" sz="1250" dirty="0"/>
          </a:p>
        </p:txBody>
      </p:sp>
      <p:sp>
        <p:nvSpPr>
          <p:cNvPr id="17" name="Text 12"/>
          <p:cNvSpPr/>
          <p:nvPr/>
        </p:nvSpPr>
        <p:spPr>
          <a:xfrm>
            <a:off x="5027371" y="5577840"/>
            <a:ext cx="2152498"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50" b="1" dirty="0">
                <a:solidFill>
                  <a:srgbClr val="146BDC"/>
                </a:solidFill>
                <a:latin typeface="Calibri" pitchFamily="34" charset="0"/>
                <a:ea typeface="Calibri" pitchFamily="34" charset="-122"/>
                <a:cs typeface="Calibri" pitchFamily="34" charset="-120"/>
              </a:rPr>
              <a:t>Reliability</a:t>
            </a:r>
            <a:endParaRPr lang="en-US" sz="1250" dirty="0"/>
          </a:p>
        </p:txBody>
      </p:sp>
      <p:sp>
        <p:nvSpPr>
          <p:cNvPr id="18" name="Text 13"/>
          <p:cNvSpPr/>
          <p:nvPr/>
        </p:nvSpPr>
        <p:spPr>
          <a:xfrm>
            <a:off x="7289597" y="5577840"/>
            <a:ext cx="2152498"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50" b="1" dirty="0">
                <a:solidFill>
                  <a:srgbClr val="146BDC"/>
                </a:solidFill>
                <a:latin typeface="Calibri" pitchFamily="34" charset="0"/>
                <a:ea typeface="Calibri" pitchFamily="34" charset="-122"/>
                <a:cs typeface="Calibri" pitchFamily="34" charset="-120"/>
              </a:rPr>
              <a:t>Usability</a:t>
            </a:r>
            <a:endParaRPr lang="en-US" sz="1250" dirty="0"/>
          </a:p>
        </p:txBody>
      </p:sp>
      <p:sp>
        <p:nvSpPr>
          <p:cNvPr id="19" name="Text 14"/>
          <p:cNvSpPr/>
          <p:nvPr/>
        </p:nvSpPr>
        <p:spPr>
          <a:xfrm>
            <a:off x="9551822" y="5577840"/>
            <a:ext cx="2152498" cy="384048"/>
          </a:xfrm>
          <a:prstGeom prst="roundRect">
            <a:avLst>
              <a:gd name="adj" fmla="val 19048"/>
            </a:avLst>
          </a:prstGeom>
          <a:solidFill>
            <a:srgbClr val="EEF4FD"/>
          </a:solidFill>
          <a:ln w="9525">
            <a:solidFill>
              <a:srgbClr val="C9DBF7"/>
            </a:solidFill>
          </a:ln>
        </p:spPr>
        <p:txBody>
          <a:bodyPr wrap="square" lIns="25400" tIns="25400" rIns="25400" bIns="25400" rtlCol="0" anchor="ctr"/>
          <a:lstStyle/>
          <a:p>
            <a:pPr algn="ctr" indent="0" marL="0">
              <a:buNone/>
            </a:pPr>
            <a:r>
              <a:rPr lang="en-US" sz="1250" b="1" dirty="0">
                <a:solidFill>
                  <a:srgbClr val="146BDC"/>
                </a:solidFill>
                <a:latin typeface="Calibri" pitchFamily="34" charset="0"/>
                <a:ea typeface="Calibri" pitchFamily="34" charset="-122"/>
                <a:cs typeface="Calibri" pitchFamily="34" charset="-120"/>
              </a:rPr>
              <a:t>Portability</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3 · SYSTEM ANALYSIS</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Feasibility Analysis and Project Schedule</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7 / 13</a:t>
            </a:r>
            <a:endParaRPr lang="en-US" sz="1000" dirty="0"/>
          </a:p>
        </p:txBody>
      </p:sp>
      <p:sp>
        <p:nvSpPr>
          <p:cNvPr id="9" name="Shape 6"/>
          <p:cNvSpPr/>
          <p:nvPr/>
        </p:nvSpPr>
        <p:spPr>
          <a:xfrm>
            <a:off x="502920" y="1325880"/>
            <a:ext cx="2697480" cy="2057400"/>
          </a:xfrm>
          <a:prstGeom prst="rect">
            <a:avLst/>
          </a:prstGeom>
          <a:solidFill>
            <a:srgbClr val="EEF4FD"/>
          </a:solidFill>
          <a:ln w="12700">
            <a:solidFill>
              <a:srgbClr val="EEF4FD"/>
            </a:solidFill>
            <a:prstDash val="solid"/>
          </a:ln>
        </p:spPr>
      </p:sp>
      <p:sp>
        <p:nvSpPr>
          <p:cNvPr id="10" name="Shape 7"/>
          <p:cNvSpPr/>
          <p:nvPr/>
        </p:nvSpPr>
        <p:spPr>
          <a:xfrm>
            <a:off x="502920" y="1325880"/>
            <a:ext cx="54864" cy="2057400"/>
          </a:xfrm>
          <a:prstGeom prst="rect">
            <a:avLst/>
          </a:prstGeom>
          <a:solidFill>
            <a:srgbClr val="146BDC"/>
          </a:solidFill>
          <a:ln w="12700">
            <a:solidFill>
              <a:srgbClr val="146BDC"/>
            </a:solidFill>
            <a:prstDash val="solid"/>
          </a:ln>
        </p:spPr>
      </p:sp>
      <p:sp>
        <p:nvSpPr>
          <p:cNvPr id="11" name="Text 8"/>
          <p:cNvSpPr/>
          <p:nvPr/>
        </p:nvSpPr>
        <p:spPr>
          <a:xfrm>
            <a:off x="640080" y="1399032"/>
            <a:ext cx="2468880" cy="1911096"/>
          </a:xfrm>
          <a:prstGeom prst="rect">
            <a:avLst/>
          </a:prstGeom>
          <a:noFill/>
          <a:ln/>
        </p:spPr>
        <p:txBody>
          <a:bodyPr wrap="square" lIns="25400" tIns="25400" rIns="25400" bIns="25400" rtlCol="0" anchor="t"/>
          <a:lstStyle/>
          <a:p>
            <a:pPr indent="0" marL="0">
              <a:spcAft>
                <a:spcPts val="400"/>
              </a:spcAft>
              <a:buNone/>
            </a:pPr>
            <a:r>
              <a:rPr lang="en-US" sz="1600" b="1" dirty="0">
                <a:solidFill>
                  <a:srgbClr val="0F1B33"/>
                </a:solidFill>
                <a:latin typeface="Calibri" pitchFamily="34" charset="0"/>
                <a:ea typeface="Calibri" pitchFamily="34" charset="-122"/>
                <a:cs typeface="Calibri" pitchFamily="34" charset="-120"/>
              </a:rPr>
              <a:t>Technical</a:t>
            </a:r>
            <a:endParaRPr lang="en-US" sz="1600" dirty="0"/>
          </a:p>
          <a:p>
            <a:pPr indent="0" marL="0">
              <a:spcAft>
                <a:spcPts val="200"/>
              </a:spcAft>
              <a:buNone/>
            </a:pPr>
            <a:r>
              <a:rPr lang="en-US" sz="1400" dirty="0">
                <a:solidFill>
                  <a:srgbClr val="1E293B"/>
                </a:solidFill>
                <a:latin typeface="Calibri" pitchFamily="34" charset="0"/>
                <a:ea typeface="Calibri" pitchFamily="34" charset="-122"/>
                <a:cs typeface="Calibri" pitchFamily="34" charset="-120"/>
              </a:rPr>
              <a:t>Mature open-source stack (Laravel, React, PostgreSQL, Valkey, object storage, mail server) in Docker Compose on one VM: 2 vCPU, 2 GB on AWS.</a:t>
            </a:r>
            <a:endParaRPr lang="en-US" sz="1600" dirty="0"/>
          </a:p>
        </p:txBody>
      </p:sp>
      <p:sp>
        <p:nvSpPr>
          <p:cNvPr id="12" name="Shape 9"/>
          <p:cNvSpPr/>
          <p:nvPr/>
        </p:nvSpPr>
        <p:spPr>
          <a:xfrm>
            <a:off x="3337560" y="1325880"/>
            <a:ext cx="2697480" cy="2057400"/>
          </a:xfrm>
          <a:prstGeom prst="rect">
            <a:avLst/>
          </a:prstGeom>
          <a:solidFill>
            <a:srgbClr val="EEF4FD"/>
          </a:solidFill>
          <a:ln w="12700">
            <a:solidFill>
              <a:srgbClr val="EEF4FD"/>
            </a:solidFill>
            <a:prstDash val="solid"/>
          </a:ln>
        </p:spPr>
      </p:sp>
      <p:sp>
        <p:nvSpPr>
          <p:cNvPr id="13" name="Shape 10"/>
          <p:cNvSpPr/>
          <p:nvPr/>
        </p:nvSpPr>
        <p:spPr>
          <a:xfrm>
            <a:off x="3337560" y="1325880"/>
            <a:ext cx="54864" cy="2057400"/>
          </a:xfrm>
          <a:prstGeom prst="rect">
            <a:avLst/>
          </a:prstGeom>
          <a:solidFill>
            <a:srgbClr val="146BDC"/>
          </a:solidFill>
          <a:ln w="12700">
            <a:solidFill>
              <a:srgbClr val="146BDC"/>
            </a:solidFill>
            <a:prstDash val="solid"/>
          </a:ln>
        </p:spPr>
      </p:sp>
      <p:sp>
        <p:nvSpPr>
          <p:cNvPr id="14" name="Text 11"/>
          <p:cNvSpPr/>
          <p:nvPr/>
        </p:nvSpPr>
        <p:spPr>
          <a:xfrm>
            <a:off x="3474720" y="1399032"/>
            <a:ext cx="2468880" cy="1911096"/>
          </a:xfrm>
          <a:prstGeom prst="rect">
            <a:avLst/>
          </a:prstGeom>
          <a:noFill/>
          <a:ln/>
        </p:spPr>
        <p:txBody>
          <a:bodyPr wrap="square" lIns="25400" tIns="25400" rIns="25400" bIns="25400" rtlCol="0" anchor="t"/>
          <a:lstStyle/>
          <a:p>
            <a:pPr indent="0" marL="0">
              <a:spcAft>
                <a:spcPts val="400"/>
              </a:spcAft>
              <a:buNone/>
            </a:pPr>
            <a:r>
              <a:rPr lang="en-US" sz="1600" b="1" dirty="0">
                <a:solidFill>
                  <a:srgbClr val="0F1B33"/>
                </a:solidFill>
                <a:latin typeface="Calibri" pitchFamily="34" charset="0"/>
                <a:ea typeface="Calibri" pitchFamily="34" charset="-122"/>
                <a:cs typeface="Calibri" pitchFamily="34" charset="-120"/>
              </a:rPr>
              <a:t>Operational</a:t>
            </a:r>
            <a:endParaRPr lang="en-US" sz="1600" dirty="0"/>
          </a:p>
          <a:p>
            <a:pPr indent="0" marL="0">
              <a:spcAft>
                <a:spcPts val="200"/>
              </a:spcAft>
              <a:buNone/>
            </a:pPr>
            <a:r>
              <a:rPr lang="en-US" sz="1400" dirty="0">
                <a:solidFill>
                  <a:srgbClr val="1E293B"/>
                </a:solidFill>
                <a:latin typeface="Calibri" pitchFamily="34" charset="0"/>
                <a:ea typeface="Calibri" pitchFamily="34" charset="-122"/>
                <a:cs typeface="Calibri" pitchFamily="34" charset="-120"/>
              </a:rPr>
              <a:t>Follows the workflow support teams already use; every decision is explained, and settings are forms, not code.</a:t>
            </a:r>
            <a:endParaRPr lang="en-US" sz="1600" dirty="0"/>
          </a:p>
        </p:txBody>
      </p:sp>
      <p:sp>
        <p:nvSpPr>
          <p:cNvPr id="15" name="Shape 12"/>
          <p:cNvSpPr/>
          <p:nvPr/>
        </p:nvSpPr>
        <p:spPr>
          <a:xfrm>
            <a:off x="6172200" y="1325880"/>
            <a:ext cx="2697480" cy="2057400"/>
          </a:xfrm>
          <a:prstGeom prst="rect">
            <a:avLst/>
          </a:prstGeom>
          <a:solidFill>
            <a:srgbClr val="EEF4FD"/>
          </a:solidFill>
          <a:ln w="12700">
            <a:solidFill>
              <a:srgbClr val="EEF4FD"/>
            </a:solidFill>
            <a:prstDash val="solid"/>
          </a:ln>
        </p:spPr>
      </p:sp>
      <p:sp>
        <p:nvSpPr>
          <p:cNvPr id="16" name="Shape 13"/>
          <p:cNvSpPr/>
          <p:nvPr/>
        </p:nvSpPr>
        <p:spPr>
          <a:xfrm>
            <a:off x="6172200" y="1325880"/>
            <a:ext cx="54864" cy="2057400"/>
          </a:xfrm>
          <a:prstGeom prst="rect">
            <a:avLst/>
          </a:prstGeom>
          <a:solidFill>
            <a:srgbClr val="146BDC"/>
          </a:solidFill>
          <a:ln w="12700">
            <a:solidFill>
              <a:srgbClr val="146BDC"/>
            </a:solidFill>
            <a:prstDash val="solid"/>
          </a:ln>
        </p:spPr>
      </p:sp>
      <p:sp>
        <p:nvSpPr>
          <p:cNvPr id="17" name="Text 14"/>
          <p:cNvSpPr/>
          <p:nvPr/>
        </p:nvSpPr>
        <p:spPr>
          <a:xfrm>
            <a:off x="6309360" y="1399032"/>
            <a:ext cx="2468880" cy="1911096"/>
          </a:xfrm>
          <a:prstGeom prst="rect">
            <a:avLst/>
          </a:prstGeom>
          <a:noFill/>
          <a:ln/>
        </p:spPr>
        <p:txBody>
          <a:bodyPr wrap="square" lIns="25400" tIns="25400" rIns="25400" bIns="25400" rtlCol="0" anchor="t"/>
          <a:lstStyle/>
          <a:p>
            <a:pPr indent="0" marL="0">
              <a:spcAft>
                <a:spcPts val="400"/>
              </a:spcAft>
              <a:buNone/>
            </a:pPr>
            <a:r>
              <a:rPr lang="en-US" sz="1600" b="1" dirty="0">
                <a:solidFill>
                  <a:srgbClr val="0F1B33"/>
                </a:solidFill>
                <a:latin typeface="Calibri" pitchFamily="34" charset="0"/>
                <a:ea typeface="Calibri" pitchFamily="34" charset="-122"/>
                <a:cs typeface="Calibri" pitchFamily="34" charset="-120"/>
              </a:rPr>
              <a:t>Economic</a:t>
            </a:r>
            <a:endParaRPr lang="en-US" sz="1600" dirty="0"/>
          </a:p>
          <a:p>
            <a:pPr indent="0" marL="0">
              <a:spcAft>
                <a:spcPts val="200"/>
              </a:spcAft>
              <a:buNone/>
            </a:pPr>
            <a:r>
              <a:rPr lang="en-US" sz="1400" dirty="0">
                <a:solidFill>
                  <a:srgbClr val="1E293B"/>
                </a:solidFill>
                <a:latin typeface="Calibri" pitchFamily="34" charset="0"/>
                <a:ea typeface="Calibri" pitchFamily="34" charset="-122"/>
                <a:cs typeface="Calibri" pitchFamily="34" charset="-120"/>
              </a:rPr>
              <a:t>No software licence; a VM costs roughly US$8–35 per month, or an organisation's own server; free development tools.</a:t>
            </a:r>
            <a:endParaRPr lang="en-US" sz="1600" dirty="0"/>
          </a:p>
        </p:txBody>
      </p:sp>
      <p:sp>
        <p:nvSpPr>
          <p:cNvPr id="18" name="Shape 15"/>
          <p:cNvSpPr/>
          <p:nvPr/>
        </p:nvSpPr>
        <p:spPr>
          <a:xfrm>
            <a:off x="9006840" y="1325880"/>
            <a:ext cx="2697480" cy="2057400"/>
          </a:xfrm>
          <a:prstGeom prst="rect">
            <a:avLst/>
          </a:prstGeom>
          <a:solidFill>
            <a:srgbClr val="EEF4FD"/>
          </a:solidFill>
          <a:ln w="12700">
            <a:solidFill>
              <a:srgbClr val="EEF4FD"/>
            </a:solidFill>
            <a:prstDash val="solid"/>
          </a:ln>
        </p:spPr>
      </p:sp>
      <p:sp>
        <p:nvSpPr>
          <p:cNvPr id="19" name="Shape 16"/>
          <p:cNvSpPr/>
          <p:nvPr/>
        </p:nvSpPr>
        <p:spPr>
          <a:xfrm>
            <a:off x="9006840" y="1325880"/>
            <a:ext cx="54864" cy="2057400"/>
          </a:xfrm>
          <a:prstGeom prst="rect">
            <a:avLst/>
          </a:prstGeom>
          <a:solidFill>
            <a:srgbClr val="146BDC"/>
          </a:solidFill>
          <a:ln w="12700">
            <a:solidFill>
              <a:srgbClr val="146BDC"/>
            </a:solidFill>
            <a:prstDash val="solid"/>
          </a:ln>
        </p:spPr>
      </p:sp>
      <p:sp>
        <p:nvSpPr>
          <p:cNvPr id="20" name="Text 17"/>
          <p:cNvSpPr/>
          <p:nvPr/>
        </p:nvSpPr>
        <p:spPr>
          <a:xfrm>
            <a:off x="9144000" y="1399032"/>
            <a:ext cx="2468880" cy="1911096"/>
          </a:xfrm>
          <a:prstGeom prst="rect">
            <a:avLst/>
          </a:prstGeom>
          <a:noFill/>
          <a:ln/>
        </p:spPr>
        <p:txBody>
          <a:bodyPr wrap="square" lIns="25400" tIns="25400" rIns="25400" bIns="25400" rtlCol="0" anchor="t"/>
          <a:lstStyle/>
          <a:p>
            <a:pPr indent="0" marL="0">
              <a:spcAft>
                <a:spcPts val="400"/>
              </a:spcAft>
              <a:buNone/>
            </a:pPr>
            <a:r>
              <a:rPr lang="en-US" sz="1600" b="1" dirty="0">
                <a:solidFill>
                  <a:srgbClr val="0F1B33"/>
                </a:solidFill>
                <a:latin typeface="Calibri" pitchFamily="34" charset="0"/>
                <a:ea typeface="Calibri" pitchFamily="34" charset="-122"/>
                <a:cs typeface="Calibri" pitchFamily="34" charset="-120"/>
              </a:rPr>
              <a:t>Schedule</a:t>
            </a:r>
            <a:endParaRPr lang="en-US" sz="1600" dirty="0"/>
          </a:p>
          <a:p>
            <a:pPr indent="0" marL="0">
              <a:spcAft>
                <a:spcPts val="200"/>
              </a:spcAft>
              <a:buNone/>
            </a:pPr>
            <a:r>
              <a:rPr lang="en-US" sz="1400" dirty="0">
                <a:solidFill>
                  <a:srgbClr val="1E293B"/>
                </a:solidFill>
                <a:latin typeface="Calibri" pitchFamily="34" charset="0"/>
                <a:ea typeface="Calibri" pitchFamily="34" charset="-122"/>
                <a:cs typeface="Calibri" pitchFamily="34" charset="-120"/>
              </a:rPr>
              <a:t>Three months, 16 June – 15 September 2026, following the waterfall phases, with documentation throughout.</a:t>
            </a:r>
            <a:endParaRPr lang="en-US" sz="1600" dirty="0"/>
          </a:p>
        </p:txBody>
      </p:sp>
      <p:sp>
        <p:nvSpPr>
          <p:cNvPr id="21" name="Shape 18"/>
          <p:cNvSpPr/>
          <p:nvPr/>
        </p:nvSpPr>
        <p:spPr>
          <a:xfrm>
            <a:off x="2940870" y="3584448"/>
            <a:ext cx="6325499" cy="2386584"/>
          </a:xfrm>
          <a:prstGeom prst="rect">
            <a:avLst/>
          </a:prstGeom>
          <a:solidFill>
            <a:srgbClr val="FFFFFF"/>
          </a:solidFill>
          <a:ln w="9525">
            <a:solidFill>
              <a:srgbClr val="D9DEE7"/>
            </a:solidFill>
            <a:prstDash val="solid"/>
          </a:ln>
        </p:spPr>
      </p:sp>
      <p:pic>
        <p:nvPicPr>
          <p:cNvPr id="22" name="Image 0" descr="/home/subham/Projects/college/fyp/smart-helpdesk/report/university/figures/gantt.png">    </p:cNvPr>
          <p:cNvPicPr>
            <a:picLocks noChangeAspect="1"/>
          </p:cNvPicPr>
          <p:nvPr/>
        </p:nvPicPr>
        <p:blipFill>
          <a:blip r:embed="rId1"/>
          <a:stretch>
            <a:fillRect/>
          </a:stretch>
        </p:blipFill>
        <p:spPr>
          <a:xfrm>
            <a:off x="2968302" y="3611880"/>
            <a:ext cx="6270635" cy="2331720"/>
          </a:xfrm>
          <a:prstGeom prst="rect">
            <a:avLst/>
          </a:prstGeom>
        </p:spPr>
      </p:pic>
      <p:sp>
        <p:nvSpPr>
          <p:cNvPr id="23" name="Text 19"/>
          <p:cNvSpPr/>
          <p:nvPr/>
        </p:nvSpPr>
        <p:spPr>
          <a:xfrm>
            <a:off x="502920" y="6016752"/>
            <a:ext cx="1120140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Figure 3.3: Gantt chart of the project schedule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3 · SYSTEM DESIGN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System Design: System Architecture</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8 / 13</a:t>
            </a:r>
            <a:endParaRPr lang="en-US" sz="1000" dirty="0"/>
          </a:p>
        </p:txBody>
      </p:sp>
      <p:sp>
        <p:nvSpPr>
          <p:cNvPr id="9" name="Text 6"/>
          <p:cNvSpPr/>
          <p:nvPr/>
        </p:nvSpPr>
        <p:spPr>
          <a:xfrm>
            <a:off x="502920" y="1280160"/>
            <a:ext cx="2484120" cy="548640"/>
          </a:xfrm>
          <a:prstGeom prst="roundRect">
            <a:avLst>
              <a:gd name="adj" fmla="val 10000"/>
            </a:avLst>
          </a:prstGeom>
          <a:solidFill>
            <a:srgbClr val="FFFFFF"/>
          </a:solidFill>
          <a:ln w="12700">
            <a:solidFill>
              <a:srgbClr val="B9CDEB"/>
            </a:solidFill>
          </a:ln>
        </p:spPr>
        <p:txBody>
          <a:bodyPr wrap="square" lIns="38100" tIns="38100" rIns="38100" bIns="38100" rtlCol="0" anchor="ctr"/>
          <a:lstStyle/>
          <a:p>
            <a:pPr algn="ctr" indent="0" marL="0">
              <a:buNone/>
            </a:pPr>
            <a:r>
              <a:rPr lang="en-US" sz="1200" b="1" dirty="0">
                <a:solidFill>
                  <a:srgbClr val="0F1B33"/>
                </a:solidFill>
                <a:latin typeface="Calibri" pitchFamily="34" charset="0"/>
                <a:ea typeface="Calibri" pitchFamily="34" charset="-122"/>
                <a:cs typeface="Calibri" pitchFamily="34" charset="-120"/>
              </a:rPr>
              <a:t>Web browser</a:t>
            </a:r>
            <a:endParaRPr lang="en-US" sz="1200" dirty="0"/>
          </a:p>
          <a:p>
            <a:pPr algn="ctr" indent="0" marL="0">
              <a:buNone/>
            </a:pPr>
            <a:r>
              <a:rPr lang="en-US" sz="1000" b="1" dirty="0">
                <a:solidFill>
                  <a:srgbClr val="5B6576"/>
                </a:solidFill>
                <a:latin typeface="Calibri" pitchFamily="34" charset="0"/>
                <a:ea typeface="Calibri" pitchFamily="34" charset="-122"/>
                <a:cs typeface="Calibri" pitchFamily="34" charset="-120"/>
              </a:rPr>
              <a:t>agents, managers, admins</a:t>
            </a:r>
            <a:endParaRPr lang="en-US" sz="1200" dirty="0"/>
          </a:p>
        </p:txBody>
      </p:sp>
      <p:sp>
        <p:nvSpPr>
          <p:cNvPr id="10" name="Text 7"/>
          <p:cNvSpPr/>
          <p:nvPr/>
        </p:nvSpPr>
        <p:spPr>
          <a:xfrm>
            <a:off x="3124200" y="1280160"/>
            <a:ext cx="2484120" cy="548640"/>
          </a:xfrm>
          <a:prstGeom prst="roundRect">
            <a:avLst>
              <a:gd name="adj" fmla="val 10000"/>
            </a:avLst>
          </a:prstGeom>
          <a:solidFill>
            <a:srgbClr val="FFFFFF"/>
          </a:solidFill>
          <a:ln w="12700">
            <a:solidFill>
              <a:srgbClr val="B9CDEB"/>
            </a:solidFill>
          </a:ln>
        </p:spPr>
        <p:txBody>
          <a:bodyPr wrap="square" lIns="38100" tIns="38100" rIns="38100" bIns="38100" rtlCol="0" anchor="ctr"/>
          <a:lstStyle/>
          <a:p>
            <a:pPr algn="ctr" indent="0" marL="0">
              <a:buNone/>
            </a:pPr>
            <a:r>
              <a:rPr lang="en-US" sz="1200" b="1" dirty="0">
                <a:solidFill>
                  <a:srgbClr val="0F1B33"/>
                </a:solidFill>
                <a:latin typeface="Calibri" pitchFamily="34" charset="0"/>
                <a:ea typeface="Calibri" pitchFamily="34" charset="-122"/>
                <a:cs typeface="Calibri" pitchFamily="34" charset="-120"/>
              </a:rPr>
              <a:t>External systems</a:t>
            </a:r>
            <a:endParaRPr lang="en-US" sz="1200" dirty="0"/>
          </a:p>
          <a:p>
            <a:pPr algn="ctr" indent="0" marL="0">
              <a:buNone/>
            </a:pPr>
            <a:r>
              <a:rPr lang="en-US" sz="1000" b="1" dirty="0">
                <a:solidFill>
                  <a:srgbClr val="5B6576"/>
                </a:solidFill>
                <a:latin typeface="Calibri" pitchFamily="34" charset="0"/>
                <a:ea typeface="Calibri" pitchFamily="34" charset="-122"/>
                <a:cs typeface="Calibri" pitchFamily="34" charset="-120"/>
              </a:rPr>
              <a:t>REST API, webhooks</a:t>
            </a:r>
            <a:endParaRPr lang="en-US" sz="1200" dirty="0"/>
          </a:p>
        </p:txBody>
      </p:sp>
      <p:sp>
        <p:nvSpPr>
          <p:cNvPr id="11" name="Text 8"/>
          <p:cNvSpPr/>
          <p:nvPr/>
        </p:nvSpPr>
        <p:spPr>
          <a:xfrm>
            <a:off x="5745480" y="1280160"/>
            <a:ext cx="2484120" cy="548640"/>
          </a:xfrm>
          <a:prstGeom prst="roundRect">
            <a:avLst>
              <a:gd name="adj" fmla="val 10000"/>
            </a:avLst>
          </a:prstGeom>
          <a:solidFill>
            <a:srgbClr val="FFFFFF"/>
          </a:solidFill>
          <a:ln w="12700">
            <a:solidFill>
              <a:srgbClr val="B9CDEB"/>
            </a:solidFill>
          </a:ln>
        </p:spPr>
        <p:txBody>
          <a:bodyPr wrap="square" lIns="38100" tIns="38100" rIns="38100" bIns="38100" rtlCol="0" anchor="ctr"/>
          <a:lstStyle/>
          <a:p>
            <a:pPr algn="ctr" indent="0" marL="0">
              <a:buNone/>
            </a:pPr>
            <a:r>
              <a:rPr lang="en-US" sz="1200" b="1" dirty="0">
                <a:solidFill>
                  <a:srgbClr val="0F1B33"/>
                </a:solidFill>
                <a:latin typeface="Calibri" pitchFamily="34" charset="0"/>
                <a:ea typeface="Calibri" pitchFamily="34" charset="-122"/>
                <a:cs typeface="Calibri" pitchFamily="34" charset="-120"/>
              </a:rPr>
              <a:t>Contacts</a:t>
            </a:r>
            <a:endParaRPr lang="en-US" sz="1200" dirty="0"/>
          </a:p>
          <a:p>
            <a:pPr algn="ctr" indent="0" marL="0">
              <a:buNone/>
            </a:pPr>
            <a:r>
              <a:rPr lang="en-US" sz="1000" b="1" dirty="0">
                <a:solidFill>
                  <a:srgbClr val="5B6576"/>
                </a:solidFill>
                <a:latin typeface="Calibri" pitchFamily="34" charset="0"/>
                <a:ea typeface="Calibri" pitchFamily="34" charset="-122"/>
                <a:cs typeface="Calibri" pitchFamily="34" charset="-120"/>
              </a:rPr>
              <a:t>email</a:t>
            </a:r>
            <a:endParaRPr lang="en-US" sz="1200" dirty="0"/>
          </a:p>
        </p:txBody>
      </p:sp>
      <p:sp>
        <p:nvSpPr>
          <p:cNvPr id="12" name="Shape 9"/>
          <p:cNvSpPr/>
          <p:nvPr/>
        </p:nvSpPr>
        <p:spPr>
          <a:xfrm>
            <a:off x="1744980" y="1828800"/>
            <a:ext cx="0" cy="411480"/>
          </a:xfrm>
          <a:prstGeom prst="line">
            <a:avLst/>
          </a:prstGeom>
          <a:noFill/>
          <a:ln w="15875">
            <a:solidFill>
              <a:srgbClr val="5B6576"/>
            </a:solidFill>
            <a:prstDash val="solid"/>
            <a:tailEnd type="triangle"/>
          </a:ln>
        </p:spPr>
      </p:sp>
      <p:sp>
        <p:nvSpPr>
          <p:cNvPr id="13" name="Text 10"/>
          <p:cNvSpPr/>
          <p:nvPr/>
        </p:nvSpPr>
        <p:spPr>
          <a:xfrm>
            <a:off x="1799844" y="1828800"/>
            <a:ext cx="1463040" cy="411480"/>
          </a:xfrm>
          <a:prstGeom prst="rect">
            <a:avLst/>
          </a:prstGeom>
          <a:noFill/>
          <a:ln/>
        </p:spPr>
        <p:txBody>
          <a:bodyPr wrap="square" lIns="0" tIns="0" rIns="0" bIns="0" rtlCol="0" anchor="ctr"/>
          <a:lstStyle/>
          <a:p>
            <a:pPr indent="0" marL="0">
              <a:buNone/>
            </a:pPr>
            <a:r>
              <a:rPr lang="en-US" sz="950" dirty="0">
                <a:solidFill>
                  <a:srgbClr val="5B6576"/>
                </a:solidFill>
                <a:latin typeface="Calibri" pitchFamily="34" charset="0"/>
                <a:ea typeface="Calibri" pitchFamily="34" charset="-122"/>
                <a:cs typeface="Calibri" pitchFamily="34" charset="-120"/>
              </a:rPr>
              <a:t>HTTPS</a:t>
            </a:r>
            <a:endParaRPr lang="en-US" sz="950" dirty="0"/>
          </a:p>
        </p:txBody>
      </p:sp>
      <p:sp>
        <p:nvSpPr>
          <p:cNvPr id="14" name="Shape 11"/>
          <p:cNvSpPr/>
          <p:nvPr/>
        </p:nvSpPr>
        <p:spPr>
          <a:xfrm>
            <a:off x="4366260" y="1828800"/>
            <a:ext cx="0" cy="411480"/>
          </a:xfrm>
          <a:prstGeom prst="line">
            <a:avLst/>
          </a:prstGeom>
          <a:noFill/>
          <a:ln w="15875">
            <a:solidFill>
              <a:srgbClr val="5B6576"/>
            </a:solidFill>
            <a:prstDash val="solid"/>
            <a:tailEnd type="triangle"/>
          </a:ln>
        </p:spPr>
      </p:sp>
      <p:sp>
        <p:nvSpPr>
          <p:cNvPr id="15" name="Text 12"/>
          <p:cNvSpPr/>
          <p:nvPr/>
        </p:nvSpPr>
        <p:spPr>
          <a:xfrm>
            <a:off x="4421124" y="1828800"/>
            <a:ext cx="1463040" cy="411480"/>
          </a:xfrm>
          <a:prstGeom prst="rect">
            <a:avLst/>
          </a:prstGeom>
          <a:noFill/>
          <a:ln/>
        </p:spPr>
        <p:txBody>
          <a:bodyPr wrap="square" lIns="0" tIns="0" rIns="0" bIns="0" rtlCol="0" anchor="ctr"/>
          <a:lstStyle/>
          <a:p>
            <a:pPr indent="0" marL="0">
              <a:buNone/>
            </a:pPr>
            <a:r>
              <a:rPr lang="en-US" sz="950" dirty="0">
                <a:solidFill>
                  <a:srgbClr val="5B6576"/>
                </a:solidFill>
                <a:latin typeface="Calibri" pitchFamily="34" charset="0"/>
                <a:ea typeface="Calibri" pitchFamily="34" charset="-122"/>
                <a:cs typeface="Calibri" pitchFamily="34" charset="-120"/>
              </a:rPr>
              <a:t>HTTPS API</a:t>
            </a:r>
            <a:endParaRPr lang="en-US" sz="950" dirty="0"/>
          </a:p>
        </p:txBody>
      </p:sp>
      <p:sp>
        <p:nvSpPr>
          <p:cNvPr id="16" name="Shape 13"/>
          <p:cNvSpPr/>
          <p:nvPr/>
        </p:nvSpPr>
        <p:spPr>
          <a:xfrm>
            <a:off x="6987540" y="1828800"/>
            <a:ext cx="0" cy="411480"/>
          </a:xfrm>
          <a:prstGeom prst="line">
            <a:avLst/>
          </a:prstGeom>
          <a:noFill/>
          <a:ln w="15875">
            <a:solidFill>
              <a:srgbClr val="5B6576"/>
            </a:solidFill>
            <a:prstDash val="solid"/>
            <a:tailEnd type="triangle"/>
          </a:ln>
        </p:spPr>
      </p:sp>
      <p:sp>
        <p:nvSpPr>
          <p:cNvPr id="17" name="Text 14"/>
          <p:cNvSpPr/>
          <p:nvPr/>
        </p:nvSpPr>
        <p:spPr>
          <a:xfrm>
            <a:off x="7042404" y="1828800"/>
            <a:ext cx="1463040" cy="411480"/>
          </a:xfrm>
          <a:prstGeom prst="rect">
            <a:avLst/>
          </a:prstGeom>
          <a:noFill/>
          <a:ln/>
        </p:spPr>
        <p:txBody>
          <a:bodyPr wrap="square" lIns="0" tIns="0" rIns="0" bIns="0" rtlCol="0" anchor="ctr"/>
          <a:lstStyle/>
          <a:p>
            <a:pPr indent="0" marL="0">
              <a:buNone/>
            </a:pPr>
            <a:r>
              <a:rPr lang="en-US" sz="950" dirty="0">
                <a:solidFill>
                  <a:srgbClr val="5B6576"/>
                </a:solidFill>
                <a:latin typeface="Calibri" pitchFamily="34" charset="0"/>
                <a:ea typeface="Calibri" pitchFamily="34" charset="-122"/>
                <a:cs typeface="Calibri" pitchFamily="34" charset="-120"/>
              </a:rPr>
              <a:t>SMTP / IMAP</a:t>
            </a:r>
            <a:endParaRPr lang="en-US" sz="950" dirty="0"/>
          </a:p>
        </p:txBody>
      </p:sp>
      <p:sp>
        <p:nvSpPr>
          <p:cNvPr id="18" name="Shape 15"/>
          <p:cNvSpPr/>
          <p:nvPr/>
        </p:nvSpPr>
        <p:spPr>
          <a:xfrm>
            <a:off x="502920" y="2240280"/>
            <a:ext cx="7726680" cy="3977640"/>
          </a:xfrm>
          <a:prstGeom prst="rect">
            <a:avLst/>
          </a:prstGeom>
          <a:solidFill>
            <a:srgbClr val="F7F9FC"/>
          </a:solidFill>
          <a:ln w="12700">
            <a:solidFill>
              <a:srgbClr val="D9DEE7"/>
            </a:solidFill>
            <a:prstDash val="dash"/>
          </a:ln>
        </p:spPr>
      </p:sp>
      <p:sp>
        <p:nvSpPr>
          <p:cNvPr id="19" name="Text 16"/>
          <p:cNvSpPr/>
          <p:nvPr/>
        </p:nvSpPr>
        <p:spPr>
          <a:xfrm>
            <a:off x="612648" y="2286000"/>
            <a:ext cx="7507224" cy="256032"/>
          </a:xfrm>
          <a:prstGeom prst="rect">
            <a:avLst/>
          </a:prstGeom>
          <a:noFill/>
          <a:ln/>
        </p:spPr>
        <p:txBody>
          <a:bodyPr wrap="square" lIns="0" tIns="0" rIns="0" bIns="0" rtlCol="0" anchor="ctr"/>
          <a:lstStyle/>
          <a:p>
            <a:pPr indent="0" marL="0">
              <a:buNone/>
            </a:pPr>
            <a:r>
              <a:rPr lang="en-US" sz="1050" i="1" dirty="0">
                <a:solidFill>
                  <a:srgbClr val="5B6576"/>
                </a:solidFill>
                <a:latin typeface="Calibri" pitchFamily="34" charset="0"/>
                <a:ea typeface="Calibri" pitchFamily="34" charset="-122"/>
                <a:cs typeface="Calibri" pitchFamily="34" charset="-120"/>
              </a:rPr>
              <a:t>One virtual machine · Docker Compose (AWS in the live deployment)</a:t>
            </a:r>
            <a:endParaRPr lang="en-US" sz="1050" dirty="0"/>
          </a:p>
        </p:txBody>
      </p:sp>
      <p:sp>
        <p:nvSpPr>
          <p:cNvPr id="20" name="Text 17"/>
          <p:cNvSpPr/>
          <p:nvPr/>
        </p:nvSpPr>
        <p:spPr>
          <a:xfrm>
            <a:off x="685800" y="2578608"/>
            <a:ext cx="7360920" cy="502920"/>
          </a:xfrm>
          <a:prstGeom prst="roundRect">
            <a:avLst>
              <a:gd name="adj" fmla="val 10909"/>
            </a:avLst>
          </a:prstGeom>
          <a:solidFill>
            <a:srgbClr val="EEF4FD"/>
          </a:solidFill>
          <a:ln w="12700">
            <a:solidFill>
              <a:srgbClr val="B9CDEB"/>
            </a:solidFill>
          </a:ln>
        </p:spPr>
        <p:txBody>
          <a:bodyPr wrap="square" lIns="38100" tIns="38100" rIns="38100" bIns="38100" rtlCol="0" anchor="ctr"/>
          <a:lstStyle/>
          <a:p>
            <a:pPr algn="ctr" indent="0" marL="0">
              <a:buNone/>
            </a:pPr>
            <a:r>
              <a:rPr lang="en-US" sz="1200" b="1" dirty="0">
                <a:solidFill>
                  <a:srgbClr val="0F1B33"/>
                </a:solidFill>
                <a:latin typeface="Calibri" pitchFamily="34" charset="0"/>
                <a:ea typeface="Calibri" pitchFamily="34" charset="-122"/>
                <a:cs typeface="Calibri" pitchFamily="34" charset="-120"/>
              </a:rPr>
              <a:t>Reverse proxy (Caddy): </a:t>
            </a:r>
            <a:r>
              <a:rPr lang="en-US" sz="1200" b="1" dirty="0">
                <a:solidFill>
                  <a:srgbClr val="0F1B33"/>
                </a:solidFill>
                <a:latin typeface="Calibri" pitchFamily="34" charset="0"/>
                <a:ea typeface="Calibri" pitchFamily="34" charset="-122"/>
                <a:cs typeface="Calibri" pitchFamily="34" charset="-120"/>
              </a:rPr>
              <a:t>HTTPS for app, api, admin, docs, files, mail hosts · serves the React SPA</a:t>
            </a:r>
            <a:endParaRPr lang="en-US" sz="1200" dirty="0"/>
          </a:p>
        </p:txBody>
      </p:sp>
      <p:sp>
        <p:nvSpPr>
          <p:cNvPr id="21" name="Shape 18"/>
          <p:cNvSpPr/>
          <p:nvPr/>
        </p:nvSpPr>
        <p:spPr>
          <a:xfrm>
            <a:off x="4366260" y="3081528"/>
            <a:ext cx="0" cy="228600"/>
          </a:xfrm>
          <a:prstGeom prst="line">
            <a:avLst/>
          </a:prstGeom>
          <a:noFill/>
          <a:ln w="15875">
            <a:solidFill>
              <a:srgbClr val="5B6576"/>
            </a:solidFill>
            <a:prstDash val="solid"/>
            <a:tailEnd type="triangle"/>
          </a:ln>
        </p:spPr>
      </p:sp>
      <p:sp>
        <p:nvSpPr>
          <p:cNvPr id="22" name="Shape 19"/>
          <p:cNvSpPr/>
          <p:nvPr/>
        </p:nvSpPr>
        <p:spPr>
          <a:xfrm>
            <a:off x="685800" y="3310128"/>
            <a:ext cx="7360920" cy="1783080"/>
          </a:xfrm>
          <a:prstGeom prst="rect">
            <a:avLst/>
          </a:prstGeom>
          <a:solidFill>
            <a:srgbClr val="FFFFFF"/>
          </a:solidFill>
          <a:ln w="15875">
            <a:solidFill>
              <a:srgbClr val="146BDC"/>
            </a:solidFill>
            <a:prstDash val="solid"/>
          </a:ln>
        </p:spPr>
      </p:sp>
      <p:sp>
        <p:nvSpPr>
          <p:cNvPr id="23" name="Text 20"/>
          <p:cNvSpPr/>
          <p:nvPr/>
        </p:nvSpPr>
        <p:spPr>
          <a:xfrm>
            <a:off x="777240" y="3355848"/>
            <a:ext cx="7178040" cy="274320"/>
          </a:xfrm>
          <a:prstGeom prst="rect">
            <a:avLst/>
          </a:prstGeom>
          <a:noFill/>
          <a:ln/>
        </p:spPr>
        <p:txBody>
          <a:bodyPr wrap="square" lIns="0" tIns="0" rIns="0" bIns="0" rtlCol="0" anchor="ctr"/>
          <a:lstStyle/>
          <a:p>
            <a:pPr indent="0" marL="0">
              <a:buNone/>
            </a:pPr>
            <a:r>
              <a:rPr lang="en-US" sz="1250" b="1" dirty="0">
                <a:solidFill>
                  <a:srgbClr val="146BDC"/>
                </a:solidFill>
                <a:latin typeface="Calibri" pitchFamily="34" charset="0"/>
                <a:ea typeface="Calibri" pitchFamily="34" charset="-122"/>
                <a:cs typeface="Calibri" pitchFamily="34" charset="-120"/>
              </a:rPr>
              <a:t>PHP application (Laravel API) · one container image</a:t>
            </a:r>
            <a:endParaRPr lang="en-US" sz="1250" dirty="0"/>
          </a:p>
        </p:txBody>
      </p:sp>
      <p:sp>
        <p:nvSpPr>
          <p:cNvPr id="24" name="Text 21"/>
          <p:cNvSpPr/>
          <p:nvPr/>
        </p:nvSpPr>
        <p:spPr>
          <a:xfrm>
            <a:off x="777240" y="3675888"/>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Platform · Tenancy</a:t>
            </a:r>
            <a:endParaRPr lang="en-US" sz="1050" dirty="0"/>
          </a:p>
        </p:txBody>
      </p:sp>
      <p:sp>
        <p:nvSpPr>
          <p:cNvPr id="25" name="Text 22"/>
          <p:cNvSpPr/>
          <p:nvPr/>
        </p:nvSpPr>
        <p:spPr>
          <a:xfrm>
            <a:off x="2227478" y="3675888"/>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Identity</a:t>
            </a:r>
            <a:endParaRPr lang="en-US" sz="1050" dirty="0"/>
          </a:p>
        </p:txBody>
      </p:sp>
      <p:sp>
        <p:nvSpPr>
          <p:cNvPr id="26" name="Text 23"/>
          <p:cNvSpPr/>
          <p:nvPr/>
        </p:nvSpPr>
        <p:spPr>
          <a:xfrm>
            <a:off x="3677717" y="3675888"/>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Contacts · Agents</a:t>
            </a:r>
            <a:endParaRPr lang="en-US" sz="1050" dirty="0"/>
          </a:p>
        </p:txBody>
      </p:sp>
      <p:sp>
        <p:nvSpPr>
          <p:cNvPr id="27" name="Text 24"/>
          <p:cNvSpPr/>
          <p:nvPr/>
        </p:nvSpPr>
        <p:spPr>
          <a:xfrm>
            <a:off x="5127955" y="3675888"/>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Tickets</a:t>
            </a:r>
            <a:endParaRPr lang="en-US" sz="1050" dirty="0"/>
          </a:p>
        </p:txBody>
      </p:sp>
      <p:sp>
        <p:nvSpPr>
          <p:cNvPr id="28" name="Text 25"/>
          <p:cNvSpPr/>
          <p:nvPr/>
        </p:nvSpPr>
        <p:spPr>
          <a:xfrm>
            <a:off x="6578194" y="3675888"/>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SLA</a:t>
            </a:r>
            <a:endParaRPr lang="en-US" sz="1050" dirty="0"/>
          </a:p>
        </p:txBody>
      </p:sp>
      <p:sp>
        <p:nvSpPr>
          <p:cNvPr id="29" name="Text 26"/>
          <p:cNvSpPr/>
          <p:nvPr/>
        </p:nvSpPr>
        <p:spPr>
          <a:xfrm>
            <a:off x="777240" y="4059936"/>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Media · Mail</a:t>
            </a:r>
            <a:endParaRPr lang="en-US" sz="1050" dirty="0"/>
          </a:p>
        </p:txBody>
      </p:sp>
      <p:sp>
        <p:nvSpPr>
          <p:cNvPr id="30" name="Text 27"/>
          <p:cNvSpPr/>
          <p:nvPr/>
        </p:nvSpPr>
        <p:spPr>
          <a:xfrm>
            <a:off x="2227478" y="4059936"/>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Notifications</a:t>
            </a:r>
            <a:endParaRPr lang="en-US" sz="1050" dirty="0"/>
          </a:p>
        </p:txBody>
      </p:sp>
      <p:sp>
        <p:nvSpPr>
          <p:cNvPr id="31" name="Text 28"/>
          <p:cNvSpPr/>
          <p:nvPr/>
        </p:nvSpPr>
        <p:spPr>
          <a:xfrm>
            <a:off x="3677717" y="4059936"/>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Integrations</a:t>
            </a:r>
            <a:endParaRPr lang="en-US" sz="1050" dirty="0"/>
          </a:p>
        </p:txBody>
      </p:sp>
      <p:sp>
        <p:nvSpPr>
          <p:cNvPr id="32" name="Text 29"/>
          <p:cNvSpPr/>
          <p:nvPr/>
        </p:nvSpPr>
        <p:spPr>
          <a:xfrm>
            <a:off x="5127955" y="4059936"/>
            <a:ext cx="1377086" cy="310896"/>
          </a:xfrm>
          <a:prstGeom prst="roundRect">
            <a:avLst>
              <a:gd name="adj" fmla="val 17647"/>
            </a:avLst>
          </a:prstGeom>
          <a:solidFill>
            <a:srgbClr val="F3F5F9"/>
          </a:solidFill>
          <a:ln w="12700">
            <a:solidFill>
              <a:srgbClr val="D9DEE7"/>
            </a:solidFill>
          </a:ln>
        </p:spPr>
        <p:txBody>
          <a:bodyPr wrap="square" lIns="38100" tIns="38100" rIns="38100" bIns="38100" rtlCol="0" anchor="ctr"/>
          <a:lstStyle/>
          <a:p>
            <a:pPr algn="ctr" indent="0" marL="0">
              <a:buNone/>
            </a:pPr>
            <a:r>
              <a:rPr lang="en-US" sz="1050" dirty="0">
                <a:solidFill>
                  <a:srgbClr val="0F1B33"/>
                </a:solidFill>
                <a:latin typeface="Calibri" pitchFamily="34" charset="0"/>
                <a:ea typeface="Calibri" pitchFamily="34" charset="-122"/>
                <a:cs typeface="Calibri" pitchFamily="34" charset="-120"/>
              </a:rPr>
              <a:t>Reporting · Audit</a:t>
            </a:r>
            <a:endParaRPr lang="en-US" sz="1050" dirty="0"/>
          </a:p>
        </p:txBody>
      </p:sp>
      <p:sp>
        <p:nvSpPr>
          <p:cNvPr id="33" name="Text 30"/>
          <p:cNvSpPr/>
          <p:nvPr/>
        </p:nvSpPr>
        <p:spPr>
          <a:xfrm>
            <a:off x="6578194" y="4059936"/>
            <a:ext cx="1377086" cy="310896"/>
          </a:xfrm>
          <a:prstGeom prst="roundRect">
            <a:avLst>
              <a:gd name="adj" fmla="val 17647"/>
            </a:avLst>
          </a:prstGeom>
          <a:solidFill>
            <a:srgbClr val="EEF4FD"/>
          </a:solidFill>
          <a:ln w="12700">
            <a:solidFill>
              <a:srgbClr val="B9CDEB"/>
            </a:solidFill>
          </a:ln>
        </p:spPr>
        <p:txBody>
          <a:bodyPr wrap="square" lIns="38100" tIns="38100" rIns="38100" bIns="38100" rtlCol="0" anchor="ctr"/>
          <a:lstStyle/>
          <a:p>
            <a:pPr algn="ctr" indent="0" marL="0">
              <a:buNone/>
            </a:pPr>
            <a:r>
              <a:rPr lang="en-US" sz="1050" b="1" dirty="0">
                <a:solidFill>
                  <a:srgbClr val="0F1B33"/>
                </a:solidFill>
                <a:latin typeface="Calibri" pitchFamily="34" charset="0"/>
                <a:ea typeface="Calibri" pitchFamily="34" charset="-122"/>
                <a:cs typeface="Calibri" pitchFamily="34" charset="-120"/>
              </a:rPr>
              <a:t>Automation</a:t>
            </a:r>
            <a:endParaRPr lang="en-US" sz="1050" dirty="0"/>
          </a:p>
        </p:txBody>
      </p:sp>
      <p:sp>
        <p:nvSpPr>
          <p:cNvPr id="34" name="Text 31"/>
          <p:cNvSpPr/>
          <p:nvPr/>
        </p:nvSpPr>
        <p:spPr>
          <a:xfrm>
            <a:off x="777240" y="4498848"/>
            <a:ext cx="2343912" cy="457200"/>
          </a:xfrm>
          <a:prstGeom prst="roundRect">
            <a:avLst>
              <a:gd name="adj" fmla="val 12000"/>
            </a:avLst>
          </a:prstGeom>
          <a:solidFill>
            <a:srgbClr val="EEF4FD"/>
          </a:solidFill>
          <a:ln w="12700">
            <a:solidFill>
              <a:srgbClr val="B9CDEB"/>
            </a:solidFill>
          </a:ln>
        </p:spPr>
        <p:txBody>
          <a:bodyPr wrap="square" lIns="38100" tIns="38100" rIns="38100" bIns="38100" rtlCol="0" anchor="ctr"/>
          <a:lstStyle/>
          <a:p>
            <a:pPr algn="ctr" indent="0" marL="0">
              <a:buNone/>
            </a:pPr>
            <a:r>
              <a:rPr lang="en-US" sz="1050" b="1" dirty="0">
                <a:solidFill>
                  <a:srgbClr val="0F1B33"/>
                </a:solidFill>
                <a:latin typeface="Calibri" pitchFamily="34" charset="0"/>
                <a:ea typeface="Calibri" pitchFamily="34" charset="-122"/>
                <a:cs typeface="Calibri" pitchFamily="34" charset="-120"/>
              </a:rPr>
              <a:t>Algorithms behind interfaces</a:t>
            </a:r>
            <a:endParaRPr lang="en-US" sz="1050" dirty="0"/>
          </a:p>
          <a:p>
            <a:pPr algn="ctr" indent="0" marL="0">
              <a:buNone/>
            </a:pPr>
            <a:r>
              <a:rPr lang="en-US" sz="950" b="1" dirty="0">
                <a:solidFill>
                  <a:srgbClr val="5B6576"/>
                </a:solidFill>
                <a:latin typeface="Calibri" pitchFamily="34" charset="0"/>
                <a:ea typeface="Calibri" pitchFamily="34" charset="-122"/>
                <a:cs typeface="Calibri" pitchFamily="34" charset="-120"/>
              </a:rPr>
              <a:t>priority · assignment · duplicates · SLA</a:t>
            </a:r>
            <a:endParaRPr lang="en-US" sz="1050" dirty="0"/>
          </a:p>
        </p:txBody>
      </p:sp>
      <p:sp>
        <p:nvSpPr>
          <p:cNvPr id="35" name="Text 32"/>
          <p:cNvSpPr/>
          <p:nvPr/>
        </p:nvSpPr>
        <p:spPr>
          <a:xfrm>
            <a:off x="3194304" y="4498848"/>
            <a:ext cx="2343912" cy="457200"/>
          </a:xfrm>
          <a:prstGeom prst="roundRect">
            <a:avLst>
              <a:gd name="adj" fmla="val 12000"/>
            </a:avLst>
          </a:prstGeom>
          <a:solidFill>
            <a:srgbClr val="FFFFFF"/>
          </a:solidFill>
          <a:ln w="12700">
            <a:solidFill>
              <a:srgbClr val="B9CDEB"/>
            </a:solidFill>
          </a:ln>
        </p:spPr>
        <p:txBody>
          <a:bodyPr wrap="square" lIns="38100" tIns="38100" rIns="38100" bIns="38100" rtlCol="0" anchor="ctr"/>
          <a:lstStyle/>
          <a:p>
            <a:pPr algn="ctr" indent="0" marL="0">
              <a:buNone/>
            </a:pPr>
            <a:r>
              <a:rPr lang="en-US" sz="1050" b="1" dirty="0">
                <a:solidFill>
                  <a:srgbClr val="0F1B33"/>
                </a:solidFill>
                <a:latin typeface="Calibri" pitchFamily="34" charset="0"/>
                <a:ea typeface="Calibri" pitchFamily="34" charset="-122"/>
                <a:cs typeface="Calibri" pitchFamily="34" charset="-120"/>
              </a:rPr>
              <a:t>Queue workers</a:t>
            </a:r>
            <a:endParaRPr lang="en-US" sz="1050" dirty="0"/>
          </a:p>
          <a:p>
            <a:pPr algn="ctr" indent="0" marL="0">
              <a:buNone/>
            </a:pPr>
            <a:r>
              <a:rPr lang="en-US" sz="950" b="1" dirty="0">
                <a:solidFill>
                  <a:srgbClr val="5B6576"/>
                </a:solidFill>
                <a:latin typeface="Calibri" pitchFamily="34" charset="0"/>
                <a:ea typeface="Calibri" pitchFamily="34" charset="-122"/>
                <a:cs typeface="Calibri" pitchFamily="34" charset="-120"/>
              </a:rPr>
              <a:t>mail, notifications, webhooks</a:t>
            </a:r>
            <a:endParaRPr lang="en-US" sz="1050" dirty="0"/>
          </a:p>
        </p:txBody>
      </p:sp>
      <p:sp>
        <p:nvSpPr>
          <p:cNvPr id="36" name="Text 33"/>
          <p:cNvSpPr/>
          <p:nvPr/>
        </p:nvSpPr>
        <p:spPr>
          <a:xfrm>
            <a:off x="5611368" y="4498848"/>
            <a:ext cx="2343912" cy="457200"/>
          </a:xfrm>
          <a:prstGeom prst="roundRect">
            <a:avLst>
              <a:gd name="adj" fmla="val 12000"/>
            </a:avLst>
          </a:prstGeom>
          <a:solidFill>
            <a:srgbClr val="FFFFFF"/>
          </a:solidFill>
          <a:ln w="12700">
            <a:solidFill>
              <a:srgbClr val="B9CDEB"/>
            </a:solidFill>
          </a:ln>
        </p:spPr>
        <p:txBody>
          <a:bodyPr wrap="square" lIns="38100" tIns="38100" rIns="38100" bIns="38100" rtlCol="0" anchor="ctr"/>
          <a:lstStyle/>
          <a:p>
            <a:pPr algn="ctr" indent="0" marL="0">
              <a:buNone/>
            </a:pPr>
            <a:r>
              <a:rPr lang="en-US" sz="1050" b="1" dirty="0">
                <a:solidFill>
                  <a:srgbClr val="0F1B33"/>
                </a:solidFill>
                <a:latin typeface="Calibri" pitchFamily="34" charset="0"/>
                <a:ea typeface="Calibri" pitchFamily="34" charset="-122"/>
                <a:cs typeface="Calibri" pitchFamily="34" charset="-120"/>
              </a:rPr>
              <a:t>Scheduler</a:t>
            </a:r>
            <a:endParaRPr lang="en-US" sz="1050" dirty="0"/>
          </a:p>
          <a:p>
            <a:pPr algn="ctr" indent="0" marL="0">
              <a:buNone/>
            </a:pPr>
            <a:r>
              <a:rPr lang="en-US" sz="950" b="1" dirty="0">
                <a:solidFill>
                  <a:srgbClr val="5B6576"/>
                </a:solidFill>
                <a:latin typeface="Calibri" pitchFamily="34" charset="0"/>
                <a:ea typeface="Calibri" pitchFamily="34" charset="-122"/>
                <a:cs typeface="Calibri" pitchFamily="34" charset="-120"/>
              </a:rPr>
              <a:t>SLA check and inbound mail every minute</a:t>
            </a:r>
            <a:endParaRPr lang="en-US" sz="1050" dirty="0"/>
          </a:p>
        </p:txBody>
      </p:sp>
      <p:sp>
        <p:nvSpPr>
          <p:cNvPr id="37" name="Shape 34"/>
          <p:cNvSpPr/>
          <p:nvPr/>
        </p:nvSpPr>
        <p:spPr>
          <a:xfrm>
            <a:off x="1554480" y="5093208"/>
            <a:ext cx="0" cy="283464"/>
          </a:xfrm>
          <a:prstGeom prst="line">
            <a:avLst/>
          </a:prstGeom>
          <a:noFill/>
          <a:ln w="15875">
            <a:solidFill>
              <a:srgbClr val="5B6576"/>
            </a:solidFill>
            <a:prstDash val="solid"/>
            <a:tailEnd type="triangle"/>
          </a:ln>
        </p:spPr>
      </p:sp>
      <p:sp>
        <p:nvSpPr>
          <p:cNvPr id="38" name="Text 35"/>
          <p:cNvSpPr/>
          <p:nvPr/>
        </p:nvSpPr>
        <p:spPr>
          <a:xfrm>
            <a:off x="685800" y="5376672"/>
            <a:ext cx="1737360" cy="713232"/>
          </a:xfrm>
          <a:prstGeom prst="roundRect">
            <a:avLst>
              <a:gd name="adj" fmla="val 7692"/>
            </a:avLst>
          </a:prstGeom>
          <a:solidFill>
            <a:srgbClr val="EAF6EF"/>
          </a:solidFill>
          <a:ln w="12700">
            <a:solidFill>
              <a:srgbClr val="A9D8BC"/>
            </a:solidFill>
          </a:ln>
        </p:spPr>
        <p:txBody>
          <a:bodyPr wrap="square" lIns="38100" tIns="38100" rIns="38100" bIns="38100" rtlCol="0" anchor="ctr"/>
          <a:lstStyle/>
          <a:p>
            <a:pPr algn="ctr" indent="0" marL="0">
              <a:buNone/>
            </a:pPr>
            <a:r>
              <a:rPr lang="en-US" sz="1150" b="1" dirty="0">
                <a:solidFill>
                  <a:srgbClr val="0F1B33"/>
                </a:solidFill>
                <a:latin typeface="Calibri" pitchFamily="34" charset="0"/>
                <a:ea typeface="Calibri" pitchFamily="34" charset="-122"/>
                <a:cs typeface="Calibri" pitchFamily="34" charset="-120"/>
              </a:rPr>
              <a:t>PostgreSQL 18</a:t>
            </a:r>
            <a:endParaRPr lang="en-US" sz="1150" dirty="0"/>
          </a:p>
          <a:p>
            <a:pPr algn="ctr" indent="0" marL="0">
              <a:buNone/>
            </a:pPr>
            <a:r>
              <a:rPr lang="en-US" sz="950" b="1" dirty="0">
                <a:solidFill>
                  <a:srgbClr val="5B6576"/>
                </a:solidFill>
                <a:latin typeface="Calibri" pitchFamily="34" charset="0"/>
                <a:ea typeface="Calibri" pitchFamily="34" charset="-122"/>
                <a:cs typeface="Calibri" pitchFamily="34" charset="-120"/>
              </a:rPr>
              <a:t>row-level security, change history</a:t>
            </a:r>
            <a:endParaRPr lang="en-US" sz="1150" dirty="0"/>
          </a:p>
        </p:txBody>
      </p:sp>
      <p:sp>
        <p:nvSpPr>
          <p:cNvPr id="39" name="Shape 36"/>
          <p:cNvSpPr/>
          <p:nvPr/>
        </p:nvSpPr>
        <p:spPr>
          <a:xfrm>
            <a:off x="3429000" y="5093208"/>
            <a:ext cx="0" cy="283464"/>
          </a:xfrm>
          <a:prstGeom prst="line">
            <a:avLst/>
          </a:prstGeom>
          <a:noFill/>
          <a:ln w="15875">
            <a:solidFill>
              <a:srgbClr val="5B6576"/>
            </a:solidFill>
            <a:prstDash val="solid"/>
            <a:tailEnd type="triangle"/>
          </a:ln>
        </p:spPr>
      </p:sp>
      <p:sp>
        <p:nvSpPr>
          <p:cNvPr id="40" name="Text 37"/>
          <p:cNvSpPr/>
          <p:nvPr/>
        </p:nvSpPr>
        <p:spPr>
          <a:xfrm>
            <a:off x="2560320" y="5376672"/>
            <a:ext cx="1737360" cy="713232"/>
          </a:xfrm>
          <a:prstGeom prst="roundRect">
            <a:avLst>
              <a:gd name="adj" fmla="val 7692"/>
            </a:avLst>
          </a:prstGeom>
          <a:solidFill>
            <a:srgbClr val="EAF6EF"/>
          </a:solidFill>
          <a:ln w="12700">
            <a:solidFill>
              <a:srgbClr val="A9D8BC"/>
            </a:solidFill>
          </a:ln>
        </p:spPr>
        <p:txBody>
          <a:bodyPr wrap="square" lIns="38100" tIns="38100" rIns="38100" bIns="38100" rtlCol="0" anchor="ctr"/>
          <a:lstStyle/>
          <a:p>
            <a:pPr algn="ctr" indent="0" marL="0">
              <a:buNone/>
            </a:pPr>
            <a:r>
              <a:rPr lang="en-US" sz="1150" b="1" dirty="0">
                <a:solidFill>
                  <a:srgbClr val="0F1B33"/>
                </a:solidFill>
                <a:latin typeface="Calibri" pitchFamily="34" charset="0"/>
                <a:ea typeface="Calibri" pitchFamily="34" charset="-122"/>
                <a:cs typeface="Calibri" pitchFamily="34" charset="-120"/>
              </a:rPr>
              <a:t>Valkey</a:t>
            </a:r>
            <a:endParaRPr lang="en-US" sz="1150" dirty="0"/>
          </a:p>
          <a:p>
            <a:pPr algn="ctr" indent="0" marL="0">
              <a:buNone/>
            </a:pPr>
            <a:r>
              <a:rPr lang="en-US" sz="950" b="1" dirty="0">
                <a:solidFill>
                  <a:srgbClr val="5B6576"/>
                </a:solidFill>
                <a:latin typeface="Calibri" pitchFamily="34" charset="0"/>
                <a:ea typeface="Calibri" pitchFamily="34" charset="-122"/>
                <a:cs typeface="Calibri" pitchFamily="34" charset="-120"/>
              </a:rPr>
              <a:t>cache and job queues</a:t>
            </a:r>
            <a:endParaRPr lang="en-US" sz="1150" dirty="0"/>
          </a:p>
        </p:txBody>
      </p:sp>
      <p:sp>
        <p:nvSpPr>
          <p:cNvPr id="41" name="Shape 38"/>
          <p:cNvSpPr/>
          <p:nvPr/>
        </p:nvSpPr>
        <p:spPr>
          <a:xfrm>
            <a:off x="5303520" y="5093208"/>
            <a:ext cx="0" cy="283464"/>
          </a:xfrm>
          <a:prstGeom prst="line">
            <a:avLst/>
          </a:prstGeom>
          <a:noFill/>
          <a:ln w="15875">
            <a:solidFill>
              <a:srgbClr val="5B6576"/>
            </a:solidFill>
            <a:prstDash val="solid"/>
            <a:tailEnd type="triangle"/>
          </a:ln>
        </p:spPr>
      </p:sp>
      <p:sp>
        <p:nvSpPr>
          <p:cNvPr id="42" name="Text 39"/>
          <p:cNvSpPr/>
          <p:nvPr/>
        </p:nvSpPr>
        <p:spPr>
          <a:xfrm>
            <a:off x="4434840" y="5376672"/>
            <a:ext cx="1737360" cy="713232"/>
          </a:xfrm>
          <a:prstGeom prst="roundRect">
            <a:avLst>
              <a:gd name="adj" fmla="val 7692"/>
            </a:avLst>
          </a:prstGeom>
          <a:solidFill>
            <a:srgbClr val="EAF6EF"/>
          </a:solidFill>
          <a:ln w="12700">
            <a:solidFill>
              <a:srgbClr val="A9D8BC"/>
            </a:solidFill>
          </a:ln>
        </p:spPr>
        <p:txBody>
          <a:bodyPr wrap="square" lIns="38100" tIns="38100" rIns="38100" bIns="38100" rtlCol="0" anchor="ctr"/>
          <a:lstStyle/>
          <a:p>
            <a:pPr algn="ctr" indent="0" marL="0">
              <a:buNone/>
            </a:pPr>
            <a:r>
              <a:rPr lang="en-US" sz="1150" b="1" dirty="0">
                <a:solidFill>
                  <a:srgbClr val="0F1B33"/>
                </a:solidFill>
                <a:latin typeface="Calibri" pitchFamily="34" charset="0"/>
                <a:ea typeface="Calibri" pitchFamily="34" charset="-122"/>
                <a:cs typeface="Calibri" pitchFamily="34" charset="-120"/>
              </a:rPr>
              <a:t>Object storage</a:t>
            </a:r>
            <a:endParaRPr lang="en-US" sz="1150" dirty="0"/>
          </a:p>
          <a:p>
            <a:pPr algn="ctr" indent="0" marL="0">
              <a:buNone/>
            </a:pPr>
            <a:r>
              <a:rPr lang="en-US" sz="950" b="1" dirty="0">
                <a:solidFill>
                  <a:srgbClr val="5B6576"/>
                </a:solidFill>
                <a:latin typeface="Calibri" pitchFamily="34" charset="0"/>
                <a:ea typeface="Calibri" pitchFamily="34" charset="-122"/>
                <a:cs typeface="Calibri" pitchFamily="34" charset="-120"/>
              </a:rPr>
              <a:t>RustFS: files and media</a:t>
            </a:r>
            <a:endParaRPr lang="en-US" sz="1150" dirty="0"/>
          </a:p>
        </p:txBody>
      </p:sp>
      <p:sp>
        <p:nvSpPr>
          <p:cNvPr id="43" name="Shape 40"/>
          <p:cNvSpPr/>
          <p:nvPr/>
        </p:nvSpPr>
        <p:spPr>
          <a:xfrm>
            <a:off x="7178040" y="5093208"/>
            <a:ext cx="0" cy="283464"/>
          </a:xfrm>
          <a:prstGeom prst="line">
            <a:avLst/>
          </a:prstGeom>
          <a:noFill/>
          <a:ln w="15875">
            <a:solidFill>
              <a:srgbClr val="5B6576"/>
            </a:solidFill>
            <a:prstDash val="solid"/>
            <a:tailEnd type="triangle"/>
          </a:ln>
        </p:spPr>
      </p:sp>
      <p:sp>
        <p:nvSpPr>
          <p:cNvPr id="44" name="Text 41"/>
          <p:cNvSpPr/>
          <p:nvPr/>
        </p:nvSpPr>
        <p:spPr>
          <a:xfrm>
            <a:off x="6309360" y="5376672"/>
            <a:ext cx="1737360" cy="713232"/>
          </a:xfrm>
          <a:prstGeom prst="roundRect">
            <a:avLst>
              <a:gd name="adj" fmla="val 7692"/>
            </a:avLst>
          </a:prstGeom>
          <a:solidFill>
            <a:srgbClr val="EAF6EF"/>
          </a:solidFill>
          <a:ln w="12700">
            <a:solidFill>
              <a:srgbClr val="A9D8BC"/>
            </a:solidFill>
          </a:ln>
        </p:spPr>
        <p:txBody>
          <a:bodyPr wrap="square" lIns="38100" tIns="38100" rIns="38100" bIns="38100" rtlCol="0" anchor="ctr"/>
          <a:lstStyle/>
          <a:p>
            <a:pPr algn="ctr" indent="0" marL="0">
              <a:buNone/>
            </a:pPr>
            <a:r>
              <a:rPr lang="en-US" sz="1150" b="1" dirty="0">
                <a:solidFill>
                  <a:srgbClr val="0F1B33"/>
                </a:solidFill>
                <a:latin typeface="Calibri" pitchFamily="34" charset="0"/>
                <a:ea typeface="Calibri" pitchFamily="34" charset="-122"/>
                <a:cs typeface="Calibri" pitchFamily="34" charset="-120"/>
              </a:rPr>
              <a:t>Mail server</a:t>
            </a:r>
            <a:endParaRPr lang="en-US" sz="1150" dirty="0"/>
          </a:p>
          <a:p>
            <a:pPr algn="ctr" indent="0" marL="0">
              <a:buNone/>
            </a:pPr>
            <a:r>
              <a:rPr lang="en-US" sz="950" b="1" dirty="0">
                <a:solidFill>
                  <a:srgbClr val="5B6576"/>
                </a:solidFill>
                <a:latin typeface="Calibri" pitchFamily="34" charset="0"/>
                <a:ea typeface="Calibri" pitchFamily="34" charset="-122"/>
                <a:cs typeface="Calibri" pitchFamily="34" charset="-120"/>
              </a:rPr>
              <a:t>Stalwart: send and receive</a:t>
            </a:r>
            <a:endParaRPr lang="en-US" sz="1150" dirty="0"/>
          </a:p>
        </p:txBody>
      </p:sp>
      <p:sp>
        <p:nvSpPr>
          <p:cNvPr id="45" name="Text 42"/>
          <p:cNvSpPr/>
          <p:nvPr/>
        </p:nvSpPr>
        <p:spPr>
          <a:xfrm>
            <a:off x="8503920" y="1280160"/>
            <a:ext cx="3200400" cy="320040"/>
          </a:xfrm>
          <a:prstGeom prst="rect">
            <a:avLst/>
          </a:prstGeom>
          <a:noFill/>
          <a:ln/>
        </p:spPr>
        <p:txBody>
          <a:bodyPr wrap="square" lIns="0" tIns="0" rIns="0" bIns="0" rtlCol="0" anchor="ctr"/>
          <a:lstStyle/>
          <a:p>
            <a:pPr indent="0" marL="0">
              <a:buNone/>
            </a:pPr>
            <a:r>
              <a:rPr lang="en-US" sz="1500" b="1" dirty="0">
                <a:solidFill>
                  <a:srgbClr val="146BDC"/>
                </a:solidFill>
                <a:latin typeface="Calibri" pitchFamily="34" charset="0"/>
                <a:ea typeface="Calibri" pitchFamily="34" charset="-122"/>
                <a:cs typeface="Calibri" pitchFamily="34" charset="-120"/>
              </a:rPr>
              <a:t>Design decisions</a:t>
            </a:r>
            <a:endParaRPr lang="en-US" sz="1500" dirty="0"/>
          </a:p>
        </p:txBody>
      </p:sp>
      <p:sp>
        <p:nvSpPr>
          <p:cNvPr id="46" name="Text 43"/>
          <p:cNvSpPr/>
          <p:nvPr/>
        </p:nvSpPr>
        <p:spPr>
          <a:xfrm>
            <a:off x="8503920" y="1691640"/>
            <a:ext cx="3200400" cy="4526280"/>
          </a:xfrm>
          <a:prstGeom prst="rect">
            <a:avLst/>
          </a:prstGeom>
          <a:noFill/>
          <a:ln/>
        </p:spPr>
        <p:txBody>
          <a:bodyPr wrap="square" lIns="25400" tIns="25400" rIns="25400" bIns="25400" rtlCol="0" anchor="t"/>
          <a:lstStyle/>
          <a:p>
            <a:pPr marL="203200" indent="-203200">
              <a:spcAft>
                <a:spcPts val="800"/>
              </a:spcAft>
              <a:buSzPct val="100000"/>
              <a:buChar char="■"/>
            </a:pPr>
            <a:r>
              <a:rPr lang="en-US" sz="1300" b="1" dirty="0">
                <a:solidFill>
                  <a:srgbClr val="0F1B33"/>
                </a:solidFill>
                <a:latin typeface="Calibri" pitchFamily="34" charset="0"/>
                <a:ea typeface="Calibri" pitchFamily="34" charset="-122"/>
                <a:cs typeface="Calibri" pitchFamily="34" charset="-120"/>
              </a:rPr>
              <a:t>Modules</a:t>
            </a:r>
            <a:r>
              <a:rPr lang="en-US" sz="1300" dirty="0">
                <a:solidFill>
                  <a:srgbClr val="1E293B"/>
                </a:solidFill>
                <a:latin typeface="Calibri" pitchFamily="34" charset="0"/>
                <a:ea typeface="Calibri" pitchFamily="34" charset="-122"/>
                <a:cs typeface="Calibri" pitchFamily="34" charset="-120"/>
              </a:rPr>
              <a:t> with one-way dependencies; notifications, integrations, reporting and audit only react to events.</a:t>
            </a:r>
            <a:endParaRPr lang="en-US" sz="1300" dirty="0"/>
          </a:p>
          <a:p>
            <a:pPr marL="203200" indent="-203200">
              <a:spcAft>
                <a:spcPts val="800"/>
              </a:spcAft>
              <a:buSzPct val="100000"/>
              <a:buChar char="■"/>
            </a:pPr>
            <a:r>
              <a:rPr lang="en-US" sz="1300" b="1" dirty="0">
                <a:solidFill>
                  <a:srgbClr val="0F1B33"/>
                </a:solidFill>
                <a:latin typeface="Calibri" pitchFamily="34" charset="0"/>
                <a:ea typeface="Calibri" pitchFamily="34" charset="-122"/>
                <a:cs typeface="Calibri" pitchFamily="34" charset="-120"/>
              </a:rPr>
              <a:t>Algorithms as interfaces</a:t>
            </a:r>
            <a:r>
              <a:rPr lang="en-US" sz="1300" dirty="0">
                <a:solidFill>
                  <a:srgbClr val="1E293B"/>
                </a:solidFill>
                <a:latin typeface="Calibri" pitchFamily="34" charset="0"/>
                <a:ea typeface="Calibri" pitchFamily="34" charset="-122"/>
                <a:cs typeface="Calibri" pitchFamily="34" charset="-120"/>
              </a:rPr>
              <a:t> with simple baselines that return a result and its explanation.</a:t>
            </a:r>
            <a:endParaRPr lang="en-US" sz="1300" dirty="0"/>
          </a:p>
          <a:p>
            <a:pPr marL="203200" indent="-203200">
              <a:spcAft>
                <a:spcPts val="800"/>
              </a:spcAft>
              <a:buSzPct val="100000"/>
              <a:buChar char="■"/>
            </a:pPr>
            <a:r>
              <a:rPr lang="en-US" sz="1300" b="1" dirty="0">
                <a:solidFill>
                  <a:srgbClr val="0F1B33"/>
                </a:solidFill>
                <a:latin typeface="Calibri" pitchFamily="34" charset="0"/>
                <a:ea typeface="Calibri" pitchFamily="34" charset="-122"/>
                <a:cs typeface="Calibri" pitchFamily="34" charset="-120"/>
              </a:rPr>
              <a:t>One transaction</a:t>
            </a:r>
            <a:r>
              <a:rPr lang="en-US" sz="1300" dirty="0">
                <a:solidFill>
                  <a:srgbClr val="1E293B"/>
                </a:solidFill>
                <a:latin typeface="Calibri" pitchFamily="34" charset="0"/>
                <a:ea typeface="Calibri" pitchFamily="34" charset="-122"/>
                <a:cs typeface="Calibri" pitchFamily="34" charset="-120"/>
              </a:rPr>
              <a:t> per write operation (create, assign, resolve).</a:t>
            </a:r>
            <a:endParaRPr lang="en-US" sz="1300" dirty="0"/>
          </a:p>
          <a:p>
            <a:pPr marL="203200" indent="-203200">
              <a:spcAft>
                <a:spcPts val="800"/>
              </a:spcAft>
              <a:buSzPct val="100000"/>
              <a:buChar char="■"/>
            </a:pPr>
            <a:r>
              <a:rPr lang="en-US" sz="1300" b="1" dirty="0">
                <a:solidFill>
                  <a:srgbClr val="0F1B33"/>
                </a:solidFill>
                <a:latin typeface="Calibri" pitchFamily="34" charset="0"/>
                <a:ea typeface="Calibri" pitchFamily="34" charset="-122"/>
                <a:cs typeface="Calibri" pitchFamily="34" charset="-120"/>
              </a:rPr>
              <a:t>Data separation:</a:t>
            </a:r>
            <a:r>
              <a:rPr lang="en-US" sz="1300" dirty="0">
                <a:solidFill>
                  <a:srgbClr val="1E293B"/>
                </a:solidFill>
                <a:latin typeface="Calibri" pitchFamily="34" charset="0"/>
                <a:ea typeface="Calibri" pitchFamily="34" charset="-122"/>
                <a:cs typeface="Calibri" pitchFamily="34" charset="-120"/>
              </a:rPr>
              <a:t> workspace id and a row-level security policy on every workspace table.</a:t>
            </a:r>
            <a:endParaRPr lang="en-US" sz="1300" dirty="0"/>
          </a:p>
          <a:p>
            <a:pPr marL="203200" indent="-203200">
              <a:spcAft>
                <a:spcPts val="800"/>
              </a:spcAft>
              <a:buSzPct val="100000"/>
              <a:buChar char="■"/>
            </a:pPr>
            <a:r>
              <a:rPr lang="en-US" sz="1300" b="1" dirty="0">
                <a:solidFill>
                  <a:srgbClr val="0F1B33"/>
                </a:solidFill>
                <a:latin typeface="Calibri" pitchFamily="34" charset="0"/>
                <a:ea typeface="Calibri" pitchFamily="34" charset="-122"/>
                <a:cs typeface="Calibri" pitchFamily="34" charset="-120"/>
              </a:rPr>
              <a:t>Portable:</a:t>
            </a:r>
            <a:r>
              <a:rPr lang="en-US" sz="1300" dirty="0">
                <a:solidFill>
                  <a:srgbClr val="1E293B"/>
                </a:solidFill>
                <a:latin typeface="Calibri" pitchFamily="34" charset="0"/>
                <a:ea typeface="Calibri" pitchFamily="34" charset="-122"/>
                <a:cs typeface="Calibri" pitchFamily="34" charset="-120"/>
              </a:rPr>
              <a:t> the same containers run on a developer computer, an own server or any cloud VM.</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3 · ALGORITHM DETAILS</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Algorithms: Priority Scoring and Agent Assignment</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9 / 13</a:t>
            </a:r>
            <a:endParaRPr lang="en-US" sz="1000" dirty="0"/>
          </a:p>
        </p:txBody>
      </p:sp>
      <p:sp>
        <p:nvSpPr>
          <p:cNvPr id="9" name="Text 6"/>
          <p:cNvSpPr/>
          <p:nvPr/>
        </p:nvSpPr>
        <p:spPr>
          <a:xfrm>
            <a:off x="502920" y="1280160"/>
            <a:ext cx="5577840" cy="320040"/>
          </a:xfrm>
          <a:prstGeom prst="rect">
            <a:avLst/>
          </a:prstGeom>
          <a:noFill/>
          <a:ln/>
        </p:spPr>
        <p:txBody>
          <a:bodyPr wrap="square" lIns="0" tIns="0" rIns="0" bIns="0" rtlCol="0" anchor="ctr"/>
          <a:lstStyle/>
          <a:p>
            <a:pPr indent="0" marL="0">
              <a:buNone/>
            </a:pPr>
            <a:r>
              <a:rPr lang="en-US" sz="1600" b="1" dirty="0">
                <a:solidFill>
                  <a:srgbClr val="146BDC"/>
                </a:solidFill>
                <a:latin typeface="Calibri" pitchFamily="34" charset="0"/>
                <a:ea typeface="Calibri" pitchFamily="34" charset="-122"/>
                <a:cs typeface="Calibri" pitchFamily="34" charset="-120"/>
              </a:rPr>
              <a:t>Priority scoring: basic weighted priority</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5577840" cy="914400"/>
        </p:xfrm>
        <a:graphic>
          <a:graphicData uri="http://schemas.openxmlformats.org/drawingml/2006/table">
            <a:tbl>
              <a:tblPr/>
              <a:tblGrid>
                <a:gridCol w="1463040"/>
                <a:gridCol w="3291840"/>
                <a:gridCol w="822960"/>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Scaled value</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Weight</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329184">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Impact (1–4)</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(impact − 1) ÷ 3</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Urgency (1–4)</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(urgency − 1) ÷ 3</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0.35</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29184">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Customer tier</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standard 0 · premium 0.5 · enterprise 1</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29184">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Waiting time</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min(1, hours ÷ 72)</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200" dirty="0">
                          <a:solidFill>
                            <a:srgbClr val="1E293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bl>
          </a:graphicData>
        </a:graphic>
      </p:graphicFrame>
      <p:sp>
        <p:nvSpPr>
          <p:cNvPr id="11" name="Text 7"/>
          <p:cNvSpPr/>
          <p:nvPr/>
        </p:nvSpPr>
        <p:spPr>
          <a:xfrm>
            <a:off x="502920" y="3474720"/>
            <a:ext cx="5577840" cy="685800"/>
          </a:xfrm>
          <a:prstGeom prst="rect">
            <a:avLst/>
          </a:prstGeom>
          <a:solidFill>
            <a:srgbClr val="F3F5F9"/>
          </a:solidFill>
          <a:ln/>
        </p:spPr>
        <p:txBody>
          <a:bodyPr wrap="square" lIns="101600" tIns="101600" rIns="101600" bIns="10160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score = 100 × Σ weight × scaled value</a:t>
            </a:r>
            <a:endParaRPr lang="en-US" sz="1500" dirty="0"/>
          </a:p>
          <a:p>
            <a:pPr indent="0" marL="0">
              <a:buNone/>
            </a:pPr>
            <a:r>
              <a:rPr lang="en-US" sz="1500" b="1" dirty="0">
                <a:solidFill>
                  <a:srgbClr val="0F1B33"/>
                </a:solidFill>
                <a:latin typeface="Calibri" pitchFamily="34" charset="0"/>
                <a:ea typeface="Calibri" pitchFamily="34" charset="-122"/>
                <a:cs typeface="Calibri" pitchFamily="34" charset="-120"/>
              </a:rPr>
              <a:t>P1 ≥ 75 · P2 ≥ 50 · P3 ≥ 25 · else P4</a:t>
            </a:r>
            <a:endParaRPr lang="en-US" sz="1500" dirty="0"/>
          </a:p>
        </p:txBody>
      </p:sp>
      <p:sp>
        <p:nvSpPr>
          <p:cNvPr id="12" name="Shape 8"/>
          <p:cNvSpPr/>
          <p:nvPr/>
        </p:nvSpPr>
        <p:spPr>
          <a:xfrm>
            <a:off x="502920" y="4343400"/>
            <a:ext cx="5577840" cy="1783080"/>
          </a:xfrm>
          <a:prstGeom prst="rect">
            <a:avLst/>
          </a:prstGeom>
          <a:solidFill>
            <a:srgbClr val="EEF4FD"/>
          </a:solidFill>
          <a:ln w="12700">
            <a:solidFill>
              <a:srgbClr val="EEF4FD"/>
            </a:solidFill>
            <a:prstDash val="solid"/>
          </a:ln>
        </p:spPr>
      </p:sp>
      <p:sp>
        <p:nvSpPr>
          <p:cNvPr id="13" name="Shape 9"/>
          <p:cNvSpPr/>
          <p:nvPr/>
        </p:nvSpPr>
        <p:spPr>
          <a:xfrm>
            <a:off x="502920" y="4343400"/>
            <a:ext cx="54864" cy="1783080"/>
          </a:xfrm>
          <a:prstGeom prst="rect">
            <a:avLst/>
          </a:prstGeom>
          <a:solidFill>
            <a:srgbClr val="146BDC"/>
          </a:solidFill>
          <a:ln w="12700">
            <a:solidFill>
              <a:srgbClr val="146BDC"/>
            </a:solidFill>
            <a:prstDash val="solid"/>
          </a:ln>
        </p:spPr>
      </p:sp>
      <p:sp>
        <p:nvSpPr>
          <p:cNvPr id="14" name="Text 10"/>
          <p:cNvSpPr/>
          <p:nvPr/>
        </p:nvSpPr>
        <p:spPr>
          <a:xfrm>
            <a:off x="640080" y="4416552"/>
            <a:ext cx="5349240" cy="163677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Worked example</a:t>
            </a:r>
            <a:endParaRPr lang="en-US" sz="1500" dirty="0"/>
          </a:p>
          <a:p>
            <a:pPr indent="0" marL="0">
              <a:spcAft>
                <a:spcPts val="300"/>
              </a:spcAft>
              <a:buNone/>
            </a:pPr>
            <a:r>
              <a:rPr lang="en-US" sz="1400" b="1" dirty="0">
                <a:solidFill>
                  <a:srgbClr val="0F1B33"/>
                </a:solidFill>
                <a:latin typeface="Calibri" pitchFamily="34" charset="0"/>
                <a:ea typeface="Calibri" pitchFamily="34" charset="-122"/>
                <a:cs typeface="Calibri" pitchFamily="34" charset="-120"/>
              </a:rPr>
              <a:t>Input:</a:t>
            </a:r>
            <a:r>
              <a:rPr lang="en-US" sz="1400" dirty="0">
                <a:solidFill>
                  <a:srgbClr val="1E293B"/>
                </a:solidFill>
                <a:latin typeface="Calibri" pitchFamily="34" charset="0"/>
                <a:ea typeface="Calibri" pitchFamily="34" charset="-122"/>
                <a:cs typeface="Calibri" pitchFamily="34" charset="-120"/>
              </a:rPr>
              <a:t> impact 2, urgency 3, premium customer.</a:t>
            </a:r>
            <a:endParaRPr lang="en-US" sz="1500" dirty="0"/>
          </a:p>
          <a:p>
            <a:pPr indent="0" marL="0">
              <a:spcAft>
                <a:spcPts val="300"/>
              </a:spcAft>
              <a:buNone/>
            </a:pPr>
            <a:r>
              <a:rPr lang="en-US" sz="1400" b="1" dirty="0">
                <a:solidFill>
                  <a:srgbClr val="0F1B33"/>
                </a:solidFill>
                <a:latin typeface="Calibri" pitchFamily="34" charset="0"/>
                <a:ea typeface="Calibri" pitchFamily="34" charset="-122"/>
                <a:cs typeface="Calibri" pitchFamily="34" charset="-120"/>
              </a:rPr>
              <a:t>After 24 h:</a:t>
            </a:r>
            <a:r>
              <a:rPr lang="en-US" sz="1400" dirty="0">
                <a:solidFill>
                  <a:srgbClr val="1E293B"/>
                </a:solidFill>
                <a:latin typeface="Calibri" pitchFamily="34" charset="0"/>
                <a:ea typeface="Calibri" pitchFamily="34" charset="-122"/>
                <a:cs typeface="Calibri" pitchFamily="34" charset="-120"/>
              </a:rPr>
              <a:t> 13.3 + 23.3 + 7.5 + 3.3 = 47.5 → P3</a:t>
            </a:r>
            <a:endParaRPr lang="en-US" sz="1500" dirty="0"/>
          </a:p>
          <a:p>
            <a:pPr indent="0" marL="0">
              <a:spcAft>
                <a:spcPts val="300"/>
              </a:spcAft>
              <a:buNone/>
            </a:pPr>
            <a:r>
              <a:rPr lang="en-US" sz="1400" b="1" dirty="0">
                <a:solidFill>
                  <a:srgbClr val="0F1B33"/>
                </a:solidFill>
                <a:latin typeface="Calibri" pitchFamily="34" charset="0"/>
                <a:ea typeface="Calibri" pitchFamily="34" charset="-122"/>
                <a:cs typeface="Calibri" pitchFamily="34" charset="-120"/>
              </a:rPr>
              <a:t>After 72 h:</a:t>
            </a:r>
            <a:r>
              <a:rPr lang="en-US" sz="1400" dirty="0">
                <a:solidFill>
                  <a:srgbClr val="1E293B"/>
                </a:solidFill>
                <a:latin typeface="Calibri" pitchFamily="34" charset="0"/>
                <a:ea typeface="Calibri" pitchFamily="34" charset="-122"/>
                <a:cs typeface="Calibri" pitchFamily="34" charset="-120"/>
              </a:rPr>
              <a:t> 54.2 → P2 (ageing raises waiting tickets)</a:t>
            </a:r>
            <a:endParaRPr lang="en-US" sz="1500" dirty="0"/>
          </a:p>
          <a:p>
            <a:pPr indent="0" marL="0">
              <a:spcAft>
                <a:spcPts val="300"/>
              </a:spcAft>
              <a:buNone/>
            </a:pPr>
            <a:r>
              <a:rPr lang="en-US" sz="1400" dirty="0">
                <a:solidFill>
                  <a:srgbClr val="1E293B"/>
                </a:solidFill>
                <a:latin typeface="Calibri" pitchFamily="34" charset="0"/>
                <a:ea typeface="Calibri" pitchFamily="34" charset="-122"/>
                <a:cs typeface="Calibri" pitchFamily="34" charset="-120"/>
              </a:rPr>
              <a:t>A manager's manual priority always takes precedence.</a:t>
            </a:r>
            <a:endParaRPr lang="en-US" sz="1500" dirty="0"/>
          </a:p>
        </p:txBody>
      </p:sp>
      <p:sp>
        <p:nvSpPr>
          <p:cNvPr id="15" name="Text 11"/>
          <p:cNvSpPr/>
          <p:nvPr/>
        </p:nvSpPr>
        <p:spPr>
          <a:xfrm>
            <a:off x="6355080" y="1280160"/>
            <a:ext cx="5394960" cy="320040"/>
          </a:xfrm>
          <a:prstGeom prst="rect">
            <a:avLst/>
          </a:prstGeom>
          <a:noFill/>
          <a:ln/>
        </p:spPr>
        <p:txBody>
          <a:bodyPr wrap="square" lIns="0" tIns="0" rIns="0" bIns="0" rtlCol="0" anchor="ctr"/>
          <a:lstStyle/>
          <a:p>
            <a:pPr indent="0" marL="0">
              <a:buNone/>
            </a:pPr>
            <a:r>
              <a:rPr lang="en-US" sz="1600" b="1" dirty="0">
                <a:solidFill>
                  <a:srgbClr val="146BDC"/>
                </a:solidFill>
                <a:latin typeface="Calibri" pitchFamily="34" charset="0"/>
                <a:ea typeface="Calibri" pitchFamily="34" charset="-122"/>
                <a:cs typeface="Calibri" pitchFamily="34" charset="-120"/>
              </a:rPr>
              <a:t>Agent assignment: least-loaded eligible agent</a:t>
            </a:r>
            <a:endParaRPr lang="en-US" sz="1600" dirty="0"/>
          </a:p>
        </p:txBody>
      </p:sp>
      <p:sp>
        <p:nvSpPr>
          <p:cNvPr id="16" name="Text 12"/>
          <p:cNvSpPr/>
          <p:nvPr/>
        </p:nvSpPr>
        <p:spPr>
          <a:xfrm>
            <a:off x="6355080" y="1691640"/>
            <a:ext cx="5349240" cy="2560320"/>
          </a:xfrm>
          <a:prstGeom prst="rect">
            <a:avLst/>
          </a:prstGeom>
          <a:noFill/>
          <a:ln/>
        </p:spPr>
        <p:txBody>
          <a:bodyPr wrap="square" lIns="25400" tIns="25400" rIns="25400" bIns="25400" rtlCol="0" anchor="t"/>
          <a:lstStyle/>
          <a:p>
            <a:pPr marL="203200" indent="-203200">
              <a:spcAft>
                <a:spcPts val="500"/>
              </a:spcAft>
              <a:buSzPct val="100000"/>
              <a:buChar char="■"/>
            </a:pPr>
            <a:r>
              <a:rPr lang="en-US" sz="1350" b="1" dirty="0">
                <a:solidFill>
                  <a:srgbClr val="0F1B33"/>
                </a:solidFill>
                <a:latin typeface="Calibri" pitchFamily="34" charset="0"/>
                <a:ea typeface="Calibri" pitchFamily="34" charset="-122"/>
                <a:cs typeface="Calibri" pitchFamily="34" charset="-120"/>
              </a:rPr>
              <a:t>Eligible:</a:t>
            </a:r>
            <a:r>
              <a:rPr lang="en-US" sz="1350" dirty="0">
                <a:solidFill>
                  <a:srgbClr val="1E293B"/>
                </a:solidFill>
                <a:latin typeface="Calibri" pitchFamily="34" charset="0"/>
                <a:ea typeface="Calibri" pitchFamily="34" charset="-122"/>
                <a:cs typeface="Calibri" pitchFamily="34" charset="-120"/>
              </a:rPr>
              <a:t> available, on shift, holds all required skills, in the ticket's team, below capacity.</a:t>
            </a:r>
            <a:endParaRPr lang="en-US" sz="1350" dirty="0"/>
          </a:p>
          <a:p>
            <a:pPr marL="203200" indent="-203200">
              <a:spcAft>
                <a:spcPts val="500"/>
              </a:spcAft>
              <a:buSzPct val="100000"/>
              <a:buChar char="■"/>
            </a:pPr>
            <a:r>
              <a:rPr lang="en-US" sz="1350" b="1" dirty="0">
                <a:solidFill>
                  <a:srgbClr val="0F1B33"/>
                </a:solidFill>
                <a:latin typeface="Calibri" pitchFamily="34" charset="0"/>
                <a:ea typeface="Calibri" pitchFamily="34" charset="-122"/>
                <a:cs typeface="Calibri" pitchFamily="34" charset="-120"/>
              </a:rPr>
              <a:t>Order:</a:t>
            </a:r>
            <a:r>
              <a:rPr lang="en-US" sz="1350" dirty="0">
                <a:solidFill>
                  <a:srgbClr val="1E293B"/>
                </a:solidFill>
                <a:latin typeface="Calibri" pitchFamily="34" charset="0"/>
                <a:ea typeface="Calibri" pitchFamily="34" charset="-122"/>
                <a:cs typeface="Calibri" pitchFamily="34" charset="-120"/>
              </a:rPr>
              <a:t> open tickets ÷ capacity, then least recently assigned (round robin), then id.</a:t>
            </a:r>
            <a:endParaRPr lang="en-US" sz="1350" dirty="0"/>
          </a:p>
          <a:p>
            <a:pPr marL="203200" indent="-203200">
              <a:spcAft>
                <a:spcPts val="500"/>
              </a:spcAft>
              <a:buSzPct val="100000"/>
              <a:buChar char="■"/>
            </a:pPr>
            <a:r>
              <a:rPr lang="en-US" sz="1350" b="1" dirty="0">
                <a:solidFill>
                  <a:srgbClr val="0F1B33"/>
                </a:solidFill>
                <a:latin typeface="Calibri" pitchFamily="34" charset="0"/>
                <a:ea typeface="Calibri" pitchFamily="34" charset="-122"/>
                <a:cs typeface="Calibri" pitchFamily="34" charset="-120"/>
              </a:rPr>
              <a:t>None eligible:</a:t>
            </a:r>
            <a:r>
              <a:rPr lang="en-US" sz="1350" dirty="0">
                <a:solidFill>
                  <a:srgbClr val="1E293B"/>
                </a:solidFill>
                <a:latin typeface="Calibri" pitchFamily="34" charset="0"/>
                <a:ea typeface="Calibri" pitchFamily="34" charset="-122"/>
                <a:cs typeface="Calibri" pitchFamily="34" charset="-120"/>
              </a:rPr>
              <a:t> ticket stays unassigned and managers are notified.</a:t>
            </a:r>
            <a:endParaRPr lang="en-US" sz="1350" dirty="0"/>
          </a:p>
          <a:p>
            <a:pPr marL="203200" indent="-203200">
              <a:spcAft>
                <a:spcPts val="500"/>
              </a:spcAft>
              <a:buSzPct val="100000"/>
              <a:buChar char="■"/>
            </a:pPr>
            <a:r>
              <a:rPr lang="en-US" sz="1350" b="1" dirty="0">
                <a:solidFill>
                  <a:srgbClr val="0F1B33"/>
                </a:solidFill>
                <a:latin typeface="Calibri" pitchFamily="34" charset="0"/>
                <a:ea typeface="Calibri" pitchFamily="34" charset="-122"/>
                <a:cs typeface="Calibri" pitchFamily="34" charset="-120"/>
              </a:rPr>
              <a:t>Explained:</a:t>
            </a:r>
            <a:r>
              <a:rPr lang="en-US" sz="1350" dirty="0">
                <a:solidFill>
                  <a:srgbClr val="1E293B"/>
                </a:solidFill>
                <a:latin typeface="Calibri" pitchFamily="34" charset="0"/>
                <a:ea typeface="Calibri" pitchFamily="34" charset="-122"/>
                <a:cs typeface="Calibri" pitchFamily="34" charset="-120"/>
              </a:rPr>
              <a:t> the ranking and each excluded agent with the rule it failed are stored.</a:t>
            </a:r>
            <a:endParaRPr lang="en-US" sz="1350" dirty="0"/>
          </a:p>
          <a:p>
            <a:pPr marL="203200" indent="-203200">
              <a:spcAft>
                <a:spcPts val="500"/>
              </a:spcAft>
              <a:buSzPct val="100000"/>
              <a:buChar char="■"/>
            </a:pPr>
            <a:r>
              <a:rPr lang="en-US" sz="1350" b="1" dirty="0">
                <a:solidFill>
                  <a:srgbClr val="0F1B33"/>
                </a:solidFill>
                <a:latin typeface="Calibri" pitchFamily="34" charset="0"/>
                <a:ea typeface="Calibri" pitchFamily="34" charset="-122"/>
                <a:cs typeface="Calibri" pitchFamily="34" charset="-120"/>
              </a:rPr>
              <a:t>Cost:</a:t>
            </a:r>
            <a:r>
              <a:rPr lang="en-US" sz="1350" dirty="0">
                <a:solidFill>
                  <a:srgbClr val="1E293B"/>
                </a:solidFill>
                <a:latin typeface="Calibri" pitchFamily="34" charset="0"/>
                <a:ea typeface="Calibri" pitchFamily="34" charset="-122"/>
                <a:cs typeface="Calibri" pitchFamily="34" charset="-120"/>
              </a:rPr>
              <a:t> O(A log A) for A agents.</a:t>
            </a:r>
            <a:endParaRPr lang="en-US" sz="1350" dirty="0"/>
          </a:p>
        </p:txBody>
      </p:sp>
      <p:sp>
        <p:nvSpPr>
          <p:cNvPr id="17" name="Shape 13"/>
          <p:cNvSpPr/>
          <p:nvPr/>
        </p:nvSpPr>
        <p:spPr>
          <a:xfrm>
            <a:off x="6355080" y="4343400"/>
            <a:ext cx="5349240" cy="1783080"/>
          </a:xfrm>
          <a:prstGeom prst="rect">
            <a:avLst/>
          </a:prstGeom>
          <a:solidFill>
            <a:srgbClr val="EEF4FD"/>
          </a:solidFill>
          <a:ln w="12700">
            <a:solidFill>
              <a:srgbClr val="EEF4FD"/>
            </a:solidFill>
            <a:prstDash val="solid"/>
          </a:ln>
        </p:spPr>
      </p:sp>
      <p:sp>
        <p:nvSpPr>
          <p:cNvPr id="18" name="Shape 14"/>
          <p:cNvSpPr/>
          <p:nvPr/>
        </p:nvSpPr>
        <p:spPr>
          <a:xfrm>
            <a:off x="6355080" y="4343400"/>
            <a:ext cx="54864" cy="1783080"/>
          </a:xfrm>
          <a:prstGeom prst="rect">
            <a:avLst/>
          </a:prstGeom>
          <a:solidFill>
            <a:srgbClr val="146BDC"/>
          </a:solidFill>
          <a:ln w="12700">
            <a:solidFill>
              <a:srgbClr val="146BDC"/>
            </a:solidFill>
            <a:prstDash val="solid"/>
          </a:ln>
        </p:spPr>
      </p:sp>
      <p:sp>
        <p:nvSpPr>
          <p:cNvPr id="19" name="Text 15"/>
          <p:cNvSpPr/>
          <p:nvPr/>
        </p:nvSpPr>
        <p:spPr>
          <a:xfrm>
            <a:off x="6492240" y="4416552"/>
            <a:ext cx="5120640" cy="163677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Worked example</a:t>
            </a:r>
            <a:endParaRPr lang="en-US" sz="1500" dirty="0"/>
          </a:p>
          <a:p>
            <a:pPr indent="0" marL="0">
              <a:spcAft>
                <a:spcPts val="300"/>
              </a:spcAft>
              <a:buNone/>
            </a:pPr>
            <a:r>
              <a:rPr lang="en-US" sz="1400" b="1" dirty="0">
                <a:solidFill>
                  <a:srgbClr val="0F1B33"/>
                </a:solidFill>
                <a:latin typeface="Calibri" pitchFamily="34" charset="0"/>
                <a:ea typeface="Calibri" pitchFamily="34" charset="-122"/>
                <a:cs typeface="Calibri" pitchFamily="34" charset="-120"/>
              </a:rPr>
              <a:t>Load:</a:t>
            </a:r>
            <a:r>
              <a:rPr lang="en-US" sz="1400" dirty="0">
                <a:solidFill>
                  <a:srgbClr val="1E293B"/>
                </a:solidFill>
                <a:latin typeface="Calibri" pitchFamily="34" charset="0"/>
                <a:ea typeface="Calibri" pitchFamily="34" charset="-122"/>
                <a:cs typeface="Calibri" pitchFamily="34" charset="-120"/>
              </a:rPr>
              <a:t> Asha 3/10 = 0.30 · Chen 3/10 = 0.30 · Bikram 2/5 = 0.40</a:t>
            </a:r>
            <a:endParaRPr lang="en-US" sz="1500" dirty="0"/>
          </a:p>
          <a:p>
            <a:pPr indent="0" marL="0">
              <a:spcAft>
                <a:spcPts val="300"/>
              </a:spcAft>
              <a:buNone/>
            </a:pPr>
            <a:r>
              <a:rPr lang="en-US" sz="1400" b="1" dirty="0">
                <a:solidFill>
                  <a:srgbClr val="0F1B33"/>
                </a:solidFill>
                <a:latin typeface="Calibri" pitchFamily="34" charset="0"/>
                <a:ea typeface="Calibri" pitchFamily="34" charset="-122"/>
                <a:cs typeface="Calibri" pitchFamily="34" charset="-120"/>
              </a:rPr>
              <a:t>Tie:</a:t>
            </a:r>
            <a:r>
              <a:rPr lang="en-US" sz="1400" dirty="0">
                <a:solidFill>
                  <a:srgbClr val="1E293B"/>
                </a:solidFill>
                <a:latin typeface="Calibri" pitchFamily="34" charset="0"/>
                <a:ea typeface="Calibri" pitchFamily="34" charset="-122"/>
                <a:cs typeface="Calibri" pitchFamily="34" charset="-120"/>
              </a:rPr>
              <a:t> Asha and Chen have the lowest load; Chen was assigned earlier than Asha.</a:t>
            </a:r>
            <a:endParaRPr lang="en-US" sz="1500" dirty="0"/>
          </a:p>
          <a:p>
            <a:pPr indent="0" marL="0">
              <a:spcAft>
                <a:spcPts val="300"/>
              </a:spcAft>
              <a:buNone/>
            </a:pPr>
            <a:r>
              <a:rPr lang="en-US" sz="1400" b="1" dirty="0">
                <a:solidFill>
                  <a:srgbClr val="0F1B33"/>
                </a:solidFill>
                <a:latin typeface="Calibri" pitchFamily="34" charset="0"/>
                <a:ea typeface="Calibri" pitchFamily="34" charset="-122"/>
                <a:cs typeface="Calibri" pitchFamily="34" charset="-120"/>
              </a:rPr>
              <a:t>Result:</a:t>
            </a:r>
            <a:r>
              <a:rPr lang="en-US" sz="1400" dirty="0">
                <a:solidFill>
                  <a:srgbClr val="1E293B"/>
                </a:solidFill>
                <a:latin typeface="Calibri" pitchFamily="34" charset="0"/>
                <a:ea typeface="Calibri" pitchFamily="34" charset="-122"/>
                <a:cs typeface="Calibri" pitchFamily="34" charset="-120"/>
              </a:rPr>
              <a:t> Chen receives the ticket.</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3 · ALGORITHM DETAILS</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Algorithms: Duplicates, SLA Timer and History</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10 / 13</a:t>
            </a:r>
            <a:endParaRPr lang="en-US" sz="1000" dirty="0"/>
          </a:p>
        </p:txBody>
      </p:sp>
      <p:sp>
        <p:nvSpPr>
          <p:cNvPr id="9" name="Shape 6"/>
          <p:cNvSpPr/>
          <p:nvPr/>
        </p:nvSpPr>
        <p:spPr>
          <a:xfrm>
            <a:off x="502920" y="1325880"/>
            <a:ext cx="3611880" cy="4800600"/>
          </a:xfrm>
          <a:prstGeom prst="rect">
            <a:avLst/>
          </a:prstGeom>
          <a:solidFill>
            <a:srgbClr val="EEF4FD"/>
          </a:solidFill>
          <a:ln w="12700">
            <a:solidFill>
              <a:srgbClr val="EEF4FD"/>
            </a:solidFill>
            <a:prstDash val="solid"/>
          </a:ln>
        </p:spPr>
      </p:sp>
      <p:sp>
        <p:nvSpPr>
          <p:cNvPr id="10" name="Shape 7"/>
          <p:cNvSpPr/>
          <p:nvPr/>
        </p:nvSpPr>
        <p:spPr>
          <a:xfrm>
            <a:off x="502920" y="1325880"/>
            <a:ext cx="54864" cy="4800600"/>
          </a:xfrm>
          <a:prstGeom prst="rect">
            <a:avLst/>
          </a:prstGeom>
          <a:solidFill>
            <a:srgbClr val="146BDC"/>
          </a:solidFill>
          <a:ln w="12700">
            <a:solidFill>
              <a:srgbClr val="146BDC"/>
            </a:solidFill>
            <a:prstDash val="solid"/>
          </a:ln>
        </p:spPr>
      </p:sp>
      <p:sp>
        <p:nvSpPr>
          <p:cNvPr id="11" name="Text 8"/>
          <p:cNvSpPr/>
          <p:nvPr/>
        </p:nvSpPr>
        <p:spPr>
          <a:xfrm>
            <a:off x="640080" y="1399032"/>
            <a:ext cx="3383280" cy="465429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Duplicate detection: Jaccard word overlap</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Words:</a:t>
            </a:r>
            <a:r>
              <a:rPr lang="en-US" sz="1400" dirty="0">
                <a:solidFill>
                  <a:srgbClr val="1E293B"/>
                </a:solidFill>
                <a:latin typeface="Calibri" pitchFamily="34" charset="0"/>
                <a:ea typeface="Calibri" pitchFamily="34" charset="-122"/>
                <a:cs typeface="Calibri" pitchFamily="34" charset="-120"/>
              </a:rPr>
              <a:t> title + description, lower-cased, without 117 stop words and words under 3 letters (err-401 and Devanagari survive).</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Similarity:</a:t>
            </a:r>
            <a:r>
              <a:rPr lang="en-US" sz="1400" dirty="0">
                <a:solidFill>
                  <a:srgbClr val="1E293B"/>
                </a:solidFill>
                <a:latin typeface="Calibri" pitchFamily="34" charset="0"/>
                <a:ea typeface="Calibri" pitchFamily="34" charset="-122"/>
                <a:cs typeface="Calibri" pitchFamily="34" charset="-120"/>
              </a:rPr>
              <a:t> J(A, B) = |A ∩ B| ÷ |A ∪ B|</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Candidates:</a:t>
            </a:r>
            <a:r>
              <a:rPr lang="en-US" sz="1400" dirty="0">
                <a:solidFill>
                  <a:srgbClr val="1E293B"/>
                </a:solidFill>
                <a:latin typeface="Calibri" pitchFamily="34" charset="0"/>
                <a:ea typeface="Calibri" pitchFamily="34" charset="-122"/>
                <a:cs typeface="Calibri" pitchFamily="34" charset="-120"/>
              </a:rPr>
              <a:t> same tenant, last 30 days, not closed, at most 50; keep J ≥ 0.35 and show the top five with the shared words.</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Example:</a:t>
            </a:r>
            <a:r>
              <a:rPr lang="en-US" sz="1400" dirty="0">
                <a:solidFill>
                  <a:srgbClr val="1E293B"/>
                </a:solidFill>
                <a:latin typeface="Calibri" pitchFamily="34" charset="0"/>
                <a:ea typeface="Calibri" pitchFamily="34" charset="-122"/>
                <a:cs typeface="Calibri" pitchFamily="34" charset="-120"/>
              </a:rPr>
              <a:t> "Cannot login after password reset" vs "Login fails after resetting password" → J = 0.50, suggested; an invoice ticket scores 0.15.</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Cost:</a:t>
            </a:r>
            <a:r>
              <a:rPr lang="en-US" sz="1400" dirty="0">
                <a:solidFill>
                  <a:srgbClr val="1E293B"/>
                </a:solidFill>
                <a:latin typeface="Calibri" pitchFamily="34" charset="0"/>
                <a:ea typeface="Calibri" pitchFamily="34" charset="-122"/>
                <a:cs typeface="Calibri" pitchFamily="34" charset="-120"/>
              </a:rPr>
              <a:t> O(K × W). Misses paraphrases.</a:t>
            </a:r>
            <a:endParaRPr lang="en-US" sz="1500" dirty="0"/>
          </a:p>
        </p:txBody>
      </p:sp>
      <p:sp>
        <p:nvSpPr>
          <p:cNvPr id="12" name="Shape 9"/>
          <p:cNvSpPr/>
          <p:nvPr/>
        </p:nvSpPr>
        <p:spPr>
          <a:xfrm>
            <a:off x="4297680" y="1325880"/>
            <a:ext cx="3611880" cy="4800600"/>
          </a:xfrm>
          <a:prstGeom prst="rect">
            <a:avLst/>
          </a:prstGeom>
          <a:solidFill>
            <a:srgbClr val="EEF4FD"/>
          </a:solidFill>
          <a:ln w="12700">
            <a:solidFill>
              <a:srgbClr val="EEF4FD"/>
            </a:solidFill>
            <a:prstDash val="solid"/>
          </a:ln>
        </p:spPr>
      </p:sp>
      <p:sp>
        <p:nvSpPr>
          <p:cNvPr id="13" name="Shape 10"/>
          <p:cNvSpPr/>
          <p:nvPr/>
        </p:nvSpPr>
        <p:spPr>
          <a:xfrm>
            <a:off x="4297680" y="1325880"/>
            <a:ext cx="54864" cy="4800600"/>
          </a:xfrm>
          <a:prstGeom prst="rect">
            <a:avLst/>
          </a:prstGeom>
          <a:solidFill>
            <a:srgbClr val="146BDC"/>
          </a:solidFill>
          <a:ln w="12700">
            <a:solidFill>
              <a:srgbClr val="146BDC"/>
            </a:solidFill>
            <a:prstDash val="solid"/>
          </a:ln>
        </p:spPr>
      </p:sp>
      <p:sp>
        <p:nvSpPr>
          <p:cNvPr id="14" name="Text 11"/>
          <p:cNvSpPr/>
          <p:nvPr/>
        </p:nvSpPr>
        <p:spPr>
          <a:xfrm>
            <a:off x="4434840" y="1399032"/>
            <a:ext cx="3383280" cy="465429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SLA evaluation: simple SLA timer</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Timers:</a:t>
            </a:r>
            <a:r>
              <a:rPr lang="en-US" sz="1400" dirty="0">
                <a:solidFill>
                  <a:srgbClr val="1E293B"/>
                </a:solidFill>
                <a:latin typeface="Calibri" pitchFamily="34" charset="0"/>
                <a:ea typeface="Calibri" pitchFamily="34" charset="-122"/>
                <a:cs typeface="Calibri" pitchFamily="34" charset="-120"/>
              </a:rPr>
              <a:t> first response and resolution; running, paused, warning, breached, met, cancelled.</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Calendar:</a:t>
            </a:r>
            <a:r>
              <a:rPr lang="en-US" sz="1400" dirty="0">
                <a:solidFill>
                  <a:srgbClr val="1E293B"/>
                </a:solidFill>
                <a:latin typeface="Calibri" pitchFamily="34" charset="0"/>
                <a:ea typeface="Calibri" pitchFamily="34" charset="-122"/>
                <a:cs typeface="Calibri" pitchFamily="34" charset="-120"/>
              </a:rPr>
              <a:t> all hours or working hours; warning at 75 % of the target by default.</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Pending:</a:t>
            </a:r>
            <a:r>
              <a:rPr lang="en-US" sz="1400" dirty="0">
                <a:solidFill>
                  <a:srgbClr val="1E293B"/>
                </a:solidFill>
                <a:latin typeface="Calibri" pitchFamily="34" charset="0"/>
                <a:ea typeface="Calibri" pitchFamily="34" charset="-122"/>
                <a:cs typeface="Calibri" pitchFamily="34" charset="-120"/>
              </a:rPr>
              <a:t> pauses the timer; resuming moves the warning and the deadline by the paused time.</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Example:</a:t>
            </a:r>
            <a:r>
              <a:rPr lang="en-US" sz="1400" dirty="0">
                <a:solidFill>
                  <a:srgbClr val="1E293B"/>
                </a:solidFill>
                <a:latin typeface="Calibri" pitchFamily="34" charset="0"/>
                <a:ea typeface="Calibri" pitchFamily="34" charset="-122"/>
                <a:cs typeface="Calibri" pitchFamily="34" charset="-120"/>
              </a:rPr>
              <a:t> P2, 8 h target from 09:00, pending 10:00–12:00 → warning 15:00 → 17:00, deadline 17:00 → 19:00.</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Every minute:</a:t>
            </a:r>
            <a:r>
              <a:rPr lang="en-US" sz="1400" dirty="0">
                <a:solidFill>
                  <a:srgbClr val="1E293B"/>
                </a:solidFill>
                <a:latin typeface="Calibri" pitchFamily="34" charset="0"/>
                <a:ea typeface="Calibri" pitchFamily="34" charset="-122"/>
                <a:cs typeface="Calibri" pitchFamily="34" charset="-120"/>
              </a:rPr>
              <a:t> warn once, breach once; running twice has no extra effect.</a:t>
            </a:r>
            <a:endParaRPr lang="en-US" sz="1500" dirty="0"/>
          </a:p>
        </p:txBody>
      </p:sp>
      <p:sp>
        <p:nvSpPr>
          <p:cNvPr id="15" name="Shape 12"/>
          <p:cNvSpPr/>
          <p:nvPr/>
        </p:nvSpPr>
        <p:spPr>
          <a:xfrm>
            <a:off x="8092440" y="1325880"/>
            <a:ext cx="3611880" cy="4800600"/>
          </a:xfrm>
          <a:prstGeom prst="rect">
            <a:avLst/>
          </a:prstGeom>
          <a:solidFill>
            <a:srgbClr val="EEF4FD"/>
          </a:solidFill>
          <a:ln w="12700">
            <a:solidFill>
              <a:srgbClr val="EEF4FD"/>
            </a:solidFill>
            <a:prstDash val="solid"/>
          </a:ln>
        </p:spPr>
      </p:sp>
      <p:sp>
        <p:nvSpPr>
          <p:cNvPr id="16" name="Shape 13"/>
          <p:cNvSpPr/>
          <p:nvPr/>
        </p:nvSpPr>
        <p:spPr>
          <a:xfrm>
            <a:off x="8092440" y="1325880"/>
            <a:ext cx="54864" cy="4800600"/>
          </a:xfrm>
          <a:prstGeom prst="rect">
            <a:avLst/>
          </a:prstGeom>
          <a:solidFill>
            <a:srgbClr val="146BDC"/>
          </a:solidFill>
          <a:ln w="12700">
            <a:solidFill>
              <a:srgbClr val="146BDC"/>
            </a:solidFill>
            <a:prstDash val="solid"/>
          </a:ln>
        </p:spPr>
      </p:sp>
      <p:sp>
        <p:nvSpPr>
          <p:cNvPr id="17" name="Text 14"/>
          <p:cNvSpPr/>
          <p:nvPr/>
        </p:nvSpPr>
        <p:spPr>
          <a:xfrm>
            <a:off x="8229600" y="1399032"/>
            <a:ext cx="3383280" cy="465429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History and time analytics</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Capture:</a:t>
            </a:r>
            <a:r>
              <a:rPr lang="en-US" sz="1400" dirty="0">
                <a:solidFill>
                  <a:srgbClr val="1E293B"/>
                </a:solidFill>
                <a:latin typeface="Calibri" pitchFamily="34" charset="0"/>
                <a:ea typeface="Calibri" pitchFamily="34" charset="-122"/>
                <a:cs typeface="Calibri" pitchFamily="34" charset="-120"/>
              </a:rPr>
              <a:t> a database trigger records every insert, update and delete with the old and new values, actor and time.</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Past view:</a:t>
            </a:r>
            <a:r>
              <a:rPr lang="en-US" sz="1400" dirty="0">
                <a:solidFill>
                  <a:srgbClr val="1E293B"/>
                </a:solidFill>
                <a:latin typeface="Calibri" pitchFamily="34" charset="0"/>
                <a:ea typeface="Calibri" pitchFamily="34" charset="-122"/>
                <a:cs typeface="Calibri" pitchFamily="34" charset="-120"/>
              </a:rPr>
              <a:t> asOf(record, t) starts from the current row and undoes, newest first, every change after t. Cost O(k).</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Intervals:</a:t>
            </a:r>
            <a:r>
              <a:rPr lang="en-US" sz="1400" dirty="0">
                <a:solidFill>
                  <a:srgbClr val="1E293B"/>
                </a:solidFill>
                <a:latin typeface="Calibri" pitchFamily="34" charset="0"/>
                <a:ea typeface="Calibri" pitchFamily="34" charset="-122"/>
                <a:cs typeface="Calibri" pitchFamily="34" charset="-120"/>
              </a:rPr>
              <a:t> events are swept into periods of constant status, assignee, team and priority. Cost O(e).</a:t>
            </a:r>
            <a:endParaRPr lang="en-US" sz="1500" dirty="0"/>
          </a:p>
          <a:p>
            <a:pPr indent="0" marL="0">
              <a:spcAft>
                <a:spcPts val="900"/>
              </a:spcAft>
              <a:buNone/>
            </a:pPr>
            <a:r>
              <a:rPr lang="en-US" sz="1400" b="1" dirty="0">
                <a:solidFill>
                  <a:srgbClr val="0F1B33"/>
                </a:solidFill>
                <a:latin typeface="Calibri" pitchFamily="34" charset="0"/>
                <a:ea typeface="Calibri" pitchFamily="34" charset="-122"/>
                <a:cs typeface="Calibri" pitchFamily="34" charset="-120"/>
              </a:rPr>
              <a:t>Analytics:</a:t>
            </a:r>
            <a:r>
              <a:rPr lang="en-US" sz="1400" dirty="0">
                <a:solidFill>
                  <a:srgbClr val="1E293B"/>
                </a:solidFill>
                <a:latin typeface="Calibri" pitchFamily="34" charset="0"/>
                <a:ea typeface="Calibri" pitchFamily="34" charset="-122"/>
                <a:cs typeface="Calibri" pitchFamily="34" charset="-120"/>
              </a:rPr>
              <a:t> time in status, backlog at any instant, workload over time and daily snapshots, all rebuildable from history.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4 · IMPLEMENTATION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Implementation</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11 / 13</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5120640" cy="914400"/>
        </p:xfrm>
        <a:graphic>
          <a:graphicData uri="http://schemas.openxmlformats.org/drawingml/2006/table">
            <a:tbl>
              <a:tblPr/>
              <a:tblGrid>
                <a:gridCol w="1600200"/>
                <a:gridCol w="3520440"/>
              </a:tblGrid>
              <a:tr h="301752">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Category</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Tools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Backend</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PHP 8.5, Laravel 13</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Frontend</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React 19, TypeScript, Vite, TanStack, Zod</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User interface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Tailwind CSS, shadcn/ui, Lucide, Recharts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Database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PostgreSQL 18 (text search, row-level security)</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Cache and queues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Valkey, Laravel Horizon</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Files and email</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RustFS object storage, Stalwart mail server</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API docs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Scramble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Infrastructure</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Docker Compose, Caddy, Ansible, OpenTofu</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Diagrams, testing</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Mermaid; Google Chrome, Mozilla Firefox</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Editor, VCS</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50" dirty="0">
                          <a:solidFill>
                            <a:srgbClr val="1E293B"/>
                          </a:solidFill>
                          <a:latin typeface="Calibri" pitchFamily="34" charset="0"/>
                          <a:ea typeface="Calibri" pitchFamily="34" charset="-122"/>
                          <a:cs typeface="Calibri" pitchFamily="34" charset="-120"/>
                        </a:rPr>
                        <a:t>Visual Studio Code, Git, GitHub</a:t>
                      </a:r>
                      <a:endParaRPr lang="en-US" sz="115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bl>
          </a:graphicData>
        </a:graphic>
      </p:graphicFrame>
      <p:sp>
        <p:nvSpPr>
          <p:cNvPr id="10" name="Text 6"/>
          <p:cNvSpPr/>
          <p:nvPr/>
        </p:nvSpPr>
        <p:spPr>
          <a:xfrm>
            <a:off x="502920" y="5257800"/>
            <a:ext cx="4572000" cy="27432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Modules</a:t>
            </a:r>
            <a:endParaRPr lang="en-US" sz="1300" dirty="0"/>
          </a:p>
        </p:txBody>
      </p:sp>
      <p:sp>
        <p:nvSpPr>
          <p:cNvPr id="11" name="Text 7"/>
          <p:cNvSpPr/>
          <p:nvPr/>
        </p:nvSpPr>
        <p:spPr>
          <a:xfrm>
            <a:off x="502920" y="5532120"/>
            <a:ext cx="5120640" cy="73152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Tenancy and platform · Identity · Tickets · Automation · SLA · Media and mail · Reporting · Integrations · Frontend</a:t>
            </a:r>
            <a:endParaRPr lang="en-US" sz="1250" dirty="0"/>
          </a:p>
        </p:txBody>
      </p:sp>
      <p:sp>
        <p:nvSpPr>
          <p:cNvPr id="12" name="Shape 8"/>
          <p:cNvSpPr/>
          <p:nvPr/>
        </p:nvSpPr>
        <p:spPr>
          <a:xfrm>
            <a:off x="5870448" y="1464183"/>
            <a:ext cx="2889504" cy="1826514"/>
          </a:xfrm>
          <a:prstGeom prst="rect">
            <a:avLst/>
          </a:prstGeom>
          <a:solidFill>
            <a:srgbClr val="FFFFFF"/>
          </a:solidFill>
          <a:ln w="9525">
            <a:solidFill>
              <a:srgbClr val="D9DEE7"/>
            </a:solidFill>
            <a:prstDash val="solid"/>
          </a:ln>
        </p:spPr>
      </p:sp>
      <p:pic>
        <p:nvPicPr>
          <p:cNvPr id="13" name="Image 0" descr="/home/subham/Projects/college/fyp/smart-helpdesk/report/university/figures/app-dashboard.png">    </p:cNvPr>
          <p:cNvPicPr>
            <a:picLocks noChangeAspect="1"/>
          </p:cNvPicPr>
          <p:nvPr/>
        </p:nvPicPr>
        <p:blipFill>
          <a:blip r:embed="rId1"/>
          <a:stretch>
            <a:fillRect/>
          </a:stretch>
        </p:blipFill>
        <p:spPr>
          <a:xfrm>
            <a:off x="5897880" y="1491615"/>
            <a:ext cx="2834640" cy="1771650"/>
          </a:xfrm>
          <a:prstGeom prst="rect">
            <a:avLst/>
          </a:prstGeom>
        </p:spPr>
      </p:pic>
      <p:sp>
        <p:nvSpPr>
          <p:cNvPr id="14" name="Text 9"/>
          <p:cNvSpPr/>
          <p:nvPr/>
        </p:nvSpPr>
        <p:spPr>
          <a:xfrm>
            <a:off x="5897880" y="3308985"/>
            <a:ext cx="283464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Management dashboard (Fig. 4.1)</a:t>
            </a:r>
            <a:endParaRPr lang="en-US" sz="1050" dirty="0"/>
          </a:p>
        </p:txBody>
      </p:sp>
      <p:sp>
        <p:nvSpPr>
          <p:cNvPr id="15" name="Shape 10"/>
          <p:cNvSpPr/>
          <p:nvPr/>
        </p:nvSpPr>
        <p:spPr>
          <a:xfrm>
            <a:off x="8842248" y="1464183"/>
            <a:ext cx="2889504" cy="1826514"/>
          </a:xfrm>
          <a:prstGeom prst="rect">
            <a:avLst/>
          </a:prstGeom>
          <a:solidFill>
            <a:srgbClr val="FFFFFF"/>
          </a:solidFill>
          <a:ln w="9525">
            <a:solidFill>
              <a:srgbClr val="D9DEE7"/>
            </a:solidFill>
            <a:prstDash val="solid"/>
          </a:ln>
        </p:spPr>
      </p:sp>
      <p:pic>
        <p:nvPicPr>
          <p:cNvPr id="16" name="Image 1" descr="/home/subham/Projects/college/fyp/smart-helpdesk/report/university/figures/app-ticket.png">    </p:cNvPr>
          <p:cNvPicPr>
            <a:picLocks noChangeAspect="1"/>
          </p:cNvPicPr>
          <p:nvPr/>
        </p:nvPicPr>
        <p:blipFill>
          <a:blip r:embed="rId2"/>
          <a:stretch>
            <a:fillRect/>
          </a:stretch>
        </p:blipFill>
        <p:spPr>
          <a:xfrm>
            <a:off x="8869680" y="1491615"/>
            <a:ext cx="2834640" cy="1771650"/>
          </a:xfrm>
          <a:prstGeom prst="rect">
            <a:avLst/>
          </a:prstGeom>
        </p:spPr>
      </p:pic>
      <p:sp>
        <p:nvSpPr>
          <p:cNvPr id="17" name="Text 11"/>
          <p:cNvSpPr/>
          <p:nvPr/>
        </p:nvSpPr>
        <p:spPr>
          <a:xfrm>
            <a:off x="8869680" y="3308985"/>
            <a:ext cx="283464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Ticket screen with SLA timers (Fig. 4.2)</a:t>
            </a:r>
            <a:endParaRPr lang="en-US" sz="1050" dirty="0"/>
          </a:p>
        </p:txBody>
      </p:sp>
      <p:sp>
        <p:nvSpPr>
          <p:cNvPr id="18" name="Shape 12"/>
          <p:cNvSpPr/>
          <p:nvPr/>
        </p:nvSpPr>
        <p:spPr>
          <a:xfrm>
            <a:off x="5870448" y="3978783"/>
            <a:ext cx="2889504" cy="1826514"/>
          </a:xfrm>
          <a:prstGeom prst="rect">
            <a:avLst/>
          </a:prstGeom>
          <a:solidFill>
            <a:srgbClr val="FFFFFF"/>
          </a:solidFill>
          <a:ln w="9525">
            <a:solidFill>
              <a:srgbClr val="D9DEE7"/>
            </a:solidFill>
            <a:prstDash val="solid"/>
          </a:ln>
        </p:spPr>
      </p:sp>
      <p:pic>
        <p:nvPicPr>
          <p:cNvPr id="19" name="Image 2" descr="/home/subham/Projects/college/fyp/smart-helpdesk/report/university/figures/app-why-priority.png">    </p:cNvPr>
          <p:cNvPicPr>
            <a:picLocks noChangeAspect="1"/>
          </p:cNvPicPr>
          <p:nvPr/>
        </p:nvPicPr>
        <p:blipFill>
          <a:blip r:embed="rId3"/>
          <a:stretch>
            <a:fillRect/>
          </a:stretch>
        </p:blipFill>
        <p:spPr>
          <a:xfrm>
            <a:off x="5897880" y="4006215"/>
            <a:ext cx="2834640" cy="1771650"/>
          </a:xfrm>
          <a:prstGeom prst="rect">
            <a:avLst/>
          </a:prstGeom>
        </p:spPr>
      </p:pic>
      <p:sp>
        <p:nvSpPr>
          <p:cNvPr id="20" name="Text 13"/>
          <p:cNvSpPr/>
          <p:nvPr/>
        </p:nvSpPr>
        <p:spPr>
          <a:xfrm>
            <a:off x="5897880" y="5823585"/>
            <a:ext cx="283464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Priority explanation (Fig. 4.3)</a:t>
            </a:r>
            <a:endParaRPr lang="en-US" sz="1050" dirty="0"/>
          </a:p>
        </p:txBody>
      </p:sp>
      <p:sp>
        <p:nvSpPr>
          <p:cNvPr id="21" name="Shape 14"/>
          <p:cNvSpPr/>
          <p:nvPr/>
        </p:nvSpPr>
        <p:spPr>
          <a:xfrm>
            <a:off x="8842248" y="3978783"/>
            <a:ext cx="2889504" cy="1826514"/>
          </a:xfrm>
          <a:prstGeom prst="rect">
            <a:avLst/>
          </a:prstGeom>
          <a:solidFill>
            <a:srgbClr val="FFFFFF"/>
          </a:solidFill>
          <a:ln w="9525">
            <a:solidFill>
              <a:srgbClr val="D9DEE7"/>
            </a:solidFill>
            <a:prstDash val="solid"/>
          </a:ln>
        </p:spPr>
      </p:sp>
      <p:pic>
        <p:nvPicPr>
          <p:cNvPr id="22" name="Image 3" descr="/home/subham/Projects/college/fyp/smart-helpdesk/report/university/figures/app-assignment.png">    </p:cNvPr>
          <p:cNvPicPr>
            <a:picLocks noChangeAspect="1"/>
          </p:cNvPicPr>
          <p:nvPr/>
        </p:nvPicPr>
        <p:blipFill>
          <a:blip r:embed="rId4"/>
          <a:stretch>
            <a:fillRect/>
          </a:stretch>
        </p:blipFill>
        <p:spPr>
          <a:xfrm>
            <a:off x="8869680" y="4006215"/>
            <a:ext cx="2834640" cy="1771650"/>
          </a:xfrm>
          <a:prstGeom prst="rect">
            <a:avLst/>
          </a:prstGeom>
        </p:spPr>
      </p:pic>
      <p:sp>
        <p:nvSpPr>
          <p:cNvPr id="23" name="Text 15"/>
          <p:cNvSpPr/>
          <p:nvPr/>
        </p:nvSpPr>
        <p:spPr>
          <a:xfrm>
            <a:off x="8869680" y="5823585"/>
            <a:ext cx="2834640" cy="274320"/>
          </a:xfrm>
          <a:prstGeom prst="rect">
            <a:avLst/>
          </a:prstGeom>
          <a:noFill/>
          <a:ln/>
        </p:spPr>
        <p:txBody>
          <a:bodyPr wrap="square" lIns="0" tIns="0" rIns="0" bIns="0" rtlCol="0" anchor="ctr"/>
          <a:lstStyle/>
          <a:p>
            <a:pPr algn="ctr" indent="0" marL="0">
              <a:buNone/>
            </a:pPr>
            <a:r>
              <a:rPr lang="en-US" sz="1050" i="1" dirty="0">
                <a:solidFill>
                  <a:srgbClr val="5B6576"/>
                </a:solidFill>
                <a:latin typeface="Calibri" pitchFamily="34" charset="0"/>
                <a:ea typeface="Calibri" pitchFamily="34" charset="-122"/>
                <a:cs typeface="Calibri" pitchFamily="34" charset="-120"/>
              </a:rPr>
              <a:t>Assignment ranking (Fig. A.5)</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4 · TESTING</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Testing and Result Analysis</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12 / 13</a:t>
            </a:r>
            <a:endParaRPr lang="en-US" sz="1000" dirty="0"/>
          </a:p>
        </p:txBody>
      </p:sp>
      <p:sp>
        <p:nvSpPr>
          <p:cNvPr id="9" name="Text 6"/>
          <p:cNvSpPr/>
          <p:nvPr/>
        </p:nvSpPr>
        <p:spPr>
          <a:xfrm>
            <a:off x="502920" y="1261872"/>
            <a:ext cx="5486400" cy="27432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Unit test cases (Table 4.2)</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3246120" cy="914400"/>
        </p:xfrm>
        <a:graphic>
          <a:graphicData uri="http://schemas.openxmlformats.org/drawingml/2006/table">
            <a:tbl>
              <a:tblPr/>
              <a:tblGrid>
                <a:gridCol w="594360"/>
                <a:gridCol w="2057400"/>
                <a:gridCol w="5943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Test case</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UT-01</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Sign in with correct details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UT-02</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Sign in with a wrong password</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UT-03</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contact</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UT-04</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contact without an email</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UT-05</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Edit an organisation</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UT-06</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category</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UT-07</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Delete a category in use</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UT-08</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ticket</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3840480" y="1572768"/>
          <a:ext cx="3246120" cy="914400"/>
        </p:xfrm>
        <a:graphic>
          <a:graphicData uri="http://schemas.openxmlformats.org/drawingml/2006/table">
            <a:tbl>
              <a:tblPr/>
              <a:tblGrid>
                <a:gridCol w="594360"/>
                <a:gridCol w="2057400"/>
                <a:gridCol w="59436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Test case</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UT-09</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ticket without a title</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UT-10</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a public reply</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UT-11</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Add an internal note</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UT-12</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Attach a file</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UT-13</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Invite a user</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UT-14</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 team</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UT-15</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Create an SLA policy</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bl>
          </a:graphicData>
        </a:graphic>
      </p:graphicFrame>
      <p:sp>
        <p:nvSpPr>
          <p:cNvPr id="12" name="Text 7"/>
          <p:cNvSpPr/>
          <p:nvPr/>
        </p:nvSpPr>
        <p:spPr>
          <a:xfrm>
            <a:off x="7360920" y="1261872"/>
            <a:ext cx="4389120" cy="27432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System test cases (Table 4.3)</a:t>
            </a:r>
            <a:endParaRPr lang="en-US" sz="1300" dirty="0"/>
          </a:p>
        </p:txBody>
      </p:sp>
      <p:graphicFrame>
        <p:nvGraphicFramePr>
          <p:cNvPr id="40" name="Table 2"/>
          <p:cNvGraphicFramePr>
            <a:graphicFrameLocks noGrp="1"/>
          </p:cNvGraphicFramePr>
          <p:nvPr>
            <p:extLst>
              <p:ext uri="{D42A27DB-BD31-4B8C-83A1-F6EECF244321}">
                <p14:modId xmlns:p14="http://schemas.microsoft.com/office/powerpoint/2010/main" val="1579011935"/>
              </p:ext>
            </p:extLst>
          </p:nvPr>
        </p:nvGraphicFramePr>
        <p:xfrm>
          <a:off x="7360920" y="1572768"/>
          <a:ext cx="4343400" cy="914400"/>
        </p:xfrm>
        <a:graphic>
          <a:graphicData uri="http://schemas.openxmlformats.org/drawingml/2006/table">
            <a:tbl>
              <a:tblPr/>
              <a:tblGrid>
                <a:gridCol w="640080"/>
                <a:gridCol w="3017520"/>
                <a:gridCol w="685800"/>
              </a:tblGrid>
              <a:tr h="29260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ID</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146BD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ST-01</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New user joins by invitation</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ST-02</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Ticket workflow to closed</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ST-03</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Automatic handling explained</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ST-04</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Duplicate suggestion</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ST-05</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Email reply on the ticket</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ST-06</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Workspace separation</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ST-07</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Report export (CSV)</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FFFFF"/>
                    </a:solidFill>
                  </a:tcPr>
                </a:tc>
              </a:tr>
              <a:tr h="292608">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ST-08</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Live deployment over HTTPS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c>
                  <a:txBody>
                    <a:bodyPr/>
                    <a:lstStyle/>
                    <a:p>
                      <a:pPr indent="0" marL="0">
                        <a:buNone/>
                      </a:pPr>
                      <a:r>
                        <a:rPr lang="en-US" sz="1100" dirty="0">
                          <a:solidFill>
                            <a:srgbClr val="1E293B"/>
                          </a:solidFill>
                          <a:latin typeface="Calibri" pitchFamily="34" charset="0"/>
                          <a:ea typeface="Calibri" pitchFamily="34" charset="-122"/>
                          <a:cs typeface="Calibri" pitchFamily="34" charset="-120"/>
                        </a:rPr>
                        <a:t>Pass</a:t>
                      </a:r>
                      <a:endParaRPr lang="en-US" sz="1100" dirty="0">
                        <a:latin typeface="Calibri" charset="0"/>
                        <a:ea typeface="Calibri" charset="0"/>
                        <a:cs typeface="Calibri" charset="0"/>
                      </a:endParaRPr>
                    </a:p>
                  </a:txBody>
                  <a:tcPr marL="63500" marR="63500" marT="25400" marB="25400" anchor="ctr">
                    <a:lnL w="9525" cap="flat" cmpd="sng" algn="ctr">
                      <a:solidFill>
                        <a:srgbClr val="D9DEE7"/>
                      </a:solidFill>
                      <a:prstDash val="solid"/>
                      <a:round/>
                      <a:headEnd type="none" w="med" len="med"/>
                      <a:tailEnd type="none" w="med" len="med"/>
                    </a:lnL>
                    <a:lnR w="9525" cap="flat" cmpd="sng" algn="ctr">
                      <a:solidFill>
                        <a:srgbClr val="D9DEE7"/>
                      </a:solidFill>
                      <a:prstDash val="solid"/>
                      <a:round/>
                      <a:headEnd type="none" w="med" len="med"/>
                      <a:tailEnd type="none" w="med" len="med"/>
                    </a:lnR>
                    <a:lnT w="9525" cap="flat" cmpd="sng" algn="ctr">
                      <a:solidFill>
                        <a:srgbClr val="D9DEE7"/>
                      </a:solidFill>
                      <a:prstDash val="solid"/>
                      <a:round/>
                      <a:headEnd type="none" w="med" len="med"/>
                      <a:tailEnd type="none" w="med" len="med"/>
                    </a:lnT>
                    <a:lnB w="9525" cap="flat" cmpd="sng" algn="ctr">
                      <a:solidFill>
                        <a:srgbClr val="D9DEE7"/>
                      </a:solidFill>
                      <a:prstDash val="solid"/>
                      <a:round/>
                      <a:headEnd type="none" w="med" len="med"/>
                      <a:tailEnd type="none" w="med" len="med"/>
                    </a:lnB>
                    <a:solidFill>
                      <a:srgbClr val="F7F9FC"/>
                    </a:solidFill>
                  </a:tcPr>
                </a:tc>
              </a:tr>
            </a:tbl>
          </a:graphicData>
        </a:graphic>
      </p:graphicFrame>
      <p:sp>
        <p:nvSpPr>
          <p:cNvPr id="14" name="Shape 8"/>
          <p:cNvSpPr/>
          <p:nvPr/>
        </p:nvSpPr>
        <p:spPr>
          <a:xfrm>
            <a:off x="502920" y="4480560"/>
            <a:ext cx="11201400" cy="1691640"/>
          </a:xfrm>
          <a:prstGeom prst="rect">
            <a:avLst/>
          </a:prstGeom>
          <a:solidFill>
            <a:srgbClr val="EEF4FD"/>
          </a:solidFill>
          <a:ln w="12700">
            <a:solidFill>
              <a:srgbClr val="EEF4FD"/>
            </a:solidFill>
            <a:prstDash val="solid"/>
          </a:ln>
        </p:spPr>
      </p:sp>
      <p:sp>
        <p:nvSpPr>
          <p:cNvPr id="15" name="Text 9"/>
          <p:cNvSpPr/>
          <p:nvPr/>
        </p:nvSpPr>
        <p:spPr>
          <a:xfrm>
            <a:off x="685800" y="4544568"/>
            <a:ext cx="4572000" cy="320040"/>
          </a:xfrm>
          <a:prstGeom prst="rect">
            <a:avLst/>
          </a:prstGeom>
          <a:noFill/>
          <a:ln/>
        </p:spPr>
        <p:txBody>
          <a:bodyPr wrap="square" lIns="0" tIns="0" rIns="0" bIns="0" rtlCol="0" anchor="ctr"/>
          <a:lstStyle/>
          <a:p>
            <a:pPr indent="0" marL="0">
              <a:buNone/>
            </a:pPr>
            <a:r>
              <a:rPr lang="en-US" sz="1400" b="1" dirty="0">
                <a:solidFill>
                  <a:srgbClr val="146BDC"/>
                </a:solidFill>
                <a:latin typeface="Calibri" pitchFamily="34" charset="0"/>
                <a:ea typeface="Calibri" pitchFamily="34" charset="-122"/>
                <a:cs typeface="Calibri" pitchFamily="34" charset="-120"/>
              </a:rPr>
              <a:t>Result analysis</a:t>
            </a:r>
            <a:endParaRPr lang="en-US" sz="1400" dirty="0"/>
          </a:p>
        </p:txBody>
      </p:sp>
      <p:sp>
        <p:nvSpPr>
          <p:cNvPr id="16" name="Text 10"/>
          <p:cNvSpPr/>
          <p:nvPr/>
        </p:nvSpPr>
        <p:spPr>
          <a:xfrm>
            <a:off x="685800" y="4873752"/>
            <a:ext cx="10881360" cy="1280160"/>
          </a:xfrm>
          <a:prstGeom prst="rect">
            <a:avLst/>
          </a:prstGeom>
          <a:noFill/>
          <a:ln/>
        </p:spPr>
        <p:txBody>
          <a:bodyPr wrap="square" lIns="25400" tIns="25400" rIns="25400" bIns="25400" rtlCol="0" anchor="t"/>
          <a:lstStyle/>
          <a:p>
            <a:pPr marL="203200" indent="-203200">
              <a:spcAft>
                <a:spcPts val="300"/>
              </a:spcAft>
              <a:buSzPct val="100000"/>
              <a:buChar char="■"/>
            </a:pPr>
            <a:r>
              <a:rPr lang="en-US" sz="1400" dirty="0">
                <a:solidFill>
                  <a:srgbClr val="1E293B"/>
                </a:solidFill>
                <a:latin typeface="Calibri" pitchFamily="34" charset="0"/>
                <a:ea typeface="Calibri" pitchFamily="34" charset="-122"/>
                <a:cs typeface="Calibri" pitchFamily="34" charset="-120"/>
              </a:rPr>
              <a:t>All 15 unit and 8 system test cases passed, on the development machine and the deployed server, in both themes.</a:t>
            </a:r>
            <a:endParaRPr lang="en-US" sz="1400" dirty="0"/>
          </a:p>
          <a:p>
            <a:pPr marL="203200" indent="-203200">
              <a:spcAft>
                <a:spcPts val="300"/>
              </a:spcAft>
              <a:buSzPct val="100000"/>
              <a:buChar char="■"/>
            </a:pPr>
            <a:r>
              <a:rPr lang="en-US" sz="1400" dirty="0">
                <a:solidFill>
                  <a:srgbClr val="1E293B"/>
                </a:solidFill>
                <a:latin typeface="Calibri" pitchFamily="34" charset="0"/>
                <a:ea typeface="Calibri" pitchFamily="34" charset="-122"/>
                <a:cs typeface="Calibri" pitchFamily="34" charset="-120"/>
              </a:rPr>
              <a:t>Priority levels matched hand calculations; tickets went to the least-loaded eligible agent, with excluded agents listed with a reason.</a:t>
            </a:r>
            <a:endParaRPr lang="en-US" sz="1400" dirty="0"/>
          </a:p>
          <a:p>
            <a:pPr marL="203200" indent="-203200">
              <a:spcAft>
                <a:spcPts val="300"/>
              </a:spcAft>
              <a:buSzPct val="100000"/>
              <a:buChar char="■"/>
            </a:pPr>
            <a:r>
              <a:rPr lang="en-US" sz="1400" dirty="0">
                <a:solidFill>
                  <a:srgbClr val="1E293B"/>
                </a:solidFill>
                <a:latin typeface="Calibri" pitchFamily="34" charset="0"/>
                <a:ea typeface="Calibri" pitchFamily="34" charset="-122"/>
                <a:cs typeface="Calibri" pitchFamily="34" charset="-120"/>
              </a:rPr>
              <a:t>Similar tickets were suggested with shared words; SLA timers paused while pending and warned and breached at the expected times.</a:t>
            </a:r>
            <a:endParaRPr lang="en-US" sz="1400" dirty="0"/>
          </a:p>
          <a:p>
            <a:pPr marL="203200" indent="-203200">
              <a:spcAft>
                <a:spcPts val="300"/>
              </a:spcAft>
              <a:buSzPct val="100000"/>
              <a:buChar char="■"/>
            </a:pPr>
            <a:r>
              <a:rPr lang="en-US" sz="1400" dirty="0">
                <a:solidFill>
                  <a:srgbClr val="1E293B"/>
                </a:solidFill>
                <a:latin typeface="Calibri" pitchFamily="34" charset="0"/>
                <a:ea typeface="Calibri" pitchFamily="34" charset="-122"/>
                <a:cs typeface="Calibri" pitchFamily="34" charset="-120"/>
              </a:rPr>
              <a:t>Reports matched the ticket list, and a past view matched the earlier state of the ticket.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146BDC"/>
          </a:solidFill>
          <a:ln w="12700">
            <a:solidFill>
              <a:srgbClr val="146BDC"/>
            </a:solidFill>
            <a:prstDash val="solid"/>
          </a:ln>
        </p:spPr>
      </p:sp>
      <p:sp>
        <p:nvSpPr>
          <p:cNvPr id="3" name="Text 1"/>
          <p:cNvSpPr/>
          <p:nvPr/>
        </p:nvSpPr>
        <p:spPr>
          <a:xfrm>
            <a:off x="502920" y="274320"/>
            <a:ext cx="8229600" cy="274320"/>
          </a:xfrm>
          <a:prstGeom prst="rect">
            <a:avLst/>
          </a:prstGeom>
          <a:noFill/>
          <a:ln/>
        </p:spPr>
        <p:txBody>
          <a:bodyPr wrap="square" lIns="0" tIns="0" rIns="0" bIns="0" rtlCol="0" anchor="ctr"/>
          <a:lstStyle/>
          <a:p>
            <a:pPr indent="0" marL="0">
              <a:buNone/>
            </a:pPr>
            <a:r>
              <a:rPr lang="en-US" sz="1100" b="1" spc="200" kern="0" dirty="0">
                <a:solidFill>
                  <a:srgbClr val="146BDC"/>
                </a:solidFill>
                <a:latin typeface="Calibri" pitchFamily="34" charset="0"/>
                <a:ea typeface="Calibri" pitchFamily="34" charset="-122"/>
                <a:cs typeface="Calibri" pitchFamily="34" charset="-120"/>
              </a:rPr>
              <a:t>CHAPTER 5 · CONCLUSION</a:t>
            </a:r>
            <a:endParaRPr lang="en-US" sz="1100" dirty="0"/>
          </a:p>
        </p:txBody>
      </p:sp>
      <p:sp>
        <p:nvSpPr>
          <p:cNvPr id="4" name="Text 2"/>
          <p:cNvSpPr/>
          <p:nvPr/>
        </p:nvSpPr>
        <p:spPr>
          <a:xfrm>
            <a:off x="502920" y="530352"/>
            <a:ext cx="11155680" cy="594360"/>
          </a:xfrm>
          <a:prstGeom prst="rect">
            <a:avLst/>
          </a:prstGeom>
          <a:noFill/>
          <a:ln/>
        </p:spPr>
        <p:txBody>
          <a:bodyPr wrap="square" lIns="0" tIns="0" rIns="0" bIns="0" rtlCol="0" anchor="ctr"/>
          <a:lstStyle/>
          <a:p>
            <a:pPr indent="0" marL="0">
              <a:buNone/>
            </a:pPr>
            <a:r>
              <a:rPr lang="en-US" sz="2800" b="1" dirty="0">
                <a:solidFill>
                  <a:srgbClr val="0F1B33"/>
                </a:solidFill>
                <a:latin typeface="Calibri" pitchFamily="34" charset="0"/>
                <a:ea typeface="Calibri" pitchFamily="34" charset="-122"/>
                <a:cs typeface="Calibri" pitchFamily="34" charset="-120"/>
              </a:rPr>
              <a:t>Conclusion and Future Recommendations</a:t>
            </a:r>
            <a:endParaRPr lang="en-US" sz="2800" dirty="0"/>
          </a:p>
        </p:txBody>
      </p:sp>
      <p:sp>
        <p:nvSpPr>
          <p:cNvPr id="5" name="Shape 3"/>
          <p:cNvSpPr/>
          <p:nvPr/>
        </p:nvSpPr>
        <p:spPr>
          <a:xfrm>
            <a:off x="502920" y="6355080"/>
            <a:ext cx="11201400" cy="0"/>
          </a:xfrm>
          <a:prstGeom prst="line">
            <a:avLst/>
          </a:prstGeom>
          <a:noFill/>
          <a:ln w="9525">
            <a:solidFill>
              <a:srgbClr val="D9DEE7"/>
            </a:solidFill>
            <a:prstDash val="solid"/>
          </a:ln>
        </p:spPr>
      </p:sp>
      <p:sp>
        <p:nvSpPr>
          <p:cNvPr id="6" name="Text 4"/>
          <p:cNvSpPr/>
          <p:nvPr/>
        </p:nvSpPr>
        <p:spPr>
          <a:xfrm>
            <a:off x="502920" y="6400800"/>
            <a:ext cx="8229600" cy="274320"/>
          </a:xfrm>
          <a:prstGeom prst="rect">
            <a:avLst/>
          </a:prstGeom>
          <a:noFill/>
          <a:ln/>
        </p:spPr>
        <p:txBody>
          <a:bodyPr wrap="square" lIns="0" tIns="0" rIns="0" bIns="0" rtlCol="0" anchor="ctr"/>
          <a:lstStyle/>
          <a:p>
            <a:pPr indent="0" marL="0">
              <a:buNone/>
            </a:pPr>
            <a:r>
              <a:rPr lang="en-US" sz="1000" dirty="0">
                <a:solidFill>
                  <a:srgbClr val="5B6576"/>
                </a:solidFill>
                <a:latin typeface="Calibri" pitchFamily="34" charset="0"/>
                <a:ea typeface="Calibri" pitchFamily="34" charset="-122"/>
                <a:cs typeface="Calibri" pitchFamily="34" charset="-120"/>
              </a:rPr>
              <a:t>Smart Helpdesk  ·  CACS452 Project III  ·  Everest College</a:t>
            </a:r>
            <a:endParaRPr lang="en-US" sz="1000" dirty="0"/>
          </a:p>
        </p:txBody>
      </p:sp>
      <p:sp>
        <p:nvSpPr>
          <p:cNvPr id="7" name="Text 5"/>
          <p:cNvSpPr/>
          <p:nvPr/>
        </p:nvSpPr>
        <p:spPr>
          <a:xfrm>
            <a:off x="10332720" y="6400800"/>
            <a:ext cx="1371600" cy="274320"/>
          </a:xfrm>
          <a:prstGeom prst="rect">
            <a:avLst/>
          </a:prstGeom>
          <a:noFill/>
          <a:ln/>
        </p:spPr>
        <p:txBody>
          <a:bodyPr wrap="square" lIns="0" tIns="0" rIns="0" bIns="0" rtlCol="0" anchor="ctr"/>
          <a:lstStyle/>
          <a:p>
            <a:pPr algn="r" indent="0" marL="0">
              <a:buNone/>
            </a:pPr>
            <a:r>
              <a:rPr lang="en-US" sz="1000" dirty="0">
                <a:solidFill>
                  <a:srgbClr val="5B6576"/>
                </a:solidFill>
                <a:latin typeface="Calibri" pitchFamily="34" charset="0"/>
                <a:ea typeface="Calibri" pitchFamily="34" charset="-122"/>
                <a:cs typeface="Calibri" pitchFamily="34" charset="-120"/>
              </a:rPr>
              <a:t>13 / 13</a:t>
            </a:r>
            <a:endParaRPr lang="en-US" sz="1000" dirty="0"/>
          </a:p>
        </p:txBody>
      </p:sp>
      <p:sp>
        <p:nvSpPr>
          <p:cNvPr id="9" name="Shape 6"/>
          <p:cNvSpPr/>
          <p:nvPr/>
        </p:nvSpPr>
        <p:spPr>
          <a:xfrm>
            <a:off x="502920" y="1325880"/>
            <a:ext cx="3977640" cy="4800600"/>
          </a:xfrm>
          <a:prstGeom prst="rect">
            <a:avLst/>
          </a:prstGeom>
          <a:solidFill>
            <a:srgbClr val="EEF4FD"/>
          </a:solidFill>
          <a:ln w="12700">
            <a:solidFill>
              <a:srgbClr val="EEF4FD"/>
            </a:solidFill>
            <a:prstDash val="solid"/>
          </a:ln>
        </p:spPr>
      </p:sp>
      <p:sp>
        <p:nvSpPr>
          <p:cNvPr id="10" name="Shape 7"/>
          <p:cNvSpPr/>
          <p:nvPr/>
        </p:nvSpPr>
        <p:spPr>
          <a:xfrm>
            <a:off x="502920" y="1325880"/>
            <a:ext cx="54864" cy="4800600"/>
          </a:xfrm>
          <a:prstGeom prst="rect">
            <a:avLst/>
          </a:prstGeom>
          <a:solidFill>
            <a:srgbClr val="146BDC"/>
          </a:solidFill>
          <a:ln w="12700">
            <a:solidFill>
              <a:srgbClr val="146BDC"/>
            </a:solidFill>
            <a:prstDash val="solid"/>
          </a:ln>
        </p:spPr>
      </p:sp>
      <p:sp>
        <p:nvSpPr>
          <p:cNvPr id="11" name="Text 8"/>
          <p:cNvSpPr/>
          <p:nvPr/>
        </p:nvSpPr>
        <p:spPr>
          <a:xfrm>
            <a:off x="640080" y="1399032"/>
            <a:ext cx="3749040" cy="465429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Conclusion</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Smart Helpdesk serves many organisations from one installation, keeping each one's data separate in the application and the database.</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Full ticket workflow, media library, email both ways, dashboard, reports with record history, REST API and signed webhooks, on a cloud VM or own server.</a:t>
            </a:r>
            <a:endParaRPr lang="en-US" sz="1500" dirty="0"/>
          </a:p>
          <a:p>
            <a:pPr indent="0" marL="0">
              <a:spcAft>
                <a:spcPts val="1000"/>
              </a:spcAft>
              <a:buNone/>
            </a:pPr>
            <a:r>
              <a:rPr lang="en-US" sz="1400" b="1" dirty="0">
                <a:solidFill>
                  <a:srgbClr val="0F1B33"/>
                </a:solidFill>
                <a:latin typeface="Calibri" pitchFamily="34" charset="0"/>
                <a:ea typeface="Calibri" pitchFamily="34" charset="-122"/>
                <a:cs typeface="Calibri" pitchFamily="34" charset="-120"/>
              </a:rPr>
              <a:t>All objectives met:</a:t>
            </a:r>
            <a:r>
              <a:rPr lang="en-US" sz="1400" dirty="0">
                <a:solidFill>
                  <a:srgbClr val="1E293B"/>
                </a:solidFill>
                <a:latin typeface="Calibri" pitchFamily="34" charset="0"/>
                <a:ea typeface="Calibri" pitchFamily="34" charset="-122"/>
                <a:cs typeface="Calibri" pitchFamily="34" charset="-120"/>
              </a:rPr>
              <a:t> four simple algorithms make the key decisions and explain them; manual testing confirmed the behaviour.</a:t>
            </a:r>
            <a:endParaRPr lang="en-US" sz="1500" dirty="0"/>
          </a:p>
          <a:p>
            <a:pPr indent="0" marL="0">
              <a:spcAft>
                <a:spcPts val="1000"/>
              </a:spcAft>
              <a:buNone/>
            </a:pPr>
            <a:r>
              <a:rPr lang="en-US" sz="1400" b="1" dirty="0">
                <a:solidFill>
                  <a:srgbClr val="0F1B33"/>
                </a:solidFill>
                <a:latin typeface="Calibri" pitchFamily="34" charset="0"/>
                <a:ea typeface="Calibri" pitchFamily="34" charset="-122"/>
                <a:cs typeface="Calibri" pitchFamily="34" charset="-120"/>
              </a:rPr>
              <a:t>Lessons:</a:t>
            </a:r>
            <a:r>
              <a:rPr lang="en-US" sz="1400" dirty="0">
                <a:solidFill>
                  <a:srgbClr val="1E293B"/>
                </a:solidFill>
                <a:latin typeface="Calibri" pitchFamily="34" charset="0"/>
                <a:ea typeface="Calibri" pitchFamily="34" charset="-122"/>
                <a:cs typeface="Calibri" pitchFamily="34" charset="-120"/>
              </a:rPr>
              <a:t> explanations build trust; time handling is the hardest part of SLA; data separation must be checked on every screen and API.</a:t>
            </a:r>
            <a:endParaRPr lang="en-US" sz="1500" dirty="0"/>
          </a:p>
        </p:txBody>
      </p:sp>
      <p:sp>
        <p:nvSpPr>
          <p:cNvPr id="12" name="Shape 9"/>
          <p:cNvSpPr/>
          <p:nvPr/>
        </p:nvSpPr>
        <p:spPr>
          <a:xfrm>
            <a:off x="4663440" y="1325880"/>
            <a:ext cx="3108960" cy="4800600"/>
          </a:xfrm>
          <a:prstGeom prst="rect">
            <a:avLst/>
          </a:prstGeom>
          <a:solidFill>
            <a:srgbClr val="F3F5F9"/>
          </a:solidFill>
          <a:ln w="12700">
            <a:solidFill>
              <a:srgbClr val="F3F5F9"/>
            </a:solidFill>
            <a:prstDash val="solid"/>
          </a:ln>
        </p:spPr>
      </p:sp>
      <p:sp>
        <p:nvSpPr>
          <p:cNvPr id="13" name="Shape 10"/>
          <p:cNvSpPr/>
          <p:nvPr/>
        </p:nvSpPr>
        <p:spPr>
          <a:xfrm>
            <a:off x="4663440" y="1325880"/>
            <a:ext cx="54864" cy="4800600"/>
          </a:xfrm>
          <a:prstGeom prst="rect">
            <a:avLst/>
          </a:prstGeom>
          <a:solidFill>
            <a:srgbClr val="146BDC"/>
          </a:solidFill>
          <a:ln w="12700">
            <a:solidFill>
              <a:srgbClr val="146BDC"/>
            </a:solidFill>
            <a:prstDash val="solid"/>
          </a:ln>
        </p:spPr>
      </p:sp>
      <p:sp>
        <p:nvSpPr>
          <p:cNvPr id="14" name="Text 11"/>
          <p:cNvSpPr/>
          <p:nvPr/>
        </p:nvSpPr>
        <p:spPr>
          <a:xfrm>
            <a:off x="4800600" y="1399032"/>
            <a:ext cx="2880360" cy="465429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Limitations</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Weights and thresholds set by administrators, not learned.</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Duplicates in different vocabulary are not detected.</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No load testing; a single small VM.</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No customer portal, live chat, knowledge base, custom fields or billing.</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Agent application designed for desktop and laptop screens.</a:t>
            </a:r>
            <a:endParaRPr lang="en-US" sz="1500" dirty="0"/>
          </a:p>
        </p:txBody>
      </p:sp>
      <p:sp>
        <p:nvSpPr>
          <p:cNvPr id="15" name="Shape 12"/>
          <p:cNvSpPr/>
          <p:nvPr/>
        </p:nvSpPr>
        <p:spPr>
          <a:xfrm>
            <a:off x="7955280" y="1325880"/>
            <a:ext cx="3749040" cy="4800600"/>
          </a:xfrm>
          <a:prstGeom prst="rect">
            <a:avLst/>
          </a:prstGeom>
          <a:solidFill>
            <a:srgbClr val="EEF4FD"/>
          </a:solidFill>
          <a:ln w="12700">
            <a:solidFill>
              <a:srgbClr val="EEF4FD"/>
            </a:solidFill>
            <a:prstDash val="solid"/>
          </a:ln>
        </p:spPr>
      </p:sp>
      <p:sp>
        <p:nvSpPr>
          <p:cNvPr id="16" name="Shape 13"/>
          <p:cNvSpPr/>
          <p:nvPr/>
        </p:nvSpPr>
        <p:spPr>
          <a:xfrm>
            <a:off x="7955280" y="1325880"/>
            <a:ext cx="54864" cy="4800600"/>
          </a:xfrm>
          <a:prstGeom prst="rect">
            <a:avLst/>
          </a:prstGeom>
          <a:solidFill>
            <a:srgbClr val="146BDC"/>
          </a:solidFill>
          <a:ln w="12700">
            <a:solidFill>
              <a:srgbClr val="146BDC"/>
            </a:solidFill>
            <a:prstDash val="solid"/>
          </a:ln>
        </p:spPr>
      </p:sp>
      <p:sp>
        <p:nvSpPr>
          <p:cNvPr id="17" name="Text 14"/>
          <p:cNvSpPr/>
          <p:nvPr/>
        </p:nvSpPr>
        <p:spPr>
          <a:xfrm>
            <a:off x="8092440" y="1399032"/>
            <a:ext cx="3520440" cy="4654296"/>
          </a:xfrm>
          <a:prstGeom prst="rect">
            <a:avLst/>
          </a:prstGeom>
          <a:noFill/>
          <a:ln/>
        </p:spPr>
        <p:txBody>
          <a:bodyPr wrap="square" lIns="25400" tIns="25400" rIns="25400" bIns="25400" rtlCol="0" anchor="t"/>
          <a:lstStyle/>
          <a:p>
            <a:pPr indent="0" marL="0">
              <a:spcAft>
                <a:spcPts val="400"/>
              </a:spcAft>
              <a:buNone/>
            </a:pPr>
            <a:r>
              <a:rPr lang="en-US" sz="1500" b="1" dirty="0">
                <a:solidFill>
                  <a:srgbClr val="0F1B33"/>
                </a:solidFill>
                <a:latin typeface="Calibri" pitchFamily="34" charset="0"/>
                <a:ea typeface="Calibri" pitchFamily="34" charset="-122"/>
                <a:cs typeface="Calibri" pitchFamily="34" charset="-120"/>
              </a:rPr>
              <a:t>Future recommendations</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1. Load testing and monitoring under many users.</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2. Stronger algorithms: SLA-aware priority, duplicate detection that recognises meaning.</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3. A customer portal with live chat and messaging channels.</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4. Priority and assignment weights learned from resolved tickets.</a:t>
            </a:r>
            <a:endParaRPr lang="en-US" sz="1500" dirty="0"/>
          </a:p>
          <a:p>
            <a:pPr indent="0" marL="0">
              <a:spcAft>
                <a:spcPts val="1000"/>
              </a:spcAft>
              <a:buNone/>
            </a:pPr>
            <a:r>
              <a:rPr lang="en-US" sz="1400" dirty="0">
                <a:solidFill>
                  <a:srgbClr val="1E293B"/>
                </a:solidFill>
                <a:latin typeface="Calibri" pitchFamily="34" charset="0"/>
                <a:ea typeface="Calibri" pitchFamily="34" charset="-122"/>
                <a:cs typeface="Calibri" pitchFamily="34" charset="-120"/>
              </a:rPr>
              <a:t>5. Mobile layouts for agents.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B33"/>
        </a:solidFill>
      </p:bgPr>
    </p:bg>
    <p:spTree>
      <p:nvGrpSpPr>
        <p:cNvPr id="1" name=""/>
        <p:cNvGrpSpPr/>
        <p:nvPr/>
      </p:nvGrpSpPr>
      <p:grpSpPr>
        <a:xfrm>
          <a:off x="0" y="0"/>
          <a:ext cx="0" cy="0"/>
          <a:chOff x="0" y="0"/>
          <a:chExt cx="0" cy="0"/>
        </a:xfrm>
      </p:grpSpPr>
      <p:sp>
        <p:nvSpPr>
          <p:cNvPr id="2" name="Text 0"/>
          <p:cNvSpPr/>
          <p:nvPr/>
        </p:nvSpPr>
        <p:spPr>
          <a:xfrm>
            <a:off x="0" y="0"/>
            <a:ext cx="12191695" cy="6858000"/>
          </a:xfrm>
          <a:prstGeom prst="rect">
            <a:avLst/>
          </a:prstGeom>
          <a:noFill/>
          <a:ln/>
        </p:spPr>
        <p:txBody>
          <a:bodyPr wrap="square" rtlCol="0" anchor="ctr"/>
          <a:lstStyle/>
          <a:p>
            <a:pPr algn="ctr" indent="0" marL="0">
              <a:buNone/>
            </a:pPr>
            <a:r>
              <a:rPr lang="en-US" sz="6000" b="1" dirty="0">
                <a:solidFill>
                  <a:srgbClr val="FFFFFF"/>
                </a:solidFill>
                <a:latin typeface="Calibri" pitchFamily="34" charset="0"/>
                <a:ea typeface="Calibri" pitchFamily="34" charset="-122"/>
                <a:cs typeface="Calibri"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Everest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Helpdesk: A Multi-Tenant Support Ticket Management System</dc:title>
  <dc:subject>PptxGenJS Presentation</dc:subject>
  <dc:creator>Subham Bhandari, Utsav Karki</dc:creator>
  <cp:lastModifiedBy>Subham Bhandari, Utsav Karki</cp:lastModifiedBy>
  <cp:revision>1</cp:revision>
  <dcterms:created xsi:type="dcterms:W3CDTF">2026-09-25T18:03:24Z</dcterms:created>
  <dcterms:modified xsi:type="dcterms:W3CDTF">2026-09-25T18:03:24Z</dcterms:modified>
</cp:coreProperties>
</file>