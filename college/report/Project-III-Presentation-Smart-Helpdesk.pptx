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Greet the panel, introduce the team members and the supervisor, and state the title of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1.1. Every organisation receives requests; a helpdesk turns them into tickets that can be prioritised, assigned, tracked against a promised response time and closed. Commercial platforms serve large enterprises; small teams rely on shared mailboxes or open-source tools that store tickets but leave decisions to people. Smart Helpdesk serves many organisations (tenants) from one installation and makes four decisions automatically, explaining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1.2. These problems came from reviewing how small support teams work and from the study of existing open-source helpdesks in Section 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Sections 1.3 and 1.4. Four objectives. The algorithms are intentionally minimal and replaceable, so they can be understood completely and later substituted with stronger techniques.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1.5. Requirements were known at the start from the problem statement and course requirements, and the project had a fixed period of three months (16 June to 15 September 2026). Phases were completed one after another, each ending with a reviewed document or product. The two members worked on separate features during implementation and reviewed each other's work before merging.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Sections 2.1 and 2.2. Impact and urgency are the usual priority inputs (Jira matrix); ITIL notes the backlog and target times also matter, motivating an ageing term. Simple Additive Weighting, least-loaded skill-based routing from contact centres, Jaccard similarity from information retrieval, and PostgreSQL row-level security. Of the four open-source helpdesks, only GLPI computes priority (fixed matrix, no waiting time); none assigns by workload and skills, and none detects duplicates automatically. Runeson et al. found about 30 % of duplicates among the top five suggestions using word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3.1.1. Actors: Platform Super Admin, Tenant Admin, Support Manager, Support Agent, external systems, Contact (by email) and the scheduler. Table 3.1 lists the functional requirements by module; Tables 3.2 and 3.3 describe the Create ticket and Assign ticket use cases; Table 3.4 lists the non-functional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3.1.2. Technical: mature open-source components run together with Docker Compose on one VM; the live deployment uses an AWS instance with two vCPUs and 2 GB of memory. Operational: follows existing support workflows and explains every decision. Economic: no licence; a VM of the required size costs roughly US$8 to 35 per month. Schedule: three months, 16 June to 15 September 2026 (Table 3.5, Figure 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3.2. Clients reach one virtual machine over HTTPS. A reverse proxy terminates HTTPS for the application, API, administration, documentation, file and mail hosts and serves the React single-page application. The PHP application, queue workers and scheduler run from one container image; the backend is divided into modules with one-way dependencies, and notification, integration, reporting and audit only react to events. Each algorithm is an interface with a simple baseline implementation that returns its result and an explanation. PostgreSQL (with row-level security on every workspace table and the change-capture trigger), Valkey, object storage and the mail server run as separate containers on an internal network. The same arrangement runs on a developer computer, an organisation's own server or any cloud VM.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Sections 3.3.1 and 3.3.2. Priority: a weighted sum of four inputs scaled to 0–1 (simple additive weighting), computed on creation, when an input changes and hourly for open tickets; a manager's manual priority always wins; constant cost. Example: impact 2, urgency 3, premium customer gives 47.5 (P3) after 24 hours and 54.2 (P2) after 72 hours, showing ageing. Assignment: eligible agents are available, on shift if enforced, hold all required skills, are in the team and below capacity; the lowest open-to-capacity ratio wins, ties to the least recently assigned; cost O(A log A). Example: Asha and Chen 3/10, Bikram 2/5 = 0.40; Chen, assigned earlier than Asha, gets the ticket.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Sections 3.3.3 to 3.3.5. Duplicates: title and description are lower-cased, split on non-letters/digits/hyphens, stripped of 117 stop words and words shorter than three characters; candidates are same-tenant tickets from the last 30 days that are not closed, at most 50; threshold 0.35, top five kept; cost O(K × W). SLA: first-response and resolution timers, each a state machine; deadlines through a calendar of all hours or working hours; the per-minute check reads only due timers and records sent notifications, so running twice has no extra effect. History: a trigger records each change with old and new values; a record at time t is rebuilt by undoing later changes newest first, O(k); ticket events are swept into intervals, O(e), for time in status, backlog and workload over time, with daily snapshots.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4.1. Tools in Table 4.1. The backend is divided into modules with their own routes, models, rules and tables; each data change runs in one transaction; the algorithms are plain functions behind interfaces. Workspace comes from the session or API client, never the web address, and row-level security limits every query. Tickets: numbered per workspace, with priority, SLA timers, duplicates and assignment in the same transaction. Media: direct uploads to object storage through short-lived signed links. Mail: reply address identifies the ticket; incoming mail read every minute. Reporting: trigger-based history, CSV and XLSX exports. Integrations: client credentials and signed webhooks with retries. Frontend: features on a shared design system with light and dark themes.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Sections 4.2 and 4.3. Testing was manual: each function on its own (unit testing), then complete workflows through the web application on the development machine and the deployed server (system testing), in both themes in Google Chrome, repeated after each correction. All 15 unit and 8 system test cases passed. The algorithms were checked with worked examples calculated by hand. Limitations found: duplicates in completely different words are not detected, and behaviour under heavy load was not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All objectives of Section 1.3 were met. The main lessons: explanations make automatic decisions easier to trust, time handling is the hardest part of SLA management, and data separation must be checked on every screen and API. Limitations from Section 1.4 and the results; future work from Section 5.2.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home/subham/Projects/college/fyp/smart-helpdesk/report/university/figures/tu-logo.png">    </p:cNvPr>
          <p:cNvPicPr>
            <a:picLocks noChangeAspect="1"/>
          </p:cNvPicPr>
          <p:nvPr/>
        </p:nvPicPr>
        <p:blipFill>
          <a:blip r:embed="rId1"/>
          <a:stretch>
            <a:fillRect/>
          </a:stretch>
        </p:blipFill>
        <p:spPr>
          <a:xfrm>
            <a:off x="5592928" y="411480"/>
            <a:ext cx="1005840" cy="1039257"/>
          </a:xfrm>
          <a:prstGeom prst="rect">
            <a:avLst/>
          </a:prstGeom>
        </p:spPr>
      </p:pic>
      <p:sp>
        <p:nvSpPr>
          <p:cNvPr id="3" name="Text 0"/>
          <p:cNvSpPr/>
          <p:nvPr/>
        </p:nvSpPr>
        <p:spPr>
          <a:xfrm>
            <a:off x="0" y="1572768"/>
            <a:ext cx="12191695" cy="365760"/>
          </a:xfrm>
          <a:prstGeom prst="rect">
            <a:avLst/>
          </a:prstGeom>
          <a:noFill/>
          <a:ln/>
        </p:spPr>
        <p:txBody>
          <a:bodyPr wrap="square" rtlCol="0" anchor="ctr"/>
          <a:lstStyle/>
          <a:p>
            <a:pPr algn="ctr" indent="0" marL="0">
              <a:buNone/>
            </a:pPr>
            <a:r>
              <a:rPr lang="en-US" sz="1900" dirty="0">
                <a:solidFill>
                  <a:srgbClr val="14213D"/>
                </a:solidFill>
                <a:latin typeface="Georgia" pitchFamily="34" charset="0"/>
                <a:ea typeface="Georgia" pitchFamily="34" charset="-122"/>
                <a:cs typeface="Georgia" pitchFamily="34" charset="-120"/>
              </a:rPr>
              <a:t>Tribhuvan University</a:t>
            </a:r>
            <a:endParaRPr lang="en-US" sz="1900" dirty="0"/>
          </a:p>
        </p:txBody>
      </p:sp>
      <p:sp>
        <p:nvSpPr>
          <p:cNvPr id="4" name="Text 1"/>
          <p:cNvSpPr/>
          <p:nvPr/>
        </p:nvSpPr>
        <p:spPr>
          <a:xfrm>
            <a:off x="0" y="1920240"/>
            <a:ext cx="12191695" cy="320040"/>
          </a:xfrm>
          <a:prstGeom prst="rect">
            <a:avLst/>
          </a:prstGeom>
          <a:noFill/>
          <a:ln/>
        </p:spPr>
        <p:txBody>
          <a:bodyPr wrap="square" rtlCol="0" anchor="ctr"/>
          <a:lstStyle/>
          <a:p>
            <a:pPr algn="ctr" indent="0" marL="0">
              <a:buNone/>
            </a:pPr>
            <a:r>
              <a:rPr lang="en-US" sz="1500" dirty="0">
                <a:solidFill>
                  <a:srgbClr val="66707F"/>
                </a:solidFill>
                <a:latin typeface="Calibri" pitchFamily="34" charset="0"/>
                <a:ea typeface="Calibri" pitchFamily="34" charset="-122"/>
                <a:cs typeface="Calibri" pitchFamily="34" charset="-120"/>
              </a:rPr>
              <a:t>Faculty of Humanities and Social Sciences</a:t>
            </a:r>
            <a:endParaRPr lang="en-US" sz="1500" dirty="0"/>
          </a:p>
        </p:txBody>
      </p:sp>
      <p:sp>
        <p:nvSpPr>
          <p:cNvPr id="5" name="Text 2"/>
          <p:cNvSpPr/>
          <p:nvPr/>
        </p:nvSpPr>
        <p:spPr>
          <a:xfrm>
            <a:off x="0" y="2450592"/>
            <a:ext cx="12191695" cy="320040"/>
          </a:xfrm>
          <a:prstGeom prst="rect">
            <a:avLst/>
          </a:prstGeom>
          <a:noFill/>
          <a:ln/>
        </p:spPr>
        <p:txBody>
          <a:bodyPr wrap="square" rtlCol="0" anchor="ctr"/>
          <a:lstStyle/>
          <a:p>
            <a:pPr algn="ctr" indent="0" marL="0">
              <a:buNone/>
            </a:pPr>
            <a:r>
              <a:rPr lang="en-US" sz="1500" i="1" dirty="0">
                <a:solidFill>
                  <a:srgbClr val="66707F"/>
                </a:solidFill>
                <a:latin typeface="Calibri" pitchFamily="34" charset="0"/>
                <a:ea typeface="Calibri" pitchFamily="34" charset="-122"/>
                <a:cs typeface="Calibri" pitchFamily="34" charset="-120"/>
              </a:rPr>
              <a:t>A project presentation on</a:t>
            </a:r>
            <a:endParaRPr lang="en-US" sz="1500" dirty="0"/>
          </a:p>
        </p:txBody>
      </p:sp>
      <p:sp>
        <p:nvSpPr>
          <p:cNvPr id="6" name="Text 3"/>
          <p:cNvSpPr/>
          <p:nvPr/>
        </p:nvSpPr>
        <p:spPr>
          <a:xfrm>
            <a:off x="0" y="2743200"/>
            <a:ext cx="12191695" cy="777240"/>
          </a:xfrm>
          <a:prstGeom prst="rect">
            <a:avLst/>
          </a:prstGeom>
          <a:noFill/>
          <a:ln/>
        </p:spPr>
        <p:txBody>
          <a:bodyPr wrap="square" rtlCol="0" anchor="ctr"/>
          <a:lstStyle/>
          <a:p>
            <a:pPr algn="ctr" indent="0" marL="0">
              <a:buNone/>
            </a:pPr>
            <a:r>
              <a:rPr lang="en-US" sz="4400" b="1" dirty="0">
                <a:solidFill>
                  <a:srgbClr val="1F5FAD"/>
                </a:solidFill>
                <a:latin typeface="Georgia" pitchFamily="34" charset="0"/>
                <a:ea typeface="Georgia" pitchFamily="34" charset="-122"/>
                <a:cs typeface="Georgia" pitchFamily="34" charset="-120"/>
              </a:rPr>
              <a:t>Smart Helpdesk</a:t>
            </a:r>
            <a:endParaRPr lang="en-US" sz="4400" dirty="0"/>
          </a:p>
        </p:txBody>
      </p:sp>
      <p:sp>
        <p:nvSpPr>
          <p:cNvPr id="7" name="Text 4"/>
          <p:cNvSpPr/>
          <p:nvPr/>
        </p:nvSpPr>
        <p:spPr>
          <a:xfrm>
            <a:off x="0" y="3493008"/>
            <a:ext cx="12191695" cy="411480"/>
          </a:xfrm>
          <a:prstGeom prst="rect">
            <a:avLst/>
          </a:prstGeom>
          <a:noFill/>
          <a:ln/>
        </p:spPr>
        <p:txBody>
          <a:bodyPr wrap="square" rtlCol="0" anchor="ctr"/>
          <a:lstStyle/>
          <a:p>
            <a:pPr algn="ctr" indent="0" marL="0">
              <a:buNone/>
            </a:pPr>
            <a:r>
              <a:rPr lang="en-US" sz="2100" dirty="0">
                <a:solidFill>
                  <a:srgbClr val="14213D"/>
                </a:solidFill>
                <a:latin typeface="Georgia" pitchFamily="34" charset="0"/>
                <a:ea typeface="Georgia" pitchFamily="34" charset="-122"/>
                <a:cs typeface="Georgia" pitchFamily="34" charset="-120"/>
              </a:rPr>
              <a:t>A Multi-Tenant Support Ticket Management System</a:t>
            </a:r>
            <a:endParaRPr lang="en-US" sz="2100" dirty="0"/>
          </a:p>
        </p:txBody>
      </p:sp>
      <p:sp>
        <p:nvSpPr>
          <p:cNvPr id="8" name="Shape 5"/>
          <p:cNvSpPr/>
          <p:nvPr/>
        </p:nvSpPr>
        <p:spPr>
          <a:xfrm>
            <a:off x="4998568" y="4114800"/>
            <a:ext cx="2194560" cy="0"/>
          </a:xfrm>
          <a:prstGeom prst="line">
            <a:avLst/>
          </a:prstGeom>
          <a:noFill/>
          <a:ln w="12700">
            <a:solidFill>
              <a:srgbClr val="D5DAE1"/>
            </a:solidFill>
            <a:prstDash val="solid"/>
          </a:ln>
        </p:spPr>
      </p:sp>
      <p:sp>
        <p:nvSpPr>
          <p:cNvPr id="9" name="Text 6"/>
          <p:cNvSpPr/>
          <p:nvPr/>
        </p:nvSpPr>
        <p:spPr>
          <a:xfrm>
            <a:off x="1463040" y="4297680"/>
            <a:ext cx="4206240" cy="1280160"/>
          </a:xfrm>
          <a:prstGeom prst="rect">
            <a:avLst/>
          </a:prstGeom>
          <a:noFill/>
          <a:ln/>
        </p:spPr>
        <p:txBody>
          <a:bodyPr wrap="square" rtlCol="0" anchor="t"/>
          <a:lstStyle/>
          <a:p>
            <a:pPr algn="ctr" indent="0" marL="0">
              <a:spcAft>
                <a:spcPts val="400"/>
              </a:spcAft>
              <a:buNone/>
            </a:pPr>
            <a:r>
              <a:rPr lang="en-US" sz="1500" dirty="0">
                <a:solidFill>
                  <a:srgbClr val="14213D"/>
                </a:solidFill>
                <a:latin typeface="Georgia" pitchFamily="34" charset="0"/>
                <a:ea typeface="Georgia" pitchFamily="34" charset="-122"/>
                <a:cs typeface="Georgia" pitchFamily="34" charset="-120"/>
              </a:rPr>
              <a:t>Submitted by</a:t>
            </a:r>
            <a:endParaRPr lang="en-US" sz="1500" dirty="0"/>
          </a:p>
          <a:p>
            <a:pPr algn="ctr" indent="0" marL="0">
              <a:buNone/>
            </a:pPr>
            <a:r>
              <a:rPr lang="en-US" sz="1500" dirty="0">
                <a:solidFill>
                  <a:srgbClr val="26303F"/>
                </a:solidFill>
                <a:latin typeface="Calibri" pitchFamily="34" charset="0"/>
                <a:ea typeface="Calibri" pitchFamily="34" charset="-122"/>
                <a:cs typeface="Calibri" pitchFamily="34" charset="-120"/>
              </a:rPr>
              <a:t>Subham Bhandari (6-2-355-29-2021)</a:t>
            </a:r>
            <a:endParaRPr lang="en-US" sz="1500" dirty="0"/>
          </a:p>
          <a:p>
            <a:pPr algn="ctr" indent="0" marL="0">
              <a:buNone/>
            </a:pPr>
            <a:r>
              <a:rPr lang="en-US" sz="1500" dirty="0">
                <a:solidFill>
                  <a:srgbClr val="26303F"/>
                </a:solidFill>
                <a:latin typeface="Calibri" pitchFamily="34" charset="0"/>
                <a:ea typeface="Calibri" pitchFamily="34" charset="-122"/>
                <a:cs typeface="Calibri" pitchFamily="34" charset="-120"/>
              </a:rPr>
              <a:t>Utsav Karki (6-2-355-33-2021)</a:t>
            </a:r>
            <a:endParaRPr lang="en-US" sz="1500" dirty="0"/>
          </a:p>
          <a:p>
            <a:pPr algn="ctr" indent="0" marL="0">
              <a:buNone/>
            </a:pPr>
            <a:r>
              <a:rPr lang="en-US" sz="1500" dirty="0">
                <a:solidFill>
                  <a:srgbClr val="26303F"/>
                </a:solidFill>
                <a:latin typeface="Calibri" pitchFamily="34" charset="0"/>
                <a:ea typeface="Calibri" pitchFamily="34" charset="-122"/>
                <a:cs typeface="Calibri" pitchFamily="34" charset="-120"/>
              </a:rPr>
              <a:t>BCA 8th Semester, IV Year</a:t>
            </a:r>
            <a:endParaRPr lang="en-US" sz="1500" dirty="0"/>
          </a:p>
        </p:txBody>
      </p:sp>
      <p:sp>
        <p:nvSpPr>
          <p:cNvPr id="10" name="Text 7"/>
          <p:cNvSpPr/>
          <p:nvPr/>
        </p:nvSpPr>
        <p:spPr>
          <a:xfrm>
            <a:off x="6492240" y="4297680"/>
            <a:ext cx="4206240" cy="1280160"/>
          </a:xfrm>
          <a:prstGeom prst="rect">
            <a:avLst/>
          </a:prstGeom>
          <a:noFill/>
          <a:ln/>
        </p:spPr>
        <p:txBody>
          <a:bodyPr wrap="square" rtlCol="0" anchor="t"/>
          <a:lstStyle/>
          <a:p>
            <a:pPr algn="ctr" indent="0" marL="0">
              <a:spcAft>
                <a:spcPts val="400"/>
              </a:spcAft>
              <a:buNone/>
            </a:pPr>
            <a:r>
              <a:rPr lang="en-US" sz="1500" dirty="0">
                <a:solidFill>
                  <a:srgbClr val="14213D"/>
                </a:solidFill>
                <a:latin typeface="Georgia" pitchFamily="34" charset="0"/>
                <a:ea typeface="Georgia" pitchFamily="34" charset="-122"/>
                <a:cs typeface="Georgia" pitchFamily="34" charset="-120"/>
              </a:rPr>
              <a:t>Under the supervision of</a:t>
            </a:r>
            <a:endParaRPr lang="en-US" sz="1500" dirty="0"/>
          </a:p>
          <a:p>
            <a:pPr algn="ctr" indent="0" marL="0">
              <a:buNone/>
            </a:pPr>
            <a:r>
              <a:rPr lang="en-US" sz="1500" dirty="0">
                <a:solidFill>
                  <a:srgbClr val="26303F"/>
                </a:solidFill>
                <a:latin typeface="Calibri" pitchFamily="34" charset="0"/>
                <a:ea typeface="Calibri" pitchFamily="34" charset="-122"/>
                <a:cs typeface="Calibri" pitchFamily="34" charset="-120"/>
              </a:rPr>
              <a:t>Mr. Kamal Pathak</a:t>
            </a:r>
            <a:endParaRPr lang="en-US" sz="1500" dirty="0"/>
          </a:p>
          <a:p>
            <a:pPr algn="ctr" indent="0" marL="0">
              <a:buNone/>
            </a:pPr>
            <a:r>
              <a:rPr lang="en-US" sz="1500" dirty="0">
                <a:solidFill>
                  <a:srgbClr val="26303F"/>
                </a:solidFill>
                <a:latin typeface="Calibri" pitchFamily="34" charset="0"/>
                <a:ea typeface="Calibri" pitchFamily="34" charset="-122"/>
                <a:cs typeface="Calibri" pitchFamily="34" charset="-120"/>
              </a:rPr>
              <a:t>Department of BCA</a:t>
            </a:r>
            <a:endParaRPr lang="en-US" sz="1500" dirty="0"/>
          </a:p>
        </p:txBody>
      </p:sp>
      <p:sp>
        <p:nvSpPr>
          <p:cNvPr id="11" name="Text 8"/>
          <p:cNvSpPr/>
          <p:nvPr/>
        </p:nvSpPr>
        <p:spPr>
          <a:xfrm>
            <a:off x="0" y="6035040"/>
            <a:ext cx="12191695" cy="320040"/>
          </a:xfrm>
          <a:prstGeom prst="rect">
            <a:avLst/>
          </a:prstGeom>
          <a:noFill/>
          <a:ln/>
        </p:spPr>
        <p:txBody>
          <a:bodyPr wrap="square" rtlCol="0" anchor="ctr"/>
          <a:lstStyle/>
          <a:p>
            <a:pPr algn="ctr" indent="0" marL="0">
              <a:buNone/>
            </a:pPr>
            <a:r>
              <a:rPr lang="en-US" sz="1300" dirty="0">
                <a:solidFill>
                  <a:srgbClr val="66707F"/>
                </a:solidFill>
                <a:latin typeface="Calibri" pitchFamily="34" charset="0"/>
                <a:ea typeface="Calibri" pitchFamily="34" charset="-122"/>
                <a:cs typeface="Calibri" pitchFamily="34" charset="-120"/>
              </a:rPr>
              <a:t>Department of BCA, Everest College, Thapathali, Kathmandu  |  CACS452 Project III</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64240" cy="640080"/>
          </a:xfrm>
          <a:prstGeom prst="rect">
            <a:avLst/>
          </a:prstGeom>
          <a:noFill/>
          <a:ln/>
        </p:spPr>
        <p:txBody>
          <a:bodyPr wrap="square" lIns="0" tIns="0" rIns="0" bIns="0" rtlCol="0" anchor="b"/>
          <a:lstStyle/>
          <a:p>
            <a:pPr indent="0" marL="0">
              <a:buNone/>
            </a:pPr>
            <a:r>
              <a:rPr lang="en-US" sz="2800" dirty="0">
                <a:solidFill>
                  <a:srgbClr val="14213D"/>
                </a:solidFill>
                <a:latin typeface="Georgia" pitchFamily="34" charset="0"/>
                <a:ea typeface="Georgia" pitchFamily="34" charset="-122"/>
                <a:cs typeface="Georgia" pitchFamily="34" charset="-120"/>
              </a:rPr>
              <a:t>Introduction</a:t>
            </a:r>
            <a:endParaRPr lang="en-US" sz="2800" dirty="0"/>
          </a:p>
        </p:txBody>
      </p:sp>
      <p:sp>
        <p:nvSpPr>
          <p:cNvPr id="3" name="Shape 1"/>
          <p:cNvSpPr/>
          <p:nvPr/>
        </p:nvSpPr>
        <p:spPr>
          <a:xfrm>
            <a:off x="548640" y="1060704"/>
            <a:ext cx="822960" cy="45720"/>
          </a:xfrm>
          <a:prstGeom prst="rect">
            <a:avLst/>
          </a:prstGeom>
          <a:solidFill>
            <a:srgbClr val="1F5FAD"/>
          </a:solidFill>
          <a:ln w="12700">
            <a:solidFill>
              <a:srgbClr val="1F5FAD"/>
            </a:solidFill>
            <a:prstDash val="solid"/>
          </a:ln>
        </p:spPr>
      </p:sp>
      <p:sp>
        <p:nvSpPr>
          <p:cNvPr id="4" name="Shape 2"/>
          <p:cNvSpPr/>
          <p:nvPr/>
        </p:nvSpPr>
        <p:spPr>
          <a:xfrm>
            <a:off x="548640" y="6382512"/>
            <a:ext cx="11091672" cy="0"/>
          </a:xfrm>
          <a:prstGeom prst="line">
            <a:avLst/>
          </a:prstGeom>
          <a:noFill/>
          <a:ln w="9525">
            <a:solidFill>
              <a:srgbClr val="D5DAE1"/>
            </a:solidFill>
            <a:prstDash val="solid"/>
          </a:ln>
        </p:spPr>
      </p:sp>
      <p:sp>
        <p:nvSpPr>
          <p:cNvPr id="5" name="Text 3"/>
          <p:cNvSpPr/>
          <p:nvPr/>
        </p:nvSpPr>
        <p:spPr>
          <a:xfrm>
            <a:off x="548640" y="6428232"/>
            <a:ext cx="3657600" cy="274320"/>
          </a:xfrm>
          <a:prstGeom prst="rect">
            <a:avLst/>
          </a:prstGeom>
          <a:noFill/>
          <a:ln/>
        </p:spPr>
        <p:txBody>
          <a:bodyPr wrap="square" lIns="0" tIns="0" rIns="0" bIns="0" rtlCol="0" anchor="ctr"/>
          <a:lstStyle/>
          <a:p>
            <a:pPr indent="0" marL="0">
              <a:buNone/>
            </a:pPr>
            <a:r>
              <a:rPr lang="en-US" sz="1050" dirty="0">
                <a:solidFill>
                  <a:srgbClr val="66707F"/>
                </a:solidFill>
                <a:latin typeface="Georgia" pitchFamily="34" charset="0"/>
                <a:ea typeface="Georgia" pitchFamily="34" charset="-122"/>
                <a:cs typeface="Georgia" pitchFamily="34" charset="-120"/>
              </a:rPr>
              <a:t>Smart Helpdesk</a:t>
            </a:r>
            <a:endParaRPr lang="en-US" sz="1050" dirty="0"/>
          </a:p>
        </p:txBody>
      </p:sp>
      <p:sp>
        <p:nvSpPr>
          <p:cNvPr id="6" name="Text 4"/>
          <p:cNvSpPr/>
          <p:nvPr/>
        </p:nvSpPr>
        <p:spPr>
          <a:xfrm>
            <a:off x="5669280" y="6428232"/>
            <a:ext cx="5971032" cy="274320"/>
          </a:xfrm>
          <a:prstGeom prst="rect">
            <a:avLst/>
          </a:prstGeom>
          <a:noFill/>
          <a:ln/>
        </p:spPr>
        <p:txBody>
          <a:bodyPr wrap="square" lIns="0" tIns="0" rIns="0" bIns="0" rtlCol="0" anchor="ctr"/>
          <a:lstStyle/>
          <a:p>
            <a:pPr algn="r" indent="0" marL="0">
              <a:buNone/>
            </a:pPr>
            <a:r>
              <a:rPr lang="en-US" sz="1050" dirty="0">
                <a:solidFill>
                  <a:srgbClr val="66707F"/>
                </a:solidFill>
                <a:latin typeface="Calibri" pitchFamily="34" charset="0"/>
                <a:ea typeface="Calibri" pitchFamily="34" charset="-122"/>
                <a:cs typeface="Calibri" pitchFamily="34" charset="-120"/>
              </a:rPr>
              <a:t>Chapter 1: Introduction      1 / 13</a:t>
            </a:r>
            <a:endParaRPr lang="en-US" sz="1050" dirty="0"/>
          </a:p>
        </p:txBody>
      </p:sp>
      <p:sp>
        <p:nvSpPr>
          <p:cNvPr id="8" name="Text 5"/>
          <p:cNvSpPr/>
          <p:nvPr/>
        </p:nvSpPr>
        <p:spPr>
          <a:xfrm>
            <a:off x="548640" y="1371600"/>
            <a:ext cx="5760720" cy="1143000"/>
          </a:xfrm>
          <a:prstGeom prst="rect">
            <a:avLst/>
          </a:prstGeom>
          <a:noFill/>
          <a:ln/>
        </p:spPr>
        <p:txBody>
          <a:bodyPr wrap="square" lIns="0" tIns="0" rIns="0" bIns="0" rtlCol="0" anchor="t"/>
          <a:lstStyle/>
          <a:p>
            <a:pPr indent="0" marL="0">
              <a:lnSpc>
                <a:spcPct val="105000"/>
              </a:lnSpc>
              <a:buNone/>
            </a:pPr>
            <a:r>
              <a:rPr lang="en-US" sz="1600" i="1" dirty="0">
                <a:solidFill>
                  <a:srgbClr val="66707F"/>
                </a:solidFill>
                <a:latin typeface="Calibri" pitchFamily="34" charset="0"/>
                <a:ea typeface="Calibri" pitchFamily="34" charset="-122"/>
                <a:cs typeface="Calibri" pitchFamily="34" charset="-120"/>
              </a:rPr>
              <a:t>Every organisation receives requests: a login that fails, an invoice that is wrong, a server that is down. A helpdesk turns them into tickets that can be prioritised, assigned, tracked against a promised response time and closed.</a:t>
            </a:r>
            <a:endParaRPr lang="en-US" sz="1600" dirty="0"/>
          </a:p>
        </p:txBody>
      </p:sp>
      <p:sp>
        <p:nvSpPr>
          <p:cNvPr id="9" name="Text 6"/>
          <p:cNvSpPr/>
          <p:nvPr/>
        </p:nvSpPr>
        <p:spPr>
          <a:xfrm>
            <a:off x="548640" y="2606040"/>
            <a:ext cx="5760720" cy="3657600"/>
          </a:xfrm>
          <a:prstGeom prst="rect">
            <a:avLst/>
          </a:prstGeom>
          <a:noFill/>
          <a:ln/>
        </p:spPr>
        <p:txBody>
          <a:bodyPr wrap="square" lIns="25400" tIns="25400" rIns="25400" bIns="25400" rtlCol="0" anchor="t"/>
          <a:lstStyle/>
          <a:p>
            <a:pPr marL="190500" indent="-190500">
              <a:lnSpc>
                <a:spcPct val="105000"/>
              </a:lnSpc>
              <a:spcAft>
                <a:spcPts val="800"/>
              </a:spcAft>
              <a:buSzPct val="100000"/>
              <a:buChar char="•"/>
            </a:pPr>
            <a:r>
              <a:rPr lang="en-US" sz="1500" dirty="0">
                <a:solidFill>
                  <a:srgbClr val="26303F"/>
                </a:solidFill>
                <a:latin typeface="Calibri" pitchFamily="34" charset="0"/>
                <a:ea typeface="Calibri" pitchFamily="34" charset="-122"/>
                <a:cs typeface="Calibri" pitchFamily="34" charset="-120"/>
              </a:rPr>
              <a:t>Smart Helpdesk is a web-based ticket management system for small and medium support teams.</a:t>
            </a:r>
            <a:endParaRPr lang="en-US" sz="1500" dirty="0"/>
          </a:p>
          <a:p>
            <a:pPr marL="190500" indent="-190500">
              <a:lnSpc>
                <a:spcPct val="105000"/>
              </a:lnSpc>
              <a:spcAft>
                <a:spcPts val="800"/>
              </a:spcAft>
              <a:buSzPct val="100000"/>
              <a:buChar char="•"/>
            </a:pPr>
            <a:r>
              <a:rPr lang="en-US" sz="1500" dirty="0">
                <a:solidFill>
                  <a:srgbClr val="26303F"/>
                </a:solidFill>
                <a:latin typeface="Calibri" pitchFamily="34" charset="0"/>
                <a:ea typeface="Calibri" pitchFamily="34" charset="-122"/>
                <a:cs typeface="Calibri" pitchFamily="34" charset="-120"/>
              </a:rPr>
              <a:t>One installation serves many independent organisations (tenants), each with its own users, agents, customers, tickets and settings.</a:t>
            </a:r>
            <a:endParaRPr lang="en-US" sz="1500" dirty="0"/>
          </a:p>
          <a:p>
            <a:pPr marL="190500" indent="-190500">
              <a:lnSpc>
                <a:spcPct val="105000"/>
              </a:lnSpc>
              <a:spcAft>
                <a:spcPts val="800"/>
              </a:spcAft>
              <a:buSzPct val="100000"/>
              <a:buChar char="•"/>
            </a:pPr>
            <a:r>
              <a:rPr lang="en-US" sz="1500" dirty="0">
                <a:solidFill>
                  <a:srgbClr val="26303F"/>
                </a:solidFill>
                <a:latin typeface="Calibri" pitchFamily="34" charset="0"/>
                <a:ea typeface="Calibri" pitchFamily="34" charset="-122"/>
                <a:cs typeface="Calibri" pitchFamily="34" charset="-120"/>
              </a:rPr>
              <a:t>It decides four things on its own and explains each decision: how urgent a ticket is, who should handle it, whether it repeats another ticket, and whether its SLA is at risk.</a:t>
            </a:r>
            <a:endParaRPr lang="en-US" sz="1500" dirty="0"/>
          </a:p>
          <a:p>
            <a:pPr marL="190500" indent="-190500">
              <a:lnSpc>
                <a:spcPct val="105000"/>
              </a:lnSpc>
              <a:spcAft>
                <a:spcPts val="800"/>
              </a:spcAft>
              <a:buSzPct val="100000"/>
              <a:buChar char="•"/>
            </a:pPr>
            <a:r>
              <a:rPr lang="en-US" sz="1500" dirty="0">
                <a:solidFill>
                  <a:srgbClr val="26303F"/>
                </a:solidFill>
                <a:latin typeface="Calibri" pitchFamily="34" charset="0"/>
                <a:ea typeface="Calibri" pitchFamily="34" charset="-122"/>
                <a:cs typeface="Calibri" pitchFamily="34" charset="-120"/>
              </a:rPr>
              <a:t>It also keeps the history of every record, reports, email notifications, email-to-ticket, a REST API and webhooks.</a:t>
            </a:r>
            <a:endParaRPr lang="en-US" sz="1500" dirty="0"/>
          </a:p>
          <a:p>
            <a:pPr marL="190500" indent="-190500">
              <a:lnSpc>
                <a:spcPct val="105000"/>
              </a:lnSpc>
              <a:spcAft>
                <a:spcPts val="800"/>
              </a:spcAft>
              <a:buSzPct val="100000"/>
              <a:buChar char="•"/>
            </a:pPr>
            <a:r>
              <a:rPr lang="en-US" sz="1500" dirty="0">
                <a:solidFill>
                  <a:srgbClr val="26303F"/>
                </a:solidFill>
                <a:latin typeface="Calibri" pitchFamily="34" charset="0"/>
                <a:ea typeface="Calibri" pitchFamily="34" charset="-122"/>
                <a:cs typeface="Calibri" pitchFamily="34" charset="-120"/>
              </a:rPr>
              <a:t>Built with Laravel, React and PostgreSQL, and deployed with Docker.</a:t>
            </a:r>
            <a:endParaRPr lang="en-US" sz="1500" dirty="0"/>
          </a:p>
        </p:txBody>
      </p:sp>
      <p:sp>
        <p:nvSpPr>
          <p:cNvPr id="10" name="Shape 7"/>
          <p:cNvSpPr/>
          <p:nvPr/>
        </p:nvSpPr>
        <p:spPr>
          <a:xfrm>
            <a:off x="6638544" y="2069402"/>
            <a:ext cx="5038344" cy="3176397"/>
          </a:xfrm>
          <a:prstGeom prst="rect">
            <a:avLst/>
          </a:prstGeom>
          <a:solidFill>
            <a:srgbClr val="FFFFFF"/>
          </a:solidFill>
          <a:ln w="9525">
            <a:solidFill>
              <a:srgbClr val="D5DAE1"/>
            </a:solidFill>
            <a:prstDash val="solid"/>
          </a:ln>
        </p:spPr>
      </p:sp>
      <p:pic>
        <p:nvPicPr>
          <p:cNvPr id="11" name="Image 0" descr="/home/subham/Projects/college/fyp/smart-helpdesk/report/university/figures/app-landing.png">    </p:cNvPr>
          <p:cNvPicPr>
            <a:picLocks noChangeAspect="1"/>
          </p:cNvPicPr>
          <p:nvPr/>
        </p:nvPicPr>
        <p:blipFill>
          <a:blip r:embed="rId1"/>
          <a:stretch>
            <a:fillRect/>
          </a:stretch>
        </p:blipFill>
        <p:spPr>
          <a:xfrm>
            <a:off x="6675120" y="2105978"/>
            <a:ext cx="4965192" cy="3103245"/>
          </a:xfrm>
          <a:prstGeom prst="rect">
            <a:avLst/>
          </a:prstGeom>
        </p:spPr>
      </p:pic>
      <p:sp>
        <p:nvSpPr>
          <p:cNvPr id="12" name="Text 8"/>
          <p:cNvSpPr/>
          <p:nvPr/>
        </p:nvSpPr>
        <p:spPr>
          <a:xfrm>
            <a:off x="6675120" y="5318951"/>
            <a:ext cx="4965192" cy="274320"/>
          </a:xfrm>
          <a:prstGeom prst="rect">
            <a:avLst/>
          </a:prstGeom>
          <a:noFill/>
          <a:ln/>
        </p:spPr>
        <p:txBody>
          <a:bodyPr wrap="square" lIns="0" tIns="0" rIns="0" bIns="0" rtlCol="0" anchor="ctr"/>
          <a:lstStyle/>
          <a:p>
            <a:pPr algn="ctr" indent="0" marL="0">
              <a:buNone/>
            </a:pPr>
            <a:r>
              <a:rPr lang="en-US" sz="1100" i="1" dirty="0">
                <a:solidFill>
                  <a:srgbClr val="66707F"/>
                </a:solidFill>
                <a:latin typeface="Calibri" pitchFamily="34" charset="0"/>
                <a:ea typeface="Calibri" pitchFamily="34" charset="-122"/>
                <a:cs typeface="Calibri" pitchFamily="34" charset="-120"/>
              </a:rPr>
              <a:t>Landing page of Smart Helpdesk</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64240" cy="640080"/>
          </a:xfrm>
          <a:prstGeom prst="rect">
            <a:avLst/>
          </a:prstGeom>
          <a:noFill/>
          <a:ln/>
        </p:spPr>
        <p:txBody>
          <a:bodyPr wrap="square" lIns="0" tIns="0" rIns="0" bIns="0" rtlCol="0" anchor="b"/>
          <a:lstStyle/>
          <a:p>
            <a:pPr indent="0" marL="0">
              <a:buNone/>
            </a:pPr>
            <a:r>
              <a:rPr lang="en-US" sz="2800" dirty="0">
                <a:solidFill>
                  <a:srgbClr val="14213D"/>
                </a:solidFill>
                <a:latin typeface="Georgia" pitchFamily="34" charset="0"/>
                <a:ea typeface="Georgia" pitchFamily="34" charset="-122"/>
                <a:cs typeface="Georgia" pitchFamily="34" charset="-120"/>
              </a:rPr>
              <a:t>Problem Statement</a:t>
            </a:r>
            <a:endParaRPr lang="en-US" sz="2800" dirty="0"/>
          </a:p>
        </p:txBody>
      </p:sp>
      <p:sp>
        <p:nvSpPr>
          <p:cNvPr id="3" name="Shape 1"/>
          <p:cNvSpPr/>
          <p:nvPr/>
        </p:nvSpPr>
        <p:spPr>
          <a:xfrm>
            <a:off x="548640" y="1060704"/>
            <a:ext cx="822960" cy="45720"/>
          </a:xfrm>
          <a:prstGeom prst="rect">
            <a:avLst/>
          </a:prstGeom>
          <a:solidFill>
            <a:srgbClr val="1F5FAD"/>
          </a:solidFill>
          <a:ln w="12700">
            <a:solidFill>
              <a:srgbClr val="1F5FAD"/>
            </a:solidFill>
            <a:prstDash val="solid"/>
          </a:ln>
        </p:spPr>
      </p:sp>
      <p:sp>
        <p:nvSpPr>
          <p:cNvPr id="4" name="Shape 2"/>
          <p:cNvSpPr/>
          <p:nvPr/>
        </p:nvSpPr>
        <p:spPr>
          <a:xfrm>
            <a:off x="548640" y="6382512"/>
            <a:ext cx="11091672" cy="0"/>
          </a:xfrm>
          <a:prstGeom prst="line">
            <a:avLst/>
          </a:prstGeom>
          <a:noFill/>
          <a:ln w="9525">
            <a:solidFill>
              <a:srgbClr val="D5DAE1"/>
            </a:solidFill>
            <a:prstDash val="solid"/>
          </a:ln>
        </p:spPr>
      </p:sp>
      <p:sp>
        <p:nvSpPr>
          <p:cNvPr id="5" name="Text 3"/>
          <p:cNvSpPr/>
          <p:nvPr/>
        </p:nvSpPr>
        <p:spPr>
          <a:xfrm>
            <a:off x="548640" y="6428232"/>
            <a:ext cx="3657600" cy="274320"/>
          </a:xfrm>
          <a:prstGeom prst="rect">
            <a:avLst/>
          </a:prstGeom>
          <a:noFill/>
          <a:ln/>
        </p:spPr>
        <p:txBody>
          <a:bodyPr wrap="square" lIns="0" tIns="0" rIns="0" bIns="0" rtlCol="0" anchor="ctr"/>
          <a:lstStyle/>
          <a:p>
            <a:pPr indent="0" marL="0">
              <a:buNone/>
            </a:pPr>
            <a:r>
              <a:rPr lang="en-US" sz="1050" dirty="0">
                <a:solidFill>
                  <a:srgbClr val="66707F"/>
                </a:solidFill>
                <a:latin typeface="Georgia" pitchFamily="34" charset="0"/>
                <a:ea typeface="Georgia" pitchFamily="34" charset="-122"/>
                <a:cs typeface="Georgia" pitchFamily="34" charset="-120"/>
              </a:rPr>
              <a:t>Smart Helpdesk</a:t>
            </a:r>
            <a:endParaRPr lang="en-US" sz="1050" dirty="0"/>
          </a:p>
        </p:txBody>
      </p:sp>
      <p:sp>
        <p:nvSpPr>
          <p:cNvPr id="6" name="Text 4"/>
          <p:cNvSpPr/>
          <p:nvPr/>
        </p:nvSpPr>
        <p:spPr>
          <a:xfrm>
            <a:off x="5669280" y="6428232"/>
            <a:ext cx="5971032" cy="274320"/>
          </a:xfrm>
          <a:prstGeom prst="rect">
            <a:avLst/>
          </a:prstGeom>
          <a:noFill/>
          <a:ln/>
        </p:spPr>
        <p:txBody>
          <a:bodyPr wrap="square" lIns="0" tIns="0" rIns="0" bIns="0" rtlCol="0" anchor="ctr"/>
          <a:lstStyle/>
          <a:p>
            <a:pPr algn="r" indent="0" marL="0">
              <a:buNone/>
            </a:pPr>
            <a:r>
              <a:rPr lang="en-US" sz="1050" dirty="0">
                <a:solidFill>
                  <a:srgbClr val="66707F"/>
                </a:solidFill>
                <a:latin typeface="Calibri" pitchFamily="34" charset="0"/>
                <a:ea typeface="Calibri" pitchFamily="34" charset="-122"/>
                <a:cs typeface="Calibri" pitchFamily="34" charset="-120"/>
              </a:rPr>
              <a:t>Chapter 1: Introduction      2 / 13</a:t>
            </a:r>
            <a:endParaRPr lang="en-US" sz="1050" dirty="0"/>
          </a:p>
        </p:txBody>
      </p:sp>
      <p:sp>
        <p:nvSpPr>
          <p:cNvPr id="8" name="Text 5"/>
          <p:cNvSpPr/>
          <p:nvPr/>
        </p:nvSpPr>
        <p:spPr>
          <a:xfrm>
            <a:off x="548640" y="1417320"/>
            <a:ext cx="548640" cy="640080"/>
          </a:xfrm>
          <a:prstGeom prst="rect">
            <a:avLst/>
          </a:prstGeom>
          <a:noFill/>
          <a:ln/>
        </p:spPr>
        <p:txBody>
          <a:bodyPr wrap="square" lIns="0" tIns="0" rIns="0" bIns="0" rtlCol="0" anchor="t"/>
          <a:lstStyle/>
          <a:p>
            <a:pPr indent="0" marL="0">
              <a:buNone/>
            </a:pPr>
            <a:r>
              <a:rPr lang="en-US" sz="3400" dirty="0">
                <a:solidFill>
                  <a:srgbClr val="1F5FAD"/>
                </a:solidFill>
                <a:latin typeface="Georgia" pitchFamily="34" charset="0"/>
                <a:ea typeface="Georgia" pitchFamily="34" charset="-122"/>
                <a:cs typeface="Georgia" pitchFamily="34" charset="-120"/>
              </a:rPr>
              <a:t>1</a:t>
            </a:r>
            <a:endParaRPr lang="en-US" sz="3400" dirty="0"/>
          </a:p>
        </p:txBody>
      </p:sp>
      <p:sp>
        <p:nvSpPr>
          <p:cNvPr id="9" name="Text 6"/>
          <p:cNvSpPr/>
          <p:nvPr/>
        </p:nvSpPr>
        <p:spPr>
          <a:xfrm>
            <a:off x="1188720" y="1463040"/>
            <a:ext cx="4754880" cy="1371600"/>
          </a:xfrm>
          <a:prstGeom prst="rect">
            <a:avLst/>
          </a:prstGeom>
          <a:noFill/>
          <a:ln/>
        </p:spPr>
        <p:txBody>
          <a:bodyPr wrap="square" lIns="0" tIns="0" rIns="0" bIns="0" rtlCol="0" anchor="t"/>
          <a:lstStyle/>
          <a:p>
            <a:pPr indent="0" marL="0">
              <a:lnSpc>
                <a:spcPct val="105000"/>
              </a:lnSpc>
              <a:spcAft>
                <a:spcPts val="400"/>
              </a:spcAft>
              <a:buNone/>
            </a:pPr>
            <a:r>
              <a:rPr lang="en-US" sz="1900" dirty="0">
                <a:solidFill>
                  <a:srgbClr val="14213D"/>
                </a:solidFill>
                <a:latin typeface="Georgia" pitchFamily="34" charset="0"/>
                <a:ea typeface="Georgia" pitchFamily="34" charset="-122"/>
                <a:cs typeface="Georgia" pitchFamily="34" charset="-120"/>
              </a:rPr>
              <a:t>Inconsistent prioritisation</a:t>
            </a:r>
            <a:endParaRPr lang="en-US" sz="1900" dirty="0"/>
          </a:p>
          <a:p>
            <a:pPr indent="0" marL="0">
              <a:lnSpc>
                <a:spcPct val="105000"/>
              </a:lnSpc>
              <a:buNone/>
            </a:pPr>
            <a:r>
              <a:rPr lang="en-US" sz="1600" dirty="0">
                <a:solidFill>
                  <a:srgbClr val="26303F"/>
                </a:solidFill>
                <a:latin typeface="Calibri" pitchFamily="34" charset="0"/>
                <a:ea typeface="Calibri" pitchFamily="34" charset="-122"/>
                <a:cs typeface="Calibri" pitchFamily="34" charset="-120"/>
              </a:rPr>
              <a:t>Priority is chosen by whoever creates the ticket, and a ticket does not become more urgent while it waits.</a:t>
            </a:r>
            <a:endParaRPr lang="en-US" sz="1900" dirty="0"/>
          </a:p>
        </p:txBody>
      </p:sp>
      <p:sp>
        <p:nvSpPr>
          <p:cNvPr id="10" name="Text 7"/>
          <p:cNvSpPr/>
          <p:nvPr/>
        </p:nvSpPr>
        <p:spPr>
          <a:xfrm>
            <a:off x="6263640" y="1417320"/>
            <a:ext cx="548640" cy="640080"/>
          </a:xfrm>
          <a:prstGeom prst="rect">
            <a:avLst/>
          </a:prstGeom>
          <a:noFill/>
          <a:ln/>
        </p:spPr>
        <p:txBody>
          <a:bodyPr wrap="square" lIns="0" tIns="0" rIns="0" bIns="0" rtlCol="0" anchor="t"/>
          <a:lstStyle/>
          <a:p>
            <a:pPr indent="0" marL="0">
              <a:buNone/>
            </a:pPr>
            <a:r>
              <a:rPr lang="en-US" sz="3400" dirty="0">
                <a:solidFill>
                  <a:srgbClr val="1F5FAD"/>
                </a:solidFill>
                <a:latin typeface="Georgia" pitchFamily="34" charset="0"/>
                <a:ea typeface="Georgia" pitchFamily="34" charset="-122"/>
                <a:cs typeface="Georgia" pitchFamily="34" charset="-120"/>
              </a:rPr>
              <a:t>2</a:t>
            </a:r>
            <a:endParaRPr lang="en-US" sz="3400" dirty="0"/>
          </a:p>
        </p:txBody>
      </p:sp>
      <p:sp>
        <p:nvSpPr>
          <p:cNvPr id="11" name="Text 8"/>
          <p:cNvSpPr/>
          <p:nvPr/>
        </p:nvSpPr>
        <p:spPr>
          <a:xfrm>
            <a:off x="6903720" y="1463040"/>
            <a:ext cx="4754880" cy="1371600"/>
          </a:xfrm>
          <a:prstGeom prst="rect">
            <a:avLst/>
          </a:prstGeom>
          <a:noFill/>
          <a:ln/>
        </p:spPr>
        <p:txBody>
          <a:bodyPr wrap="square" lIns="0" tIns="0" rIns="0" bIns="0" rtlCol="0" anchor="t"/>
          <a:lstStyle/>
          <a:p>
            <a:pPr indent="0" marL="0">
              <a:lnSpc>
                <a:spcPct val="105000"/>
              </a:lnSpc>
              <a:spcAft>
                <a:spcPts val="400"/>
              </a:spcAft>
              <a:buNone/>
            </a:pPr>
            <a:r>
              <a:rPr lang="en-US" sz="1900" dirty="0">
                <a:solidFill>
                  <a:srgbClr val="14213D"/>
                </a:solidFill>
                <a:latin typeface="Georgia" pitchFamily="34" charset="0"/>
                <a:ea typeface="Georgia" pitchFamily="34" charset="-122"/>
                <a:cs typeface="Georgia" pitchFamily="34" charset="-120"/>
              </a:rPr>
              <a:t>Unbalanced assignment</a:t>
            </a:r>
            <a:endParaRPr lang="en-US" sz="1900" dirty="0"/>
          </a:p>
          <a:p>
            <a:pPr indent="0" marL="0">
              <a:lnSpc>
                <a:spcPct val="105000"/>
              </a:lnSpc>
              <a:buNone/>
            </a:pPr>
            <a:r>
              <a:rPr lang="en-US" sz="1600" dirty="0">
                <a:solidFill>
                  <a:srgbClr val="26303F"/>
                </a:solidFill>
                <a:latin typeface="Calibri" pitchFamily="34" charset="0"/>
                <a:ea typeface="Calibri" pitchFamily="34" charset="-122"/>
                <a:cs typeface="Calibri" pitchFamily="34" charset="-120"/>
              </a:rPr>
              <a:t>Tickets are assigned by hand or in rotation, so work piles up on experienced agents while skills and workload are ignored.</a:t>
            </a:r>
            <a:endParaRPr lang="en-US" sz="1900" dirty="0"/>
          </a:p>
        </p:txBody>
      </p:sp>
      <p:sp>
        <p:nvSpPr>
          <p:cNvPr id="12" name="Text 9"/>
          <p:cNvSpPr/>
          <p:nvPr/>
        </p:nvSpPr>
        <p:spPr>
          <a:xfrm>
            <a:off x="548640" y="2990088"/>
            <a:ext cx="548640" cy="640080"/>
          </a:xfrm>
          <a:prstGeom prst="rect">
            <a:avLst/>
          </a:prstGeom>
          <a:noFill/>
          <a:ln/>
        </p:spPr>
        <p:txBody>
          <a:bodyPr wrap="square" lIns="0" tIns="0" rIns="0" bIns="0" rtlCol="0" anchor="t"/>
          <a:lstStyle/>
          <a:p>
            <a:pPr indent="0" marL="0">
              <a:buNone/>
            </a:pPr>
            <a:r>
              <a:rPr lang="en-US" sz="3400" dirty="0">
                <a:solidFill>
                  <a:srgbClr val="1F5FAD"/>
                </a:solidFill>
                <a:latin typeface="Georgia" pitchFamily="34" charset="0"/>
                <a:ea typeface="Georgia" pitchFamily="34" charset="-122"/>
                <a:cs typeface="Georgia" pitchFamily="34" charset="-120"/>
              </a:rPr>
              <a:t>3</a:t>
            </a:r>
            <a:endParaRPr lang="en-US" sz="3400" dirty="0"/>
          </a:p>
        </p:txBody>
      </p:sp>
      <p:sp>
        <p:nvSpPr>
          <p:cNvPr id="13" name="Text 10"/>
          <p:cNvSpPr/>
          <p:nvPr/>
        </p:nvSpPr>
        <p:spPr>
          <a:xfrm>
            <a:off x="1188720" y="3035808"/>
            <a:ext cx="4754880" cy="1371600"/>
          </a:xfrm>
          <a:prstGeom prst="rect">
            <a:avLst/>
          </a:prstGeom>
          <a:noFill/>
          <a:ln/>
        </p:spPr>
        <p:txBody>
          <a:bodyPr wrap="square" lIns="0" tIns="0" rIns="0" bIns="0" rtlCol="0" anchor="t"/>
          <a:lstStyle/>
          <a:p>
            <a:pPr indent="0" marL="0">
              <a:lnSpc>
                <a:spcPct val="105000"/>
              </a:lnSpc>
              <a:spcAft>
                <a:spcPts val="400"/>
              </a:spcAft>
              <a:buNone/>
            </a:pPr>
            <a:r>
              <a:rPr lang="en-US" sz="1900" dirty="0">
                <a:solidFill>
                  <a:srgbClr val="14213D"/>
                </a:solidFill>
                <a:latin typeface="Georgia" pitchFamily="34" charset="0"/>
                <a:ea typeface="Georgia" pitchFamily="34" charset="-122"/>
                <a:cs typeface="Georgia" pitchFamily="34" charset="-120"/>
              </a:rPr>
              <a:t>Duplicate tickets</a:t>
            </a:r>
            <a:endParaRPr lang="en-US" sz="1900" dirty="0"/>
          </a:p>
          <a:p>
            <a:pPr indent="0" marL="0">
              <a:lnSpc>
                <a:spcPct val="105000"/>
              </a:lnSpc>
              <a:buNone/>
            </a:pPr>
            <a:r>
              <a:rPr lang="en-US" sz="1600" dirty="0">
                <a:solidFill>
                  <a:srgbClr val="26303F"/>
                </a:solidFill>
                <a:latin typeface="Calibri" pitchFamily="34" charset="0"/>
                <a:ea typeface="Calibri" pitchFamily="34" charset="-122"/>
                <a:cs typeface="Calibri" pitchFamily="34" charset="-120"/>
              </a:rPr>
              <a:t>One outage produces many tickets that describe the same problem in different words, and agents work on them in parallel.</a:t>
            </a:r>
            <a:endParaRPr lang="en-US" sz="1900" dirty="0"/>
          </a:p>
        </p:txBody>
      </p:sp>
      <p:sp>
        <p:nvSpPr>
          <p:cNvPr id="14" name="Text 11"/>
          <p:cNvSpPr/>
          <p:nvPr/>
        </p:nvSpPr>
        <p:spPr>
          <a:xfrm>
            <a:off x="6263640" y="2990088"/>
            <a:ext cx="548640" cy="640080"/>
          </a:xfrm>
          <a:prstGeom prst="rect">
            <a:avLst/>
          </a:prstGeom>
          <a:noFill/>
          <a:ln/>
        </p:spPr>
        <p:txBody>
          <a:bodyPr wrap="square" lIns="0" tIns="0" rIns="0" bIns="0" rtlCol="0" anchor="t"/>
          <a:lstStyle/>
          <a:p>
            <a:pPr indent="0" marL="0">
              <a:buNone/>
            </a:pPr>
            <a:r>
              <a:rPr lang="en-US" sz="3400" dirty="0">
                <a:solidFill>
                  <a:srgbClr val="1F5FAD"/>
                </a:solidFill>
                <a:latin typeface="Georgia" pitchFamily="34" charset="0"/>
                <a:ea typeface="Georgia" pitchFamily="34" charset="-122"/>
                <a:cs typeface="Georgia" pitchFamily="34" charset="-120"/>
              </a:rPr>
              <a:t>4</a:t>
            </a:r>
            <a:endParaRPr lang="en-US" sz="3400" dirty="0"/>
          </a:p>
        </p:txBody>
      </p:sp>
      <p:sp>
        <p:nvSpPr>
          <p:cNvPr id="15" name="Text 12"/>
          <p:cNvSpPr/>
          <p:nvPr/>
        </p:nvSpPr>
        <p:spPr>
          <a:xfrm>
            <a:off x="6903720" y="3035808"/>
            <a:ext cx="4754880" cy="1371600"/>
          </a:xfrm>
          <a:prstGeom prst="rect">
            <a:avLst/>
          </a:prstGeom>
          <a:noFill/>
          <a:ln/>
        </p:spPr>
        <p:txBody>
          <a:bodyPr wrap="square" lIns="0" tIns="0" rIns="0" bIns="0" rtlCol="0" anchor="t"/>
          <a:lstStyle/>
          <a:p>
            <a:pPr indent="0" marL="0">
              <a:lnSpc>
                <a:spcPct val="105000"/>
              </a:lnSpc>
              <a:spcAft>
                <a:spcPts val="400"/>
              </a:spcAft>
              <a:buNone/>
            </a:pPr>
            <a:r>
              <a:rPr lang="en-US" sz="1900" dirty="0">
                <a:solidFill>
                  <a:srgbClr val="14213D"/>
                </a:solidFill>
                <a:latin typeface="Georgia" pitchFamily="34" charset="0"/>
                <a:ea typeface="Georgia" pitchFamily="34" charset="-122"/>
                <a:cs typeface="Georgia" pitchFamily="34" charset="-120"/>
              </a:rPr>
              <a:t>Late SLA awareness</a:t>
            </a:r>
            <a:endParaRPr lang="en-US" sz="1900" dirty="0"/>
          </a:p>
          <a:p>
            <a:pPr indent="0" marL="0">
              <a:lnSpc>
                <a:spcPct val="105000"/>
              </a:lnSpc>
              <a:buNone/>
            </a:pPr>
            <a:r>
              <a:rPr lang="en-US" sz="1600" dirty="0">
                <a:solidFill>
                  <a:srgbClr val="26303F"/>
                </a:solidFill>
                <a:latin typeface="Calibri" pitchFamily="34" charset="0"/>
                <a:ea typeface="Calibri" pitchFamily="34" charset="-122"/>
                <a:cs typeface="Calibri" pitchFamily="34" charset="-120"/>
              </a:rPr>
              <a:t>Response and resolution targets are checked in reports after the fact instead of warning agents before a breach.</a:t>
            </a:r>
            <a:endParaRPr lang="en-US" sz="1900" dirty="0"/>
          </a:p>
        </p:txBody>
      </p:sp>
      <p:sp>
        <p:nvSpPr>
          <p:cNvPr id="16" name="Text 13"/>
          <p:cNvSpPr/>
          <p:nvPr/>
        </p:nvSpPr>
        <p:spPr>
          <a:xfrm>
            <a:off x="548640" y="4562856"/>
            <a:ext cx="548640" cy="640080"/>
          </a:xfrm>
          <a:prstGeom prst="rect">
            <a:avLst/>
          </a:prstGeom>
          <a:noFill/>
          <a:ln/>
        </p:spPr>
        <p:txBody>
          <a:bodyPr wrap="square" lIns="0" tIns="0" rIns="0" bIns="0" rtlCol="0" anchor="t"/>
          <a:lstStyle/>
          <a:p>
            <a:pPr indent="0" marL="0">
              <a:buNone/>
            </a:pPr>
            <a:r>
              <a:rPr lang="en-US" sz="3400" dirty="0">
                <a:solidFill>
                  <a:srgbClr val="1F5FAD"/>
                </a:solidFill>
                <a:latin typeface="Georgia" pitchFamily="34" charset="0"/>
                <a:ea typeface="Georgia" pitchFamily="34" charset="-122"/>
                <a:cs typeface="Georgia" pitchFamily="34" charset="-120"/>
              </a:rPr>
              <a:t>5</a:t>
            </a:r>
            <a:endParaRPr lang="en-US" sz="3400" dirty="0"/>
          </a:p>
        </p:txBody>
      </p:sp>
      <p:sp>
        <p:nvSpPr>
          <p:cNvPr id="17" name="Text 14"/>
          <p:cNvSpPr/>
          <p:nvPr/>
        </p:nvSpPr>
        <p:spPr>
          <a:xfrm>
            <a:off x="1188720" y="4608576"/>
            <a:ext cx="4754880" cy="1371600"/>
          </a:xfrm>
          <a:prstGeom prst="rect">
            <a:avLst/>
          </a:prstGeom>
          <a:noFill/>
          <a:ln/>
        </p:spPr>
        <p:txBody>
          <a:bodyPr wrap="square" lIns="0" tIns="0" rIns="0" bIns="0" rtlCol="0" anchor="t"/>
          <a:lstStyle/>
          <a:p>
            <a:pPr indent="0" marL="0">
              <a:lnSpc>
                <a:spcPct val="105000"/>
              </a:lnSpc>
              <a:spcAft>
                <a:spcPts val="400"/>
              </a:spcAft>
              <a:buNone/>
            </a:pPr>
            <a:r>
              <a:rPr lang="en-US" sz="1900" dirty="0">
                <a:solidFill>
                  <a:srgbClr val="14213D"/>
                </a:solidFill>
                <a:latin typeface="Georgia" pitchFamily="34" charset="0"/>
                <a:ea typeface="Georgia" pitchFamily="34" charset="-122"/>
                <a:cs typeface="Georgia" pitchFamily="34" charset="-120"/>
              </a:rPr>
              <a:t>Shallow reporting</a:t>
            </a:r>
            <a:endParaRPr lang="en-US" sz="1900" dirty="0"/>
          </a:p>
          <a:p>
            <a:pPr indent="0" marL="0">
              <a:lnSpc>
                <a:spcPct val="105000"/>
              </a:lnSpc>
              <a:buNone/>
            </a:pPr>
            <a:r>
              <a:rPr lang="en-US" sz="1600" dirty="0">
                <a:solidFill>
                  <a:srgbClr val="26303F"/>
                </a:solidFill>
                <a:latin typeface="Calibri" pitchFamily="34" charset="0"/>
                <a:ea typeface="Calibri" pitchFamily="34" charset="-122"/>
                <a:cs typeface="Calibri" pitchFamily="34" charset="-120"/>
              </a:rPr>
              <a:t>Managers see current counts, but not how the backlog or a customer's record looked on a past date.</a:t>
            </a:r>
            <a:endParaRPr lang="en-US" sz="1900" dirty="0"/>
          </a:p>
        </p:txBody>
      </p:sp>
      <p:sp>
        <p:nvSpPr>
          <p:cNvPr id="18" name="Text 15"/>
          <p:cNvSpPr/>
          <p:nvPr/>
        </p:nvSpPr>
        <p:spPr>
          <a:xfrm>
            <a:off x="6263640" y="4562856"/>
            <a:ext cx="548640" cy="640080"/>
          </a:xfrm>
          <a:prstGeom prst="rect">
            <a:avLst/>
          </a:prstGeom>
          <a:noFill/>
          <a:ln/>
        </p:spPr>
        <p:txBody>
          <a:bodyPr wrap="square" lIns="0" tIns="0" rIns="0" bIns="0" rtlCol="0" anchor="t"/>
          <a:lstStyle/>
          <a:p>
            <a:pPr indent="0" marL="0">
              <a:buNone/>
            </a:pPr>
            <a:r>
              <a:rPr lang="en-US" sz="3400" dirty="0">
                <a:solidFill>
                  <a:srgbClr val="1F5FAD"/>
                </a:solidFill>
                <a:latin typeface="Georgia" pitchFamily="34" charset="0"/>
                <a:ea typeface="Georgia" pitchFamily="34" charset="-122"/>
                <a:cs typeface="Georgia" pitchFamily="34" charset="-120"/>
              </a:rPr>
              <a:t>6</a:t>
            </a:r>
            <a:endParaRPr lang="en-US" sz="3400" dirty="0"/>
          </a:p>
        </p:txBody>
      </p:sp>
      <p:sp>
        <p:nvSpPr>
          <p:cNvPr id="19" name="Text 16"/>
          <p:cNvSpPr/>
          <p:nvPr/>
        </p:nvSpPr>
        <p:spPr>
          <a:xfrm>
            <a:off x="6903720" y="4608576"/>
            <a:ext cx="4754880" cy="1371600"/>
          </a:xfrm>
          <a:prstGeom prst="rect">
            <a:avLst/>
          </a:prstGeom>
          <a:noFill/>
          <a:ln/>
        </p:spPr>
        <p:txBody>
          <a:bodyPr wrap="square" lIns="0" tIns="0" rIns="0" bIns="0" rtlCol="0" anchor="t"/>
          <a:lstStyle/>
          <a:p>
            <a:pPr indent="0" marL="0">
              <a:lnSpc>
                <a:spcPct val="105000"/>
              </a:lnSpc>
              <a:spcAft>
                <a:spcPts val="400"/>
              </a:spcAft>
              <a:buNone/>
            </a:pPr>
            <a:r>
              <a:rPr lang="en-US" sz="1900" dirty="0">
                <a:solidFill>
                  <a:srgbClr val="14213D"/>
                </a:solidFill>
                <a:latin typeface="Georgia" pitchFamily="34" charset="0"/>
                <a:ea typeface="Georgia" pitchFamily="34" charset="-122"/>
                <a:cs typeface="Georgia" pitchFamily="34" charset="-120"/>
              </a:rPr>
              <a:t>Isolation and deployment</a:t>
            </a:r>
            <a:endParaRPr lang="en-US" sz="1900" dirty="0"/>
          </a:p>
          <a:p>
            <a:pPr indent="0" marL="0">
              <a:lnSpc>
                <a:spcPct val="105000"/>
              </a:lnSpc>
              <a:buNone/>
            </a:pPr>
            <a:r>
              <a:rPr lang="en-US" sz="1600" dirty="0">
                <a:solidFill>
                  <a:srgbClr val="26303F"/>
                </a:solidFill>
                <a:latin typeface="Calibri" pitchFamily="34" charset="0"/>
                <a:ea typeface="Calibri" pitchFamily="34" charset="-122"/>
                <a:cs typeface="Calibri" pitchFamily="34" charset="-120"/>
              </a:rPr>
              <a:t>A hosted helpdesk must keep each organisation's data separate, while some organisations need it on their own servers.</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64240" cy="640080"/>
          </a:xfrm>
          <a:prstGeom prst="rect">
            <a:avLst/>
          </a:prstGeom>
          <a:noFill/>
          <a:ln/>
        </p:spPr>
        <p:txBody>
          <a:bodyPr wrap="square" lIns="0" tIns="0" rIns="0" bIns="0" rtlCol="0" anchor="b"/>
          <a:lstStyle/>
          <a:p>
            <a:pPr indent="0" marL="0">
              <a:buNone/>
            </a:pPr>
            <a:r>
              <a:rPr lang="en-US" sz="2800" dirty="0">
                <a:solidFill>
                  <a:srgbClr val="14213D"/>
                </a:solidFill>
                <a:latin typeface="Georgia" pitchFamily="34" charset="0"/>
                <a:ea typeface="Georgia" pitchFamily="34" charset="-122"/>
                <a:cs typeface="Georgia" pitchFamily="34" charset="-120"/>
              </a:rPr>
              <a:t>Objectives and Scope</a:t>
            </a:r>
            <a:endParaRPr lang="en-US" sz="2800" dirty="0"/>
          </a:p>
        </p:txBody>
      </p:sp>
      <p:sp>
        <p:nvSpPr>
          <p:cNvPr id="3" name="Shape 1"/>
          <p:cNvSpPr/>
          <p:nvPr/>
        </p:nvSpPr>
        <p:spPr>
          <a:xfrm>
            <a:off x="548640" y="1060704"/>
            <a:ext cx="822960" cy="45720"/>
          </a:xfrm>
          <a:prstGeom prst="rect">
            <a:avLst/>
          </a:prstGeom>
          <a:solidFill>
            <a:srgbClr val="1F5FAD"/>
          </a:solidFill>
          <a:ln w="12700">
            <a:solidFill>
              <a:srgbClr val="1F5FAD"/>
            </a:solidFill>
            <a:prstDash val="solid"/>
          </a:ln>
        </p:spPr>
      </p:sp>
      <p:sp>
        <p:nvSpPr>
          <p:cNvPr id="4" name="Shape 2"/>
          <p:cNvSpPr/>
          <p:nvPr/>
        </p:nvSpPr>
        <p:spPr>
          <a:xfrm>
            <a:off x="548640" y="6382512"/>
            <a:ext cx="11091672" cy="0"/>
          </a:xfrm>
          <a:prstGeom prst="line">
            <a:avLst/>
          </a:prstGeom>
          <a:noFill/>
          <a:ln w="9525">
            <a:solidFill>
              <a:srgbClr val="D5DAE1"/>
            </a:solidFill>
            <a:prstDash val="solid"/>
          </a:ln>
        </p:spPr>
      </p:sp>
      <p:sp>
        <p:nvSpPr>
          <p:cNvPr id="5" name="Text 3"/>
          <p:cNvSpPr/>
          <p:nvPr/>
        </p:nvSpPr>
        <p:spPr>
          <a:xfrm>
            <a:off x="548640" y="6428232"/>
            <a:ext cx="3657600" cy="274320"/>
          </a:xfrm>
          <a:prstGeom prst="rect">
            <a:avLst/>
          </a:prstGeom>
          <a:noFill/>
          <a:ln/>
        </p:spPr>
        <p:txBody>
          <a:bodyPr wrap="square" lIns="0" tIns="0" rIns="0" bIns="0" rtlCol="0" anchor="ctr"/>
          <a:lstStyle/>
          <a:p>
            <a:pPr indent="0" marL="0">
              <a:buNone/>
            </a:pPr>
            <a:r>
              <a:rPr lang="en-US" sz="1050" dirty="0">
                <a:solidFill>
                  <a:srgbClr val="66707F"/>
                </a:solidFill>
                <a:latin typeface="Georgia" pitchFamily="34" charset="0"/>
                <a:ea typeface="Georgia" pitchFamily="34" charset="-122"/>
                <a:cs typeface="Georgia" pitchFamily="34" charset="-120"/>
              </a:rPr>
              <a:t>Smart Helpdesk</a:t>
            </a:r>
            <a:endParaRPr lang="en-US" sz="1050" dirty="0"/>
          </a:p>
        </p:txBody>
      </p:sp>
      <p:sp>
        <p:nvSpPr>
          <p:cNvPr id="6" name="Text 4"/>
          <p:cNvSpPr/>
          <p:nvPr/>
        </p:nvSpPr>
        <p:spPr>
          <a:xfrm>
            <a:off x="5669280" y="6428232"/>
            <a:ext cx="5971032" cy="274320"/>
          </a:xfrm>
          <a:prstGeom prst="rect">
            <a:avLst/>
          </a:prstGeom>
          <a:noFill/>
          <a:ln/>
        </p:spPr>
        <p:txBody>
          <a:bodyPr wrap="square" lIns="0" tIns="0" rIns="0" bIns="0" rtlCol="0" anchor="ctr"/>
          <a:lstStyle/>
          <a:p>
            <a:pPr algn="r" indent="0" marL="0">
              <a:buNone/>
            </a:pPr>
            <a:r>
              <a:rPr lang="en-US" sz="1050" dirty="0">
                <a:solidFill>
                  <a:srgbClr val="66707F"/>
                </a:solidFill>
                <a:latin typeface="Calibri" pitchFamily="34" charset="0"/>
                <a:ea typeface="Calibri" pitchFamily="34" charset="-122"/>
                <a:cs typeface="Calibri" pitchFamily="34" charset="-120"/>
              </a:rPr>
              <a:t>Chapter 1: Introduction      3 / 13</a:t>
            </a:r>
            <a:endParaRPr lang="en-US" sz="1050" dirty="0"/>
          </a:p>
        </p:txBody>
      </p:sp>
      <p:sp>
        <p:nvSpPr>
          <p:cNvPr id="8" name="Text 5"/>
          <p:cNvSpPr/>
          <p:nvPr/>
        </p:nvSpPr>
        <p:spPr>
          <a:xfrm>
            <a:off x="548640" y="1371600"/>
            <a:ext cx="5486400" cy="384048"/>
          </a:xfrm>
          <a:prstGeom prst="rect">
            <a:avLst/>
          </a:prstGeom>
          <a:noFill/>
          <a:ln/>
        </p:spPr>
        <p:txBody>
          <a:bodyPr wrap="square" lIns="0" tIns="0" rIns="0" bIns="0" rtlCol="0" anchor="ctr"/>
          <a:lstStyle/>
          <a:p>
            <a:pPr indent="0" marL="0">
              <a:buNone/>
            </a:pPr>
            <a:r>
              <a:rPr lang="en-US" sz="1900" dirty="0">
                <a:solidFill>
                  <a:srgbClr val="14213D"/>
                </a:solidFill>
                <a:latin typeface="Georgia" pitchFamily="34" charset="0"/>
                <a:ea typeface="Georgia" pitchFamily="34" charset="-122"/>
                <a:cs typeface="Georgia" pitchFamily="34" charset="-120"/>
              </a:rPr>
              <a:t>Objectives</a:t>
            </a:r>
            <a:endParaRPr lang="en-US" sz="1900" dirty="0"/>
          </a:p>
        </p:txBody>
      </p:sp>
      <p:sp>
        <p:nvSpPr>
          <p:cNvPr id="9" name="Text 6"/>
          <p:cNvSpPr/>
          <p:nvPr/>
        </p:nvSpPr>
        <p:spPr>
          <a:xfrm>
            <a:off x="548640" y="1874520"/>
            <a:ext cx="411480" cy="365760"/>
          </a:xfrm>
          <a:prstGeom prst="rect">
            <a:avLst/>
          </a:prstGeom>
          <a:noFill/>
          <a:ln/>
        </p:spPr>
        <p:txBody>
          <a:bodyPr wrap="square" lIns="0" tIns="0" rIns="0" bIns="0" rtlCol="0" anchor="t"/>
          <a:lstStyle/>
          <a:p>
            <a:pPr indent="0" marL="0">
              <a:buNone/>
            </a:pPr>
            <a:r>
              <a:rPr lang="en-US" sz="1800" dirty="0">
                <a:solidFill>
                  <a:srgbClr val="1F5FAD"/>
                </a:solidFill>
                <a:latin typeface="Georgia" pitchFamily="34" charset="0"/>
                <a:ea typeface="Georgia" pitchFamily="34" charset="-122"/>
                <a:cs typeface="Georgia" pitchFamily="34" charset="-120"/>
              </a:rPr>
              <a:t>1.</a:t>
            </a:r>
            <a:endParaRPr lang="en-US" sz="1800" dirty="0"/>
          </a:p>
        </p:txBody>
      </p:sp>
      <p:sp>
        <p:nvSpPr>
          <p:cNvPr id="10" name="Text 7"/>
          <p:cNvSpPr/>
          <p:nvPr/>
        </p:nvSpPr>
        <p:spPr>
          <a:xfrm>
            <a:off x="960120" y="1892808"/>
            <a:ext cx="5212080" cy="1005840"/>
          </a:xfrm>
          <a:prstGeom prst="rect">
            <a:avLst/>
          </a:prstGeom>
          <a:noFill/>
          <a:ln/>
        </p:spPr>
        <p:txBody>
          <a:bodyPr wrap="square" lIns="0" tIns="0" rIns="0" bIns="0" rtlCol="0" anchor="t"/>
          <a:lstStyle/>
          <a:p>
            <a:pPr indent="0" marL="0">
              <a:lnSpc>
                <a:spcPct val="105000"/>
              </a:lnSpc>
              <a:buNone/>
            </a:pPr>
            <a:r>
              <a:rPr lang="en-US" sz="1450" dirty="0">
                <a:solidFill>
                  <a:srgbClr val="26303F"/>
                </a:solidFill>
                <a:latin typeface="Calibri" pitchFamily="34" charset="0"/>
                <a:ea typeface="Calibri" pitchFamily="34" charset="-122"/>
                <a:cs typeface="Calibri" pitchFamily="34" charset="-120"/>
              </a:rPr>
              <a:t>Design and implement a multi-tenant helpdesk in which each organisation's data is strictly isolated, and which runs on any virtual machine or on an organisation's own server.</a:t>
            </a:r>
            <a:endParaRPr lang="en-US" sz="1450" dirty="0"/>
          </a:p>
        </p:txBody>
      </p:sp>
      <p:sp>
        <p:nvSpPr>
          <p:cNvPr id="11" name="Text 8"/>
          <p:cNvSpPr/>
          <p:nvPr/>
        </p:nvSpPr>
        <p:spPr>
          <a:xfrm>
            <a:off x="548640" y="2953512"/>
            <a:ext cx="411480" cy="365760"/>
          </a:xfrm>
          <a:prstGeom prst="rect">
            <a:avLst/>
          </a:prstGeom>
          <a:noFill/>
          <a:ln/>
        </p:spPr>
        <p:txBody>
          <a:bodyPr wrap="square" lIns="0" tIns="0" rIns="0" bIns="0" rtlCol="0" anchor="t"/>
          <a:lstStyle/>
          <a:p>
            <a:pPr indent="0" marL="0">
              <a:buNone/>
            </a:pPr>
            <a:r>
              <a:rPr lang="en-US" sz="1800" dirty="0">
                <a:solidFill>
                  <a:srgbClr val="1F5FAD"/>
                </a:solidFill>
                <a:latin typeface="Georgia" pitchFamily="34" charset="0"/>
                <a:ea typeface="Georgia" pitchFamily="34" charset="-122"/>
                <a:cs typeface="Georgia" pitchFamily="34" charset="-120"/>
              </a:rPr>
              <a:t>2.</a:t>
            </a:r>
            <a:endParaRPr lang="en-US" sz="1800" dirty="0"/>
          </a:p>
        </p:txBody>
      </p:sp>
      <p:sp>
        <p:nvSpPr>
          <p:cNvPr id="12" name="Text 9"/>
          <p:cNvSpPr/>
          <p:nvPr/>
        </p:nvSpPr>
        <p:spPr>
          <a:xfrm>
            <a:off x="960120" y="2971800"/>
            <a:ext cx="5212080" cy="1005840"/>
          </a:xfrm>
          <a:prstGeom prst="rect">
            <a:avLst/>
          </a:prstGeom>
          <a:noFill/>
          <a:ln/>
        </p:spPr>
        <p:txBody>
          <a:bodyPr wrap="square" lIns="0" tIns="0" rIns="0" bIns="0" rtlCol="0" anchor="t"/>
          <a:lstStyle/>
          <a:p>
            <a:pPr indent="0" marL="0">
              <a:lnSpc>
                <a:spcPct val="105000"/>
              </a:lnSpc>
              <a:buNone/>
            </a:pPr>
            <a:r>
              <a:rPr lang="en-US" sz="1450" dirty="0">
                <a:solidFill>
                  <a:srgbClr val="26303F"/>
                </a:solidFill>
                <a:latin typeface="Calibri" pitchFamily="34" charset="0"/>
                <a:ea typeface="Calibri" pitchFamily="34" charset="-122"/>
                <a:cs typeface="Calibri" pitchFamily="34" charset="-120"/>
              </a:rPr>
              <a:t>Implement simple, explainable algorithms for priority scoring, agent assignment, duplicate ticket detection and SLA monitoring with working-hours calendars.</a:t>
            </a:r>
            <a:endParaRPr lang="en-US" sz="1450" dirty="0"/>
          </a:p>
        </p:txBody>
      </p:sp>
      <p:sp>
        <p:nvSpPr>
          <p:cNvPr id="13" name="Text 10"/>
          <p:cNvSpPr/>
          <p:nvPr/>
        </p:nvSpPr>
        <p:spPr>
          <a:xfrm>
            <a:off x="548640" y="4032504"/>
            <a:ext cx="411480" cy="365760"/>
          </a:xfrm>
          <a:prstGeom prst="rect">
            <a:avLst/>
          </a:prstGeom>
          <a:noFill/>
          <a:ln/>
        </p:spPr>
        <p:txBody>
          <a:bodyPr wrap="square" lIns="0" tIns="0" rIns="0" bIns="0" rtlCol="0" anchor="t"/>
          <a:lstStyle/>
          <a:p>
            <a:pPr indent="0" marL="0">
              <a:buNone/>
            </a:pPr>
            <a:r>
              <a:rPr lang="en-US" sz="1800" dirty="0">
                <a:solidFill>
                  <a:srgbClr val="1F5FAD"/>
                </a:solidFill>
                <a:latin typeface="Georgia" pitchFamily="34" charset="0"/>
                <a:ea typeface="Georgia" pitchFamily="34" charset="-122"/>
                <a:cs typeface="Georgia" pitchFamily="34" charset="-120"/>
              </a:rPr>
              <a:t>3.</a:t>
            </a:r>
            <a:endParaRPr lang="en-US" sz="1800" dirty="0"/>
          </a:p>
        </p:txBody>
      </p:sp>
      <p:sp>
        <p:nvSpPr>
          <p:cNvPr id="14" name="Text 11"/>
          <p:cNvSpPr/>
          <p:nvPr/>
        </p:nvSpPr>
        <p:spPr>
          <a:xfrm>
            <a:off x="960120" y="4050792"/>
            <a:ext cx="5212080" cy="1005840"/>
          </a:xfrm>
          <a:prstGeom prst="rect">
            <a:avLst/>
          </a:prstGeom>
          <a:noFill/>
          <a:ln/>
        </p:spPr>
        <p:txBody>
          <a:bodyPr wrap="square" lIns="0" tIns="0" rIns="0" bIns="0" rtlCol="0" anchor="t"/>
          <a:lstStyle/>
          <a:p>
            <a:pPr indent="0" marL="0">
              <a:lnSpc>
                <a:spcPct val="105000"/>
              </a:lnSpc>
              <a:buNone/>
            </a:pPr>
            <a:r>
              <a:rPr lang="en-US" sz="1450" dirty="0">
                <a:solidFill>
                  <a:srgbClr val="26303F"/>
                </a:solidFill>
                <a:latin typeface="Calibri" pitchFamily="34" charset="0"/>
                <a:ea typeface="Calibri" pitchFamily="34" charset="-122"/>
                <a:cs typeface="Calibri" pitchFamily="34" charset="-120"/>
              </a:rPr>
              <a:t>Provide the features needed for real use: the ticket lifecycle with replies and internal notes, a media library, email notifications and email-to-ticket, a dashboard, an audit trail, a REST API and signed webhooks.</a:t>
            </a:r>
            <a:endParaRPr lang="en-US" sz="1450" dirty="0"/>
          </a:p>
        </p:txBody>
      </p:sp>
      <p:sp>
        <p:nvSpPr>
          <p:cNvPr id="15" name="Text 12"/>
          <p:cNvSpPr/>
          <p:nvPr/>
        </p:nvSpPr>
        <p:spPr>
          <a:xfrm>
            <a:off x="548640" y="5111496"/>
            <a:ext cx="411480" cy="365760"/>
          </a:xfrm>
          <a:prstGeom prst="rect">
            <a:avLst/>
          </a:prstGeom>
          <a:noFill/>
          <a:ln/>
        </p:spPr>
        <p:txBody>
          <a:bodyPr wrap="square" lIns="0" tIns="0" rIns="0" bIns="0" rtlCol="0" anchor="t"/>
          <a:lstStyle/>
          <a:p>
            <a:pPr indent="0" marL="0">
              <a:buNone/>
            </a:pPr>
            <a:r>
              <a:rPr lang="en-US" sz="1800" dirty="0">
                <a:solidFill>
                  <a:srgbClr val="1F5FAD"/>
                </a:solidFill>
                <a:latin typeface="Georgia" pitchFamily="34" charset="0"/>
                <a:ea typeface="Georgia" pitchFamily="34" charset="-122"/>
                <a:cs typeface="Georgia" pitchFamily="34" charset="-120"/>
              </a:rPr>
              <a:t>4.</a:t>
            </a:r>
            <a:endParaRPr lang="en-US" sz="1800" dirty="0"/>
          </a:p>
        </p:txBody>
      </p:sp>
      <p:sp>
        <p:nvSpPr>
          <p:cNvPr id="16" name="Text 13"/>
          <p:cNvSpPr/>
          <p:nvPr/>
        </p:nvSpPr>
        <p:spPr>
          <a:xfrm>
            <a:off x="960120" y="5129784"/>
            <a:ext cx="5212080" cy="1005840"/>
          </a:xfrm>
          <a:prstGeom prst="rect">
            <a:avLst/>
          </a:prstGeom>
          <a:noFill/>
          <a:ln/>
        </p:spPr>
        <p:txBody>
          <a:bodyPr wrap="square" lIns="0" tIns="0" rIns="0" bIns="0" rtlCol="0" anchor="t"/>
          <a:lstStyle/>
          <a:p>
            <a:pPr indent="0" marL="0">
              <a:lnSpc>
                <a:spcPct val="105000"/>
              </a:lnSpc>
              <a:buNone/>
            </a:pPr>
            <a:r>
              <a:rPr lang="en-US" sz="1450" dirty="0">
                <a:solidFill>
                  <a:srgbClr val="26303F"/>
                </a:solidFill>
                <a:latin typeface="Calibri" pitchFamily="34" charset="0"/>
                <a:ea typeface="Calibri" pitchFamily="34" charset="-122"/>
                <a:cs typeface="Calibri" pitchFamily="34" charset="-120"/>
              </a:rPr>
              <a:t>Build a reporting module that records every change to the main records and shows any record as it was at a past moment.</a:t>
            </a:r>
            <a:endParaRPr lang="en-US" sz="1450" dirty="0"/>
          </a:p>
        </p:txBody>
      </p:sp>
      <p:sp>
        <p:nvSpPr>
          <p:cNvPr id="17" name="Shape 14"/>
          <p:cNvSpPr/>
          <p:nvPr/>
        </p:nvSpPr>
        <p:spPr>
          <a:xfrm>
            <a:off x="6446520" y="1417320"/>
            <a:ext cx="0" cy="4754880"/>
          </a:xfrm>
          <a:prstGeom prst="line">
            <a:avLst/>
          </a:prstGeom>
          <a:noFill/>
          <a:ln w="9525">
            <a:solidFill>
              <a:srgbClr val="D5DAE1"/>
            </a:solidFill>
            <a:prstDash val="solid"/>
          </a:ln>
        </p:spPr>
      </p:sp>
      <p:sp>
        <p:nvSpPr>
          <p:cNvPr id="18" name="Text 15"/>
          <p:cNvSpPr/>
          <p:nvPr/>
        </p:nvSpPr>
        <p:spPr>
          <a:xfrm>
            <a:off x="6766560" y="1371600"/>
            <a:ext cx="4572000" cy="384048"/>
          </a:xfrm>
          <a:prstGeom prst="rect">
            <a:avLst/>
          </a:prstGeom>
          <a:noFill/>
          <a:ln/>
        </p:spPr>
        <p:txBody>
          <a:bodyPr wrap="square" lIns="0" tIns="0" rIns="0" bIns="0" rtlCol="0" anchor="ctr"/>
          <a:lstStyle/>
          <a:p>
            <a:pPr indent="0" marL="0">
              <a:buNone/>
            </a:pPr>
            <a:r>
              <a:rPr lang="en-US" sz="1900" dirty="0">
                <a:solidFill>
                  <a:srgbClr val="14213D"/>
                </a:solidFill>
                <a:latin typeface="Georgia" pitchFamily="34" charset="0"/>
                <a:ea typeface="Georgia" pitchFamily="34" charset="-122"/>
                <a:cs typeface="Georgia" pitchFamily="34" charset="-120"/>
              </a:rPr>
              <a:t>Scope</a:t>
            </a:r>
            <a:endParaRPr lang="en-US" sz="1900" dirty="0"/>
          </a:p>
        </p:txBody>
      </p:sp>
      <p:sp>
        <p:nvSpPr>
          <p:cNvPr id="19" name="Text 16"/>
          <p:cNvSpPr/>
          <p:nvPr/>
        </p:nvSpPr>
        <p:spPr>
          <a:xfrm>
            <a:off x="6766560" y="1874520"/>
            <a:ext cx="4892040" cy="4389120"/>
          </a:xfrm>
          <a:prstGeom prst="rect">
            <a:avLst/>
          </a:prstGeom>
          <a:noFill/>
          <a:ln/>
        </p:spPr>
        <p:txBody>
          <a:bodyPr wrap="square" lIns="25400" tIns="25400" rIns="25400" bIns="25400" rtlCol="0" anchor="t"/>
          <a:lstStyle/>
          <a:p>
            <a:pPr marL="190500" indent="-190500">
              <a:lnSpc>
                <a:spcPct val="105000"/>
              </a:lnSpc>
              <a:spcAft>
                <a:spcPts val="300"/>
              </a:spcAft>
              <a:buSzPct val="100000"/>
              <a:buChar char="•"/>
            </a:pPr>
            <a:r>
              <a:rPr lang="en-US" sz="1400" dirty="0">
                <a:solidFill>
                  <a:srgbClr val="26303F"/>
                </a:solidFill>
                <a:latin typeface="Calibri" pitchFamily="34" charset="0"/>
                <a:ea typeface="Calibri" pitchFamily="34" charset="-122"/>
                <a:cs typeface="Calibri" pitchFamily="34" charset="-120"/>
              </a:rPr>
              <a:t>Workspaces created and managed by a platform administrator</a:t>
            </a:r>
            <a:endParaRPr lang="en-US" sz="1400" dirty="0"/>
          </a:p>
          <a:p>
            <a:pPr marL="190500" indent="-190500">
              <a:lnSpc>
                <a:spcPct val="105000"/>
              </a:lnSpc>
              <a:spcAft>
                <a:spcPts val="300"/>
              </a:spcAft>
              <a:buSzPct val="100000"/>
              <a:buChar char="•"/>
            </a:pPr>
            <a:r>
              <a:rPr lang="en-US" sz="1400" dirty="0">
                <a:solidFill>
                  <a:srgbClr val="26303F"/>
                </a:solidFill>
                <a:latin typeface="Calibri" pitchFamily="34" charset="0"/>
                <a:ea typeface="Calibri" pitchFamily="34" charset="-122"/>
                <a:cs typeface="Calibri" pitchFamily="34" charset="-120"/>
              </a:rPr>
              <a:t>Sign-in, invitations, roles and permissions in each workspace</a:t>
            </a:r>
            <a:endParaRPr lang="en-US" sz="1400" dirty="0"/>
          </a:p>
          <a:p>
            <a:pPr marL="190500" indent="-190500">
              <a:lnSpc>
                <a:spcPct val="105000"/>
              </a:lnSpc>
              <a:spcAft>
                <a:spcPts val="300"/>
              </a:spcAft>
              <a:buSzPct val="100000"/>
              <a:buChar char="•"/>
            </a:pPr>
            <a:r>
              <a:rPr lang="en-US" sz="1400" dirty="0">
                <a:solidFill>
                  <a:srgbClr val="26303F"/>
                </a:solidFill>
                <a:latin typeface="Calibri" pitchFamily="34" charset="0"/>
                <a:ea typeface="Calibri" pitchFamily="34" charset="-122"/>
                <a:cs typeface="Calibri" pitchFamily="34" charset="-120"/>
              </a:rPr>
              <a:t>Contacts and organisations with customer tiers</a:t>
            </a:r>
            <a:endParaRPr lang="en-US" sz="1400" dirty="0"/>
          </a:p>
          <a:p>
            <a:pPr marL="190500" indent="-190500">
              <a:lnSpc>
                <a:spcPct val="105000"/>
              </a:lnSpc>
              <a:spcAft>
                <a:spcPts val="300"/>
              </a:spcAft>
              <a:buSzPct val="100000"/>
              <a:buChar char="•"/>
            </a:pPr>
            <a:r>
              <a:rPr lang="en-US" sz="1400" dirty="0">
                <a:solidFill>
                  <a:srgbClr val="26303F"/>
                </a:solidFill>
                <a:latin typeface="Calibri" pitchFamily="34" charset="0"/>
                <a:ea typeface="Calibri" pitchFamily="34" charset="-122"/>
                <a:cs typeface="Calibri" pitchFamily="34" charset="-120"/>
              </a:rPr>
              <a:t>Teams, skills, categories, agent capacity and shifts</a:t>
            </a:r>
            <a:endParaRPr lang="en-US" sz="1400" dirty="0"/>
          </a:p>
          <a:p>
            <a:pPr marL="190500" indent="-190500">
              <a:lnSpc>
                <a:spcPct val="105000"/>
              </a:lnSpc>
              <a:spcAft>
                <a:spcPts val="300"/>
              </a:spcAft>
              <a:buSzPct val="100000"/>
              <a:buChar char="•"/>
            </a:pPr>
            <a:r>
              <a:rPr lang="en-US" sz="1400" dirty="0">
                <a:solidFill>
                  <a:srgbClr val="26303F"/>
                </a:solidFill>
                <a:latin typeface="Calibri" pitchFamily="34" charset="0"/>
                <a:ea typeface="Calibri" pitchFamily="34" charset="-122"/>
                <a:cs typeface="Calibri" pitchFamily="34" charset="-120"/>
              </a:rPr>
              <a:t>The full ticket lifecycle with comments, attachments and history</a:t>
            </a:r>
            <a:endParaRPr lang="en-US" sz="1400" dirty="0"/>
          </a:p>
          <a:p>
            <a:pPr marL="190500" indent="-190500">
              <a:lnSpc>
                <a:spcPct val="105000"/>
              </a:lnSpc>
              <a:spcAft>
                <a:spcPts val="300"/>
              </a:spcAft>
              <a:buSzPct val="100000"/>
              <a:buChar char="•"/>
            </a:pPr>
            <a:r>
              <a:rPr lang="en-US" sz="1400" dirty="0">
                <a:solidFill>
                  <a:srgbClr val="26303F"/>
                </a:solidFill>
                <a:latin typeface="Calibri" pitchFamily="34" charset="0"/>
                <a:ea typeface="Calibri" pitchFamily="34" charset="-122"/>
                <a:cs typeface="Calibri" pitchFamily="34" charset="-120"/>
              </a:rPr>
              <a:t>The four algorithms, with explanations shown to agents</a:t>
            </a:r>
            <a:endParaRPr lang="en-US" sz="1400" dirty="0"/>
          </a:p>
          <a:p>
            <a:pPr marL="190500" indent="-190500">
              <a:lnSpc>
                <a:spcPct val="105000"/>
              </a:lnSpc>
              <a:spcAft>
                <a:spcPts val="300"/>
              </a:spcAft>
              <a:buSzPct val="100000"/>
              <a:buChar char="•"/>
            </a:pPr>
            <a:r>
              <a:rPr lang="en-US" sz="1400" dirty="0">
                <a:solidFill>
                  <a:srgbClr val="26303F"/>
                </a:solidFill>
                <a:latin typeface="Calibri" pitchFamily="34" charset="0"/>
                <a:ea typeface="Calibri" pitchFamily="34" charset="-122"/>
                <a:cs typeface="Calibri" pitchFamily="34" charset="-120"/>
              </a:rPr>
              <a:t>SLA policies with business calendars, warnings and breaches</a:t>
            </a:r>
            <a:endParaRPr lang="en-US" sz="1400" dirty="0"/>
          </a:p>
          <a:p>
            <a:pPr marL="190500" indent="-190500">
              <a:lnSpc>
                <a:spcPct val="105000"/>
              </a:lnSpc>
              <a:spcAft>
                <a:spcPts val="300"/>
              </a:spcAft>
              <a:buSzPct val="100000"/>
              <a:buChar char="•"/>
            </a:pPr>
            <a:r>
              <a:rPr lang="en-US" sz="1400" dirty="0">
                <a:solidFill>
                  <a:srgbClr val="26303F"/>
                </a:solidFill>
                <a:latin typeface="Calibri" pitchFamily="34" charset="0"/>
                <a:ea typeface="Calibri" pitchFamily="34" charset="-122"/>
                <a:cs typeface="Calibri" pitchFamily="34" charset="-120"/>
              </a:rPr>
              <a:t>Notifications, email-to-ticket and a media library</a:t>
            </a:r>
            <a:endParaRPr lang="en-US" sz="1400" dirty="0"/>
          </a:p>
          <a:p>
            <a:pPr marL="190500" indent="-190500">
              <a:lnSpc>
                <a:spcPct val="105000"/>
              </a:lnSpc>
              <a:spcAft>
                <a:spcPts val="300"/>
              </a:spcAft>
              <a:buSzPct val="100000"/>
              <a:buChar char="•"/>
            </a:pPr>
            <a:r>
              <a:rPr lang="en-US" sz="1400" dirty="0">
                <a:solidFill>
                  <a:srgbClr val="26303F"/>
                </a:solidFill>
                <a:latin typeface="Calibri" pitchFamily="34" charset="0"/>
                <a:ea typeface="Calibri" pitchFamily="34" charset="-122"/>
                <a:cs typeface="Calibri" pitchFamily="34" charset="-120"/>
              </a:rPr>
              <a:t>Dashboard and reports with drill-down and past views</a:t>
            </a:r>
            <a:endParaRPr lang="en-US" sz="1400" dirty="0"/>
          </a:p>
          <a:p>
            <a:pPr marL="190500" indent="-190500">
              <a:lnSpc>
                <a:spcPct val="105000"/>
              </a:lnSpc>
              <a:spcAft>
                <a:spcPts val="300"/>
              </a:spcAft>
              <a:buSzPct val="100000"/>
              <a:buChar char="•"/>
            </a:pPr>
            <a:r>
              <a:rPr lang="en-US" sz="1400" dirty="0">
                <a:solidFill>
                  <a:srgbClr val="26303F"/>
                </a:solidFill>
                <a:latin typeface="Calibri" pitchFamily="34" charset="0"/>
                <a:ea typeface="Calibri" pitchFamily="34" charset="-122"/>
                <a:cs typeface="Calibri" pitchFamily="34" charset="-120"/>
              </a:rPr>
              <a:t>REST API with client credentials and signed webhooks</a:t>
            </a:r>
            <a:endParaRPr lang="en-US" sz="1400" dirty="0"/>
          </a:p>
          <a:p>
            <a:pPr marL="190500" indent="-190500">
              <a:lnSpc>
                <a:spcPct val="105000"/>
              </a:lnSpc>
              <a:spcAft>
                <a:spcPts val="300"/>
              </a:spcAft>
              <a:buSzPct val="100000"/>
              <a:buChar char="•"/>
            </a:pPr>
            <a:r>
              <a:rPr lang="en-US" sz="1400" dirty="0">
                <a:solidFill>
                  <a:srgbClr val="26303F"/>
                </a:solidFill>
                <a:latin typeface="Calibri" pitchFamily="34" charset="0"/>
                <a:ea typeface="Calibri" pitchFamily="34" charset="-122"/>
                <a:cs typeface="Calibri" pitchFamily="34" charset="-120"/>
              </a:rPr>
              <a:t>Light and dark themes; deployment with Docker on AWS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64240" cy="640080"/>
          </a:xfrm>
          <a:prstGeom prst="rect">
            <a:avLst/>
          </a:prstGeom>
          <a:noFill/>
          <a:ln/>
        </p:spPr>
        <p:txBody>
          <a:bodyPr wrap="square" lIns="0" tIns="0" rIns="0" bIns="0" rtlCol="0" anchor="b"/>
          <a:lstStyle/>
          <a:p>
            <a:pPr indent="0" marL="0">
              <a:buNone/>
            </a:pPr>
            <a:r>
              <a:rPr lang="en-US" sz="2800" dirty="0">
                <a:solidFill>
                  <a:srgbClr val="14213D"/>
                </a:solidFill>
                <a:latin typeface="Georgia" pitchFamily="34" charset="0"/>
                <a:ea typeface="Georgia" pitchFamily="34" charset="-122"/>
                <a:cs typeface="Georgia" pitchFamily="34" charset="-120"/>
              </a:rPr>
              <a:t>Development Methodology</a:t>
            </a:r>
            <a:endParaRPr lang="en-US" sz="2800" dirty="0"/>
          </a:p>
        </p:txBody>
      </p:sp>
      <p:sp>
        <p:nvSpPr>
          <p:cNvPr id="3" name="Shape 1"/>
          <p:cNvSpPr/>
          <p:nvPr/>
        </p:nvSpPr>
        <p:spPr>
          <a:xfrm>
            <a:off x="548640" y="1060704"/>
            <a:ext cx="822960" cy="45720"/>
          </a:xfrm>
          <a:prstGeom prst="rect">
            <a:avLst/>
          </a:prstGeom>
          <a:solidFill>
            <a:srgbClr val="1F5FAD"/>
          </a:solidFill>
          <a:ln w="12700">
            <a:solidFill>
              <a:srgbClr val="1F5FAD"/>
            </a:solidFill>
            <a:prstDash val="solid"/>
          </a:ln>
        </p:spPr>
      </p:sp>
      <p:sp>
        <p:nvSpPr>
          <p:cNvPr id="4" name="Shape 2"/>
          <p:cNvSpPr/>
          <p:nvPr/>
        </p:nvSpPr>
        <p:spPr>
          <a:xfrm>
            <a:off x="548640" y="6382512"/>
            <a:ext cx="11091672" cy="0"/>
          </a:xfrm>
          <a:prstGeom prst="line">
            <a:avLst/>
          </a:prstGeom>
          <a:noFill/>
          <a:ln w="9525">
            <a:solidFill>
              <a:srgbClr val="D5DAE1"/>
            </a:solidFill>
            <a:prstDash val="solid"/>
          </a:ln>
        </p:spPr>
      </p:sp>
      <p:sp>
        <p:nvSpPr>
          <p:cNvPr id="5" name="Text 3"/>
          <p:cNvSpPr/>
          <p:nvPr/>
        </p:nvSpPr>
        <p:spPr>
          <a:xfrm>
            <a:off x="548640" y="6428232"/>
            <a:ext cx="3657600" cy="274320"/>
          </a:xfrm>
          <a:prstGeom prst="rect">
            <a:avLst/>
          </a:prstGeom>
          <a:noFill/>
          <a:ln/>
        </p:spPr>
        <p:txBody>
          <a:bodyPr wrap="square" lIns="0" tIns="0" rIns="0" bIns="0" rtlCol="0" anchor="ctr"/>
          <a:lstStyle/>
          <a:p>
            <a:pPr indent="0" marL="0">
              <a:buNone/>
            </a:pPr>
            <a:r>
              <a:rPr lang="en-US" sz="1050" dirty="0">
                <a:solidFill>
                  <a:srgbClr val="66707F"/>
                </a:solidFill>
                <a:latin typeface="Georgia" pitchFamily="34" charset="0"/>
                <a:ea typeface="Georgia" pitchFamily="34" charset="-122"/>
                <a:cs typeface="Georgia" pitchFamily="34" charset="-120"/>
              </a:rPr>
              <a:t>Smart Helpdesk</a:t>
            </a:r>
            <a:endParaRPr lang="en-US" sz="1050" dirty="0"/>
          </a:p>
        </p:txBody>
      </p:sp>
      <p:sp>
        <p:nvSpPr>
          <p:cNvPr id="6" name="Text 4"/>
          <p:cNvSpPr/>
          <p:nvPr/>
        </p:nvSpPr>
        <p:spPr>
          <a:xfrm>
            <a:off x="5669280" y="6428232"/>
            <a:ext cx="5971032" cy="274320"/>
          </a:xfrm>
          <a:prstGeom prst="rect">
            <a:avLst/>
          </a:prstGeom>
          <a:noFill/>
          <a:ln/>
        </p:spPr>
        <p:txBody>
          <a:bodyPr wrap="square" lIns="0" tIns="0" rIns="0" bIns="0" rtlCol="0" anchor="ctr"/>
          <a:lstStyle/>
          <a:p>
            <a:pPr algn="r" indent="0" marL="0">
              <a:buNone/>
            </a:pPr>
            <a:r>
              <a:rPr lang="en-US" sz="1050" dirty="0">
                <a:solidFill>
                  <a:srgbClr val="66707F"/>
                </a:solidFill>
                <a:latin typeface="Calibri" pitchFamily="34" charset="0"/>
                <a:ea typeface="Calibri" pitchFamily="34" charset="-122"/>
                <a:cs typeface="Calibri" pitchFamily="34" charset="-120"/>
              </a:rPr>
              <a:t>Chapter 1: Introduction      4 / 13</a:t>
            </a:r>
            <a:endParaRPr lang="en-US" sz="1050" dirty="0"/>
          </a:p>
        </p:txBody>
      </p:sp>
      <p:sp>
        <p:nvSpPr>
          <p:cNvPr id="8" name="Shape 5"/>
          <p:cNvSpPr/>
          <p:nvPr/>
        </p:nvSpPr>
        <p:spPr>
          <a:xfrm>
            <a:off x="512064" y="1976032"/>
            <a:ext cx="5193792" cy="2997375"/>
          </a:xfrm>
          <a:prstGeom prst="rect">
            <a:avLst/>
          </a:prstGeom>
          <a:solidFill>
            <a:srgbClr val="FFFFFF"/>
          </a:solidFill>
          <a:ln w="9525">
            <a:solidFill>
              <a:srgbClr val="D5DAE1"/>
            </a:solidFill>
            <a:prstDash val="solid"/>
          </a:ln>
        </p:spPr>
      </p:sp>
      <p:pic>
        <p:nvPicPr>
          <p:cNvPr id="9" name="Image 0" descr="/home/subham/Projects/college/fyp/smart-helpdesk/report/university/figures/waterfall.png">    </p:cNvPr>
          <p:cNvPicPr>
            <a:picLocks noChangeAspect="1"/>
          </p:cNvPicPr>
          <p:nvPr/>
        </p:nvPicPr>
        <p:blipFill>
          <a:blip r:embed="rId1"/>
          <a:stretch>
            <a:fillRect/>
          </a:stretch>
        </p:blipFill>
        <p:spPr>
          <a:xfrm>
            <a:off x="548640" y="2012608"/>
            <a:ext cx="5120640" cy="2924223"/>
          </a:xfrm>
          <a:prstGeom prst="rect">
            <a:avLst/>
          </a:prstGeom>
        </p:spPr>
      </p:pic>
      <p:sp>
        <p:nvSpPr>
          <p:cNvPr id="10" name="Text 6"/>
          <p:cNvSpPr/>
          <p:nvPr/>
        </p:nvSpPr>
        <p:spPr>
          <a:xfrm>
            <a:off x="548640" y="5064848"/>
            <a:ext cx="5120640" cy="274320"/>
          </a:xfrm>
          <a:prstGeom prst="rect">
            <a:avLst/>
          </a:prstGeom>
          <a:noFill/>
          <a:ln/>
        </p:spPr>
        <p:txBody>
          <a:bodyPr wrap="square" lIns="0" tIns="0" rIns="0" bIns="0" rtlCol="0" anchor="ctr"/>
          <a:lstStyle/>
          <a:p>
            <a:pPr algn="ctr" indent="0" marL="0">
              <a:buNone/>
            </a:pPr>
            <a:r>
              <a:rPr lang="en-US" sz="1100" i="1" dirty="0">
                <a:solidFill>
                  <a:srgbClr val="66707F"/>
                </a:solidFill>
                <a:latin typeface="Calibri" pitchFamily="34" charset="0"/>
                <a:ea typeface="Calibri" pitchFamily="34" charset="-122"/>
                <a:cs typeface="Calibri" pitchFamily="34" charset="-120"/>
              </a:rPr>
              <a:t>Figure 1.1: Waterfall model of the development</a:t>
            </a:r>
            <a:endParaRPr lang="en-US" sz="1100" dirty="0"/>
          </a:p>
        </p:txBody>
      </p:sp>
      <p:sp>
        <p:nvSpPr>
          <p:cNvPr id="11" name="Text 7"/>
          <p:cNvSpPr/>
          <p:nvPr/>
        </p:nvSpPr>
        <p:spPr>
          <a:xfrm>
            <a:off x="6035040" y="1371600"/>
            <a:ext cx="5605272" cy="960120"/>
          </a:xfrm>
          <a:prstGeom prst="rect">
            <a:avLst/>
          </a:prstGeom>
          <a:noFill/>
          <a:ln/>
        </p:spPr>
        <p:txBody>
          <a:bodyPr wrap="square" lIns="0" tIns="0" rIns="0" bIns="0" rtlCol="0" anchor="t"/>
          <a:lstStyle/>
          <a:p>
            <a:pPr indent="0" marL="0">
              <a:lnSpc>
                <a:spcPct val="105000"/>
              </a:lnSpc>
              <a:buNone/>
            </a:pPr>
            <a:r>
              <a:rPr lang="en-US" sz="1500" dirty="0">
                <a:solidFill>
                  <a:srgbClr val="26303F"/>
                </a:solidFill>
                <a:latin typeface="Calibri" pitchFamily="34" charset="0"/>
                <a:ea typeface="Calibri" pitchFamily="34" charset="-122"/>
                <a:cs typeface="Calibri" pitchFamily="34" charset="-120"/>
              </a:rPr>
              <a:t>We followed the waterfall model. The requirements were known at the start and the project had a fixed period of three months, so each phase was finished and reviewed before the next one began.</a:t>
            </a:r>
            <a:endParaRPr lang="en-US" sz="15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035040" y="2468880"/>
          <a:ext cx="5605272" cy="914400"/>
        </p:xfrm>
        <a:graphic>
          <a:graphicData uri="http://schemas.openxmlformats.org/drawingml/2006/table">
            <a:tbl>
              <a:tblPr/>
              <a:tblGrid>
                <a:gridCol w="2103120"/>
                <a:gridCol w="1417320"/>
                <a:gridCol w="2084832"/>
              </a:tblGrid>
              <a:tr h="42062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Phase</a:t>
                      </a:r>
                      <a:endParaRPr lang="en-US" sz="130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Period (2026)</a:t>
                      </a:r>
                      <a:endParaRPr lang="en-US" sz="130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Output</a:t>
                      </a:r>
                      <a:endParaRPr lang="en-US" sz="130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4213D"/>
                    </a:solidFill>
                  </a:tcPr>
                </a:tc>
              </a:tr>
              <a:tr h="420624">
                <a:tc>
                  <a:txBody>
                    <a:bodyPr/>
                    <a:lstStyle/>
                    <a:p>
                      <a:pPr indent="0" marL="0">
                        <a:buNone/>
                      </a:pPr>
                      <a:r>
                        <a:rPr lang="en-US" sz="1300" dirty="0">
                          <a:solidFill>
                            <a:srgbClr val="26303F"/>
                          </a:solidFill>
                          <a:latin typeface="Calibri" pitchFamily="34" charset="0"/>
                          <a:ea typeface="Calibri" pitchFamily="34" charset="-122"/>
                          <a:cs typeface="Calibri" pitchFamily="34" charset="-120"/>
                        </a:rPr>
                        <a:t>Requirement analysis</a:t>
                      </a:r>
                      <a:endParaRPr lang="en-US" sz="130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300" dirty="0">
                          <a:solidFill>
                            <a:srgbClr val="26303F"/>
                          </a:solidFill>
                          <a:latin typeface="Calibri" pitchFamily="34" charset="0"/>
                          <a:ea typeface="Calibri" pitchFamily="34" charset="-122"/>
                          <a:cs typeface="Calibri" pitchFamily="34" charset="-120"/>
                        </a:rPr>
                        <a:t>16 Jun – 29 Jun</a:t>
                      </a:r>
                      <a:endParaRPr lang="en-US" sz="130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300" dirty="0">
                          <a:solidFill>
                            <a:srgbClr val="26303F"/>
                          </a:solidFill>
                          <a:latin typeface="Calibri" pitchFamily="34" charset="0"/>
                          <a:ea typeface="Calibri" pitchFamily="34" charset="-122"/>
                          <a:cs typeface="Calibri" pitchFamily="34" charset="-120"/>
                        </a:rPr>
                        <a:t>Requirement specification</a:t>
                      </a:r>
                      <a:endParaRPr lang="en-US" sz="130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420624">
                <a:tc>
                  <a:txBody>
                    <a:bodyPr/>
                    <a:lstStyle/>
                    <a:p>
                      <a:pPr indent="0" marL="0">
                        <a:buNone/>
                      </a:pPr>
                      <a:r>
                        <a:rPr lang="en-US" sz="1300" dirty="0">
                          <a:solidFill>
                            <a:srgbClr val="26303F"/>
                          </a:solidFill>
                          <a:latin typeface="Calibri" pitchFamily="34" charset="0"/>
                          <a:ea typeface="Calibri" pitchFamily="34" charset="-122"/>
                          <a:cs typeface="Calibri" pitchFamily="34" charset="-120"/>
                        </a:rPr>
                        <a:t>System design</a:t>
                      </a:r>
                      <a:endParaRPr lang="en-US" sz="130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en-US" sz="1300" dirty="0">
                          <a:solidFill>
                            <a:srgbClr val="26303F"/>
                          </a:solidFill>
                          <a:latin typeface="Calibri" pitchFamily="34" charset="0"/>
                          <a:ea typeface="Calibri" pitchFamily="34" charset="-122"/>
                          <a:cs typeface="Calibri" pitchFamily="34" charset="-120"/>
                        </a:rPr>
                        <a:t>30 Jun – 13 Jul</a:t>
                      </a:r>
                      <a:endParaRPr lang="en-US" sz="130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en-US" sz="1300" dirty="0">
                          <a:solidFill>
                            <a:srgbClr val="26303F"/>
                          </a:solidFill>
                          <a:latin typeface="Calibri" pitchFamily="34" charset="0"/>
                          <a:ea typeface="Calibri" pitchFamily="34" charset="-122"/>
                          <a:cs typeface="Calibri" pitchFamily="34" charset="-120"/>
                        </a:rPr>
                        <a:t>Design documents and diagrams</a:t>
                      </a:r>
                      <a:endParaRPr lang="en-US" sz="130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r>
              <a:tr h="420624">
                <a:tc>
                  <a:txBody>
                    <a:bodyPr/>
                    <a:lstStyle/>
                    <a:p>
                      <a:pPr indent="0" marL="0">
                        <a:buNone/>
                      </a:pPr>
                      <a:r>
                        <a:rPr lang="en-US" sz="1300" dirty="0">
                          <a:solidFill>
                            <a:srgbClr val="26303F"/>
                          </a:solidFill>
                          <a:latin typeface="Calibri" pitchFamily="34" charset="0"/>
                          <a:ea typeface="Calibri" pitchFamily="34" charset="-122"/>
                          <a:cs typeface="Calibri" pitchFamily="34" charset="-120"/>
                        </a:rPr>
                        <a:t>Implementation</a:t>
                      </a:r>
                      <a:endParaRPr lang="en-US" sz="130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300" dirty="0">
                          <a:solidFill>
                            <a:srgbClr val="26303F"/>
                          </a:solidFill>
                          <a:latin typeface="Calibri" pitchFamily="34" charset="0"/>
                          <a:ea typeface="Calibri" pitchFamily="34" charset="-122"/>
                          <a:cs typeface="Calibri" pitchFamily="34" charset="-120"/>
                        </a:rPr>
                        <a:t>14 Jul – 24 Aug</a:t>
                      </a:r>
                      <a:endParaRPr lang="en-US" sz="130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300" dirty="0">
                          <a:solidFill>
                            <a:srgbClr val="26303F"/>
                          </a:solidFill>
                          <a:latin typeface="Calibri" pitchFamily="34" charset="0"/>
                          <a:ea typeface="Calibri" pitchFamily="34" charset="-122"/>
                          <a:cs typeface="Calibri" pitchFamily="34" charset="-120"/>
                        </a:rPr>
                        <a:t>Working system</a:t>
                      </a:r>
                      <a:endParaRPr lang="en-US" sz="130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420624">
                <a:tc>
                  <a:txBody>
                    <a:bodyPr/>
                    <a:lstStyle/>
                    <a:p>
                      <a:pPr indent="0" marL="0">
                        <a:buNone/>
                      </a:pPr>
                      <a:r>
                        <a:rPr lang="en-US" sz="1300" dirty="0">
                          <a:solidFill>
                            <a:srgbClr val="26303F"/>
                          </a:solidFill>
                          <a:latin typeface="Calibri" pitchFamily="34" charset="0"/>
                          <a:ea typeface="Calibri" pitchFamily="34" charset="-122"/>
                          <a:cs typeface="Calibri" pitchFamily="34" charset="-120"/>
                        </a:rPr>
                        <a:t>Testing</a:t>
                      </a:r>
                      <a:endParaRPr lang="en-US" sz="130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en-US" sz="1300" dirty="0">
                          <a:solidFill>
                            <a:srgbClr val="26303F"/>
                          </a:solidFill>
                          <a:latin typeface="Calibri" pitchFamily="34" charset="0"/>
                          <a:ea typeface="Calibri" pitchFamily="34" charset="-122"/>
                          <a:cs typeface="Calibri" pitchFamily="34" charset="-120"/>
                        </a:rPr>
                        <a:t>25 Aug – 7 Sep</a:t>
                      </a:r>
                      <a:endParaRPr lang="en-US" sz="130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en-US" sz="1300" dirty="0">
                          <a:solidFill>
                            <a:srgbClr val="26303F"/>
                          </a:solidFill>
                          <a:latin typeface="Calibri" pitchFamily="34" charset="0"/>
                          <a:ea typeface="Calibri" pitchFamily="34" charset="-122"/>
                          <a:cs typeface="Calibri" pitchFamily="34" charset="-120"/>
                        </a:rPr>
                        <a:t>Tested system and test report</a:t>
                      </a:r>
                      <a:endParaRPr lang="en-US" sz="130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r>
              <a:tr h="420624">
                <a:tc>
                  <a:txBody>
                    <a:bodyPr/>
                    <a:lstStyle/>
                    <a:p>
                      <a:pPr indent="0" marL="0">
                        <a:buNone/>
                      </a:pPr>
                      <a:r>
                        <a:rPr lang="en-US" sz="1300" dirty="0">
                          <a:solidFill>
                            <a:srgbClr val="26303F"/>
                          </a:solidFill>
                          <a:latin typeface="Calibri" pitchFamily="34" charset="0"/>
                          <a:ea typeface="Calibri" pitchFamily="34" charset="-122"/>
                          <a:cs typeface="Calibri" pitchFamily="34" charset="-120"/>
                        </a:rPr>
                        <a:t>Deployment and maintenance</a:t>
                      </a:r>
                      <a:endParaRPr lang="en-US" sz="130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300" dirty="0">
                          <a:solidFill>
                            <a:srgbClr val="26303F"/>
                          </a:solidFill>
                          <a:latin typeface="Calibri" pitchFamily="34" charset="0"/>
                          <a:ea typeface="Calibri" pitchFamily="34" charset="-122"/>
                          <a:cs typeface="Calibri" pitchFamily="34" charset="-120"/>
                        </a:rPr>
                        <a:t>8 Sep – 15 Sep</a:t>
                      </a:r>
                      <a:endParaRPr lang="en-US" sz="130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300" dirty="0">
                          <a:solidFill>
                            <a:srgbClr val="26303F"/>
                          </a:solidFill>
                          <a:latin typeface="Calibri" pitchFamily="34" charset="0"/>
                          <a:ea typeface="Calibri" pitchFamily="34" charset="-122"/>
                          <a:cs typeface="Calibri" pitchFamily="34" charset="-120"/>
                        </a:rPr>
                        <a:t>Live system and project report</a:t>
                      </a:r>
                      <a:endParaRPr lang="en-US" sz="130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bl>
          </a:graphicData>
        </a:graphic>
      </p:graphicFrame>
      <p:sp>
        <p:nvSpPr>
          <p:cNvPr id="13" name="Text 8"/>
          <p:cNvSpPr/>
          <p:nvPr/>
        </p:nvSpPr>
        <p:spPr>
          <a:xfrm>
            <a:off x="6035040" y="5257800"/>
            <a:ext cx="5605272" cy="822960"/>
          </a:xfrm>
          <a:prstGeom prst="rect">
            <a:avLst/>
          </a:prstGeom>
          <a:noFill/>
          <a:ln/>
        </p:spPr>
        <p:txBody>
          <a:bodyPr wrap="square" lIns="0" tIns="0" rIns="0" bIns="0" rtlCol="0" anchor="t"/>
          <a:lstStyle/>
          <a:p>
            <a:pPr indent="0" marL="0">
              <a:buNone/>
            </a:pPr>
            <a:r>
              <a:rPr lang="en-US" sz="1400" i="1" dirty="0">
                <a:solidFill>
                  <a:srgbClr val="66707F"/>
                </a:solidFill>
                <a:latin typeface="Calibri" pitchFamily="34" charset="0"/>
                <a:ea typeface="Calibri" pitchFamily="34" charset="-122"/>
                <a:cs typeface="Calibri" pitchFamily="34" charset="-120"/>
              </a:rPr>
              <a:t>During implementation the two of us worked on separate features and reviewed each other's work before it was merged.</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64240" cy="640080"/>
          </a:xfrm>
          <a:prstGeom prst="rect">
            <a:avLst/>
          </a:prstGeom>
          <a:noFill/>
          <a:ln/>
        </p:spPr>
        <p:txBody>
          <a:bodyPr wrap="square" lIns="0" tIns="0" rIns="0" bIns="0" rtlCol="0" anchor="b"/>
          <a:lstStyle/>
          <a:p>
            <a:pPr indent="0" marL="0">
              <a:buNone/>
            </a:pPr>
            <a:r>
              <a:rPr lang="en-US" sz="2800" dirty="0">
                <a:solidFill>
                  <a:srgbClr val="14213D"/>
                </a:solidFill>
                <a:latin typeface="Georgia" pitchFamily="34" charset="0"/>
                <a:ea typeface="Georgia" pitchFamily="34" charset="-122"/>
                <a:cs typeface="Georgia" pitchFamily="34" charset="-120"/>
              </a:rPr>
              <a:t>Background Study and Literature Review</a:t>
            </a:r>
            <a:endParaRPr lang="en-US" sz="2800" dirty="0"/>
          </a:p>
        </p:txBody>
      </p:sp>
      <p:sp>
        <p:nvSpPr>
          <p:cNvPr id="3" name="Shape 1"/>
          <p:cNvSpPr/>
          <p:nvPr/>
        </p:nvSpPr>
        <p:spPr>
          <a:xfrm>
            <a:off x="548640" y="1060704"/>
            <a:ext cx="822960" cy="45720"/>
          </a:xfrm>
          <a:prstGeom prst="rect">
            <a:avLst/>
          </a:prstGeom>
          <a:solidFill>
            <a:srgbClr val="1F5FAD"/>
          </a:solidFill>
          <a:ln w="12700">
            <a:solidFill>
              <a:srgbClr val="1F5FAD"/>
            </a:solidFill>
            <a:prstDash val="solid"/>
          </a:ln>
        </p:spPr>
      </p:sp>
      <p:sp>
        <p:nvSpPr>
          <p:cNvPr id="4" name="Shape 2"/>
          <p:cNvSpPr/>
          <p:nvPr/>
        </p:nvSpPr>
        <p:spPr>
          <a:xfrm>
            <a:off x="548640" y="6382512"/>
            <a:ext cx="11091672" cy="0"/>
          </a:xfrm>
          <a:prstGeom prst="line">
            <a:avLst/>
          </a:prstGeom>
          <a:noFill/>
          <a:ln w="9525">
            <a:solidFill>
              <a:srgbClr val="D5DAE1"/>
            </a:solidFill>
            <a:prstDash val="solid"/>
          </a:ln>
        </p:spPr>
      </p:sp>
      <p:sp>
        <p:nvSpPr>
          <p:cNvPr id="5" name="Text 3"/>
          <p:cNvSpPr/>
          <p:nvPr/>
        </p:nvSpPr>
        <p:spPr>
          <a:xfrm>
            <a:off x="548640" y="6428232"/>
            <a:ext cx="3657600" cy="274320"/>
          </a:xfrm>
          <a:prstGeom prst="rect">
            <a:avLst/>
          </a:prstGeom>
          <a:noFill/>
          <a:ln/>
        </p:spPr>
        <p:txBody>
          <a:bodyPr wrap="square" lIns="0" tIns="0" rIns="0" bIns="0" rtlCol="0" anchor="ctr"/>
          <a:lstStyle/>
          <a:p>
            <a:pPr indent="0" marL="0">
              <a:buNone/>
            </a:pPr>
            <a:r>
              <a:rPr lang="en-US" sz="1050" dirty="0">
                <a:solidFill>
                  <a:srgbClr val="66707F"/>
                </a:solidFill>
                <a:latin typeface="Georgia" pitchFamily="34" charset="0"/>
                <a:ea typeface="Georgia" pitchFamily="34" charset="-122"/>
                <a:cs typeface="Georgia" pitchFamily="34" charset="-120"/>
              </a:rPr>
              <a:t>Smart Helpdesk</a:t>
            </a:r>
            <a:endParaRPr lang="en-US" sz="1050" dirty="0"/>
          </a:p>
        </p:txBody>
      </p:sp>
      <p:sp>
        <p:nvSpPr>
          <p:cNvPr id="6" name="Text 4"/>
          <p:cNvSpPr/>
          <p:nvPr/>
        </p:nvSpPr>
        <p:spPr>
          <a:xfrm>
            <a:off x="5669280" y="6428232"/>
            <a:ext cx="5971032" cy="274320"/>
          </a:xfrm>
          <a:prstGeom prst="rect">
            <a:avLst/>
          </a:prstGeom>
          <a:noFill/>
          <a:ln/>
        </p:spPr>
        <p:txBody>
          <a:bodyPr wrap="square" lIns="0" tIns="0" rIns="0" bIns="0" rtlCol="0" anchor="ctr"/>
          <a:lstStyle/>
          <a:p>
            <a:pPr algn="r" indent="0" marL="0">
              <a:buNone/>
            </a:pPr>
            <a:r>
              <a:rPr lang="en-US" sz="1050" dirty="0">
                <a:solidFill>
                  <a:srgbClr val="66707F"/>
                </a:solidFill>
                <a:latin typeface="Calibri" pitchFamily="34" charset="0"/>
                <a:ea typeface="Calibri" pitchFamily="34" charset="-122"/>
                <a:cs typeface="Calibri" pitchFamily="34" charset="-120"/>
              </a:rPr>
              <a:t>Chapter 2: Background Study and Literature Review      5 / 13</a:t>
            </a:r>
            <a:endParaRPr lang="en-US" sz="1050" dirty="0"/>
          </a:p>
        </p:txBody>
      </p:sp>
      <p:sp>
        <p:nvSpPr>
          <p:cNvPr id="8" name="Text 5"/>
          <p:cNvSpPr/>
          <p:nvPr/>
        </p:nvSpPr>
        <p:spPr>
          <a:xfrm>
            <a:off x="548640" y="1371600"/>
            <a:ext cx="4389120" cy="365760"/>
          </a:xfrm>
          <a:prstGeom prst="rect">
            <a:avLst/>
          </a:prstGeom>
          <a:noFill/>
          <a:ln/>
        </p:spPr>
        <p:txBody>
          <a:bodyPr wrap="square" lIns="0" tIns="0" rIns="0" bIns="0" rtlCol="0" anchor="ctr"/>
          <a:lstStyle/>
          <a:p>
            <a:pPr indent="0" marL="0">
              <a:buNone/>
            </a:pPr>
            <a:r>
              <a:rPr lang="en-US" sz="1700" dirty="0">
                <a:solidFill>
                  <a:srgbClr val="14213D"/>
                </a:solidFill>
                <a:latin typeface="Georgia" pitchFamily="34" charset="0"/>
                <a:ea typeface="Georgia" pitchFamily="34" charset="-122"/>
                <a:cs typeface="Georgia" pitchFamily="34" charset="-120"/>
              </a:rPr>
              <a:t>Concepts the system builds on</a:t>
            </a:r>
            <a:endParaRPr lang="en-US" sz="1700" dirty="0"/>
          </a:p>
        </p:txBody>
      </p:sp>
      <p:sp>
        <p:nvSpPr>
          <p:cNvPr id="9" name="Text 6"/>
          <p:cNvSpPr/>
          <p:nvPr/>
        </p:nvSpPr>
        <p:spPr>
          <a:xfrm>
            <a:off x="548640" y="1828800"/>
            <a:ext cx="4389120" cy="4389120"/>
          </a:xfrm>
          <a:prstGeom prst="rect">
            <a:avLst/>
          </a:prstGeom>
          <a:noFill/>
          <a:ln/>
        </p:spPr>
        <p:txBody>
          <a:bodyPr wrap="square" lIns="25400" tIns="25400" rIns="25400" bIns="25400" rtlCol="0" anchor="t"/>
          <a:lstStyle/>
          <a:p>
            <a:pPr marL="190500" indent="-190500">
              <a:lnSpc>
                <a:spcPct val="105000"/>
              </a:lnSpc>
              <a:spcAft>
                <a:spcPts val="800"/>
              </a:spcAft>
              <a:buSzPct val="100000"/>
              <a:buChar char="•"/>
            </a:pPr>
            <a:r>
              <a:rPr lang="en-US" sz="1400" b="1" dirty="0">
                <a:solidFill>
                  <a:srgbClr val="14213D"/>
                </a:solidFill>
                <a:latin typeface="Calibri" pitchFamily="34" charset="0"/>
                <a:ea typeface="Calibri" pitchFamily="34" charset="-122"/>
                <a:cs typeface="Calibri" pitchFamily="34" charset="-120"/>
              </a:rPr>
              <a:t>Priority</a:t>
            </a:r>
            <a:r>
              <a:rPr lang="en-US" sz="1400" dirty="0">
                <a:solidFill>
                  <a:srgbClr val="26303F"/>
                </a:solidFill>
                <a:latin typeface="Calibri" pitchFamily="34" charset="0"/>
                <a:ea typeface="Calibri" pitchFamily="34" charset="-122"/>
                <a:cs typeface="Calibri" pitchFamily="34" charset="-120"/>
              </a:rPr>
              <a:t> is usually derived from impact and urgency (ITIL, Jira); waiting time can be added as an ageing term.</a:t>
            </a:r>
            <a:endParaRPr lang="en-US" sz="1400" dirty="0"/>
          </a:p>
          <a:p>
            <a:pPr marL="190500" indent="-190500">
              <a:lnSpc>
                <a:spcPct val="105000"/>
              </a:lnSpc>
              <a:spcAft>
                <a:spcPts val="800"/>
              </a:spcAft>
              <a:buSzPct val="100000"/>
              <a:buChar char="•"/>
            </a:pPr>
            <a:r>
              <a:rPr lang="en-US" sz="1400" b="1" dirty="0">
                <a:solidFill>
                  <a:srgbClr val="14213D"/>
                </a:solidFill>
                <a:latin typeface="Calibri" pitchFamily="34" charset="0"/>
                <a:ea typeface="Calibri" pitchFamily="34" charset="-122"/>
                <a:cs typeface="Calibri" pitchFamily="34" charset="-120"/>
              </a:rPr>
              <a:t>Simple additive weighting</a:t>
            </a:r>
            <a:r>
              <a:rPr lang="en-US" sz="1400" dirty="0">
                <a:solidFill>
                  <a:srgbClr val="26303F"/>
                </a:solidFill>
                <a:latin typeface="Calibri" pitchFamily="34" charset="0"/>
                <a:ea typeface="Calibri" pitchFamily="34" charset="-122"/>
                <a:cs typeface="Calibri" pitchFamily="34" charset="-120"/>
              </a:rPr>
              <a:t> scores an option as a weighted sum of its scaled criteria.</a:t>
            </a:r>
            <a:endParaRPr lang="en-US" sz="1400" dirty="0"/>
          </a:p>
          <a:p>
            <a:pPr marL="190500" indent="-190500">
              <a:lnSpc>
                <a:spcPct val="105000"/>
              </a:lnSpc>
              <a:spcAft>
                <a:spcPts val="800"/>
              </a:spcAft>
              <a:buSzPct val="100000"/>
              <a:buChar char="•"/>
            </a:pPr>
            <a:r>
              <a:rPr lang="en-US" sz="1400" b="1" dirty="0">
                <a:solidFill>
                  <a:srgbClr val="14213D"/>
                </a:solidFill>
                <a:latin typeface="Calibri" pitchFamily="34" charset="0"/>
                <a:ea typeface="Calibri" pitchFamily="34" charset="-122"/>
                <a:cs typeface="Calibri" pitchFamily="34" charset="-120"/>
              </a:rPr>
              <a:t>Least-loaded routing</a:t>
            </a:r>
            <a:r>
              <a:rPr lang="en-US" sz="1400" dirty="0">
                <a:solidFill>
                  <a:srgbClr val="26303F"/>
                </a:solidFill>
                <a:latin typeface="Calibri" pitchFamily="34" charset="0"/>
                <a:ea typeface="Calibri" pitchFamily="34" charset="-122"/>
                <a:cs typeface="Calibri" pitchFamily="34" charset="-120"/>
              </a:rPr>
              <a:t> from contact centres sends work to the least busy agent with the right skill.</a:t>
            </a:r>
            <a:endParaRPr lang="en-US" sz="1400" dirty="0"/>
          </a:p>
          <a:p>
            <a:pPr marL="190500" indent="-190500">
              <a:lnSpc>
                <a:spcPct val="105000"/>
              </a:lnSpc>
              <a:spcAft>
                <a:spcPts val="800"/>
              </a:spcAft>
              <a:buSzPct val="100000"/>
              <a:buChar char="•"/>
            </a:pPr>
            <a:r>
              <a:rPr lang="en-US" sz="1400" b="1" dirty="0">
                <a:solidFill>
                  <a:srgbClr val="14213D"/>
                </a:solidFill>
                <a:latin typeface="Calibri" pitchFamily="34" charset="0"/>
                <a:ea typeface="Calibri" pitchFamily="34" charset="-122"/>
                <a:cs typeface="Calibri" pitchFamily="34" charset="-120"/>
              </a:rPr>
              <a:t>Jaccard similarity</a:t>
            </a:r>
            <a:r>
              <a:rPr lang="en-US" sz="1400" dirty="0">
                <a:solidFill>
                  <a:srgbClr val="26303F"/>
                </a:solidFill>
                <a:latin typeface="Calibri" pitchFamily="34" charset="0"/>
                <a:ea typeface="Calibri" pitchFamily="34" charset="-122"/>
                <a:cs typeface="Calibri" pitchFamily="34" charset="-120"/>
              </a:rPr>
              <a:t> compares two texts by their shared words.</a:t>
            </a:r>
            <a:endParaRPr lang="en-US" sz="1400" dirty="0"/>
          </a:p>
          <a:p>
            <a:pPr marL="190500" indent="-190500">
              <a:lnSpc>
                <a:spcPct val="105000"/>
              </a:lnSpc>
              <a:spcAft>
                <a:spcPts val="800"/>
              </a:spcAft>
              <a:buSzPct val="100000"/>
              <a:buChar char="•"/>
            </a:pPr>
            <a:r>
              <a:rPr lang="en-US" sz="1400" b="1" dirty="0">
                <a:solidFill>
                  <a:srgbClr val="14213D"/>
                </a:solidFill>
                <a:latin typeface="Calibri" pitchFamily="34" charset="0"/>
                <a:ea typeface="Calibri" pitchFamily="34" charset="-122"/>
                <a:cs typeface="Calibri" pitchFamily="34" charset="-120"/>
              </a:rPr>
              <a:t>Row-level security</a:t>
            </a:r>
            <a:r>
              <a:rPr lang="en-US" sz="1400" dirty="0">
                <a:solidFill>
                  <a:srgbClr val="26303F"/>
                </a:solidFill>
                <a:latin typeface="Calibri" pitchFamily="34" charset="0"/>
                <a:ea typeface="Calibri" pitchFamily="34" charset="-122"/>
                <a:cs typeface="Calibri" pitchFamily="34" charset="-120"/>
              </a:rPr>
              <a:t> in PostgreSQL lets the database itself keep tenants apart.</a:t>
            </a:r>
            <a:endParaRPr lang="en-US" sz="1400" dirty="0"/>
          </a:p>
        </p:txBody>
      </p:sp>
      <p:sp>
        <p:nvSpPr>
          <p:cNvPr id="10" name="Shape 7"/>
          <p:cNvSpPr/>
          <p:nvPr/>
        </p:nvSpPr>
        <p:spPr>
          <a:xfrm>
            <a:off x="5212080" y="1417320"/>
            <a:ext cx="0" cy="4754880"/>
          </a:xfrm>
          <a:prstGeom prst="line">
            <a:avLst/>
          </a:prstGeom>
          <a:noFill/>
          <a:ln w="9525">
            <a:solidFill>
              <a:srgbClr val="D5DAE1"/>
            </a:solidFill>
            <a:prstDash val="solid"/>
          </a:ln>
        </p:spPr>
      </p:sp>
      <p:sp>
        <p:nvSpPr>
          <p:cNvPr id="11" name="Text 8"/>
          <p:cNvSpPr/>
          <p:nvPr/>
        </p:nvSpPr>
        <p:spPr>
          <a:xfrm>
            <a:off x="5486400" y="1371600"/>
            <a:ext cx="6126480" cy="365760"/>
          </a:xfrm>
          <a:prstGeom prst="rect">
            <a:avLst/>
          </a:prstGeom>
          <a:noFill/>
          <a:ln/>
        </p:spPr>
        <p:txBody>
          <a:bodyPr wrap="square" lIns="0" tIns="0" rIns="0" bIns="0" rtlCol="0" anchor="ctr"/>
          <a:lstStyle/>
          <a:p>
            <a:pPr indent="0" marL="0">
              <a:buNone/>
            </a:pPr>
            <a:r>
              <a:rPr lang="en-US" sz="1700" dirty="0">
                <a:solidFill>
                  <a:srgbClr val="14213D"/>
                </a:solidFill>
                <a:latin typeface="Georgia" pitchFamily="34" charset="0"/>
                <a:ea typeface="Georgia" pitchFamily="34" charset="-122"/>
                <a:cs typeface="Georgia" pitchFamily="34" charset="-120"/>
              </a:rPr>
              <a:t>Existing open-source helpdesks</a:t>
            </a:r>
            <a:endParaRPr lang="en-US" sz="17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0" y="1828800"/>
          <a:ext cx="6153912" cy="914400"/>
        </p:xfrm>
        <a:graphic>
          <a:graphicData uri="http://schemas.openxmlformats.org/drawingml/2006/table">
            <a:tbl>
              <a:tblPr/>
              <a:tblGrid>
                <a:gridCol w="1005840"/>
                <a:gridCol w="1371600"/>
                <a:gridCol w="1508760"/>
                <a:gridCol w="987552"/>
                <a:gridCol w="1280160"/>
              </a:tblGrid>
              <a:tr h="47548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System</a:t>
                      </a:r>
                      <a:endParaRPr lang="en-US" sz="120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Priority</a:t>
                      </a:r>
                      <a:endParaRPr lang="en-US" sz="120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Assignment</a:t>
                      </a:r>
                      <a:endParaRPr lang="en-US" sz="120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Duplicates</a:t>
                      </a:r>
                      <a:endParaRPr lang="en-US" sz="120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SLA</a:t>
                      </a:r>
                      <a:endParaRPr lang="en-US" sz="120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4213D"/>
                    </a:solidFill>
                  </a:tcPr>
                </a:tc>
              </a:tr>
              <a:tr h="475488">
                <a:tc>
                  <a:txBody>
                    <a:bodyPr/>
                    <a:lstStyle/>
                    <a:p>
                      <a:pPr indent="0" marL="0">
                        <a:buNone/>
                      </a:pPr>
                      <a:r>
                        <a:rPr lang="en-US" sz="1200" dirty="0">
                          <a:solidFill>
                            <a:srgbClr val="26303F"/>
                          </a:solidFill>
                          <a:latin typeface="Calibri" pitchFamily="34" charset="0"/>
                          <a:ea typeface="Calibri" pitchFamily="34" charset="-122"/>
                          <a:cs typeface="Calibri" pitchFamily="34" charset="-120"/>
                        </a:rPr>
                        <a:t>osTicket</a:t>
                      </a:r>
                      <a:endParaRPr lang="en-US" sz="120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26303F"/>
                          </a:solidFill>
                          <a:latin typeface="Calibri" pitchFamily="34" charset="0"/>
                          <a:ea typeface="Calibri" pitchFamily="34" charset="-122"/>
                          <a:cs typeface="Calibri" pitchFamily="34" charset="-120"/>
                        </a:rPr>
                        <a:t>manual per help topic</a:t>
                      </a:r>
                      <a:endParaRPr lang="en-US" sz="120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26303F"/>
                          </a:solidFill>
                          <a:latin typeface="Calibri" pitchFamily="34" charset="0"/>
                          <a:ea typeface="Calibri" pitchFamily="34" charset="-122"/>
                          <a:cs typeface="Calibri" pitchFamily="34" charset="-120"/>
                        </a:rPr>
                        <a:t>by department, manual claim</a:t>
                      </a:r>
                      <a:endParaRPr lang="en-US" sz="120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26303F"/>
                          </a:solidFill>
                          <a:latin typeface="Calibri" pitchFamily="34" charset="0"/>
                          <a:ea typeface="Calibri" pitchFamily="34" charset="-122"/>
                          <a:cs typeface="Calibri" pitchFamily="34" charset="-120"/>
                        </a:rPr>
                        <a:t>none</a:t>
                      </a:r>
                      <a:endParaRPr lang="en-US" sz="120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26303F"/>
                          </a:solidFill>
                          <a:latin typeface="Calibri" pitchFamily="34" charset="0"/>
                          <a:ea typeface="Calibri" pitchFamily="34" charset="-122"/>
                          <a:cs typeface="Calibri" pitchFamily="34" charset="-120"/>
                        </a:rPr>
                        <a:t>overdue after a grace period</a:t>
                      </a:r>
                      <a:endParaRPr lang="en-US" sz="120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475488">
                <a:tc>
                  <a:txBody>
                    <a:bodyPr/>
                    <a:lstStyle/>
                    <a:p>
                      <a:pPr indent="0" marL="0">
                        <a:buNone/>
                      </a:pPr>
                      <a:r>
                        <a:rPr lang="en-US" sz="1200" dirty="0">
                          <a:solidFill>
                            <a:srgbClr val="26303F"/>
                          </a:solidFill>
                          <a:latin typeface="Calibri" pitchFamily="34" charset="0"/>
                          <a:ea typeface="Calibri" pitchFamily="34" charset="-122"/>
                          <a:cs typeface="Calibri" pitchFamily="34" charset="-120"/>
                        </a:rPr>
                        <a:t>Zammad</a:t>
                      </a:r>
                      <a:endParaRPr lang="en-US" sz="120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en-US" sz="1200" dirty="0">
                          <a:solidFill>
                            <a:srgbClr val="26303F"/>
                          </a:solidFill>
                          <a:latin typeface="Calibri" pitchFamily="34" charset="0"/>
                          <a:ea typeface="Calibri" pitchFamily="34" charset="-122"/>
                          <a:cs typeface="Calibri" pitchFamily="34" charset="-120"/>
                        </a:rPr>
                        <a:t>three fixed levels</a:t>
                      </a:r>
                      <a:endParaRPr lang="en-US" sz="120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en-US" sz="1200" dirty="0">
                          <a:solidFill>
                            <a:srgbClr val="26303F"/>
                          </a:solidFill>
                          <a:latin typeface="Calibri" pitchFamily="34" charset="0"/>
                          <a:ea typeface="Calibri" pitchFamily="34" charset="-122"/>
                          <a:cs typeface="Calibri" pitchFamily="34" charset="-120"/>
                        </a:rPr>
                        <a:t>group rules, no workload</a:t>
                      </a:r>
                      <a:endParaRPr lang="en-US" sz="120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en-US" sz="1200" dirty="0">
                          <a:solidFill>
                            <a:srgbClr val="26303F"/>
                          </a:solidFill>
                          <a:latin typeface="Calibri" pitchFamily="34" charset="0"/>
                          <a:ea typeface="Calibri" pitchFamily="34" charset="-122"/>
                          <a:cs typeface="Calibri" pitchFamily="34" charset="-120"/>
                        </a:rPr>
                        <a:t>manual merge</a:t>
                      </a:r>
                      <a:endParaRPr lang="en-US" sz="120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en-US" sz="1200" dirty="0">
                          <a:solidFill>
                            <a:srgbClr val="26303F"/>
                          </a:solidFill>
                          <a:latin typeface="Calibri" pitchFamily="34" charset="0"/>
                          <a:ea typeface="Calibri" pitchFamily="34" charset="-122"/>
                          <a:cs typeface="Calibri" pitchFamily="34" charset="-120"/>
                        </a:rPr>
                        <a:t>timers with calendars</a:t>
                      </a:r>
                      <a:endParaRPr lang="en-US" sz="120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r>
              <a:tr h="475488">
                <a:tc>
                  <a:txBody>
                    <a:bodyPr/>
                    <a:lstStyle/>
                    <a:p>
                      <a:pPr indent="0" marL="0">
                        <a:buNone/>
                      </a:pPr>
                      <a:r>
                        <a:rPr lang="en-US" sz="1200" dirty="0">
                          <a:solidFill>
                            <a:srgbClr val="26303F"/>
                          </a:solidFill>
                          <a:latin typeface="Calibri" pitchFamily="34" charset="0"/>
                          <a:ea typeface="Calibri" pitchFamily="34" charset="-122"/>
                          <a:cs typeface="Calibri" pitchFamily="34" charset="-120"/>
                        </a:rPr>
                        <a:t>GLPI</a:t>
                      </a:r>
                      <a:endParaRPr lang="en-US" sz="120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26303F"/>
                          </a:solidFill>
                          <a:latin typeface="Calibri" pitchFamily="34" charset="0"/>
                          <a:ea typeface="Calibri" pitchFamily="34" charset="-122"/>
                          <a:cs typeface="Calibri" pitchFamily="34" charset="-120"/>
                        </a:rPr>
                        <a:t>urgency × impact matrix</a:t>
                      </a:r>
                      <a:endParaRPr lang="en-US" sz="120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26303F"/>
                          </a:solidFill>
                          <a:latin typeface="Calibri" pitchFamily="34" charset="0"/>
                          <a:ea typeface="Calibri" pitchFamily="34" charset="-122"/>
                          <a:cs typeface="Calibri" pitchFamily="34" charset="-120"/>
                        </a:rPr>
                        <a:t>rules pick a technician</a:t>
                      </a:r>
                      <a:endParaRPr lang="en-US" sz="120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26303F"/>
                          </a:solidFill>
                          <a:latin typeface="Calibri" pitchFamily="34" charset="0"/>
                          <a:ea typeface="Calibri" pitchFamily="34" charset="-122"/>
                          <a:cs typeface="Calibri" pitchFamily="34" charset="-120"/>
                        </a:rPr>
                        <a:t>none</a:t>
                      </a:r>
                      <a:endParaRPr lang="en-US" sz="120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26303F"/>
                          </a:solidFill>
                          <a:latin typeface="Calibri" pitchFamily="34" charset="0"/>
                          <a:ea typeface="Calibri" pitchFamily="34" charset="-122"/>
                          <a:cs typeface="Calibri" pitchFamily="34" charset="-120"/>
                        </a:rPr>
                        <a:t>attached by rules</a:t>
                      </a:r>
                      <a:endParaRPr lang="en-US" sz="120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475488">
                <a:tc>
                  <a:txBody>
                    <a:bodyPr/>
                    <a:lstStyle/>
                    <a:p>
                      <a:pPr indent="0" marL="0">
                        <a:buNone/>
                      </a:pPr>
                      <a:r>
                        <a:rPr lang="en-US" sz="1200" dirty="0">
                          <a:solidFill>
                            <a:srgbClr val="26303F"/>
                          </a:solidFill>
                          <a:latin typeface="Calibri" pitchFamily="34" charset="0"/>
                          <a:ea typeface="Calibri" pitchFamily="34" charset="-122"/>
                          <a:cs typeface="Calibri" pitchFamily="34" charset="-120"/>
                        </a:rPr>
                        <a:t>FreeScout</a:t>
                      </a:r>
                      <a:endParaRPr lang="en-US" sz="120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en-US" sz="1200" dirty="0">
                          <a:solidFill>
                            <a:srgbClr val="26303F"/>
                          </a:solidFill>
                          <a:latin typeface="Calibri" pitchFamily="34" charset="0"/>
                          <a:ea typeface="Calibri" pitchFamily="34" charset="-122"/>
                          <a:cs typeface="Calibri" pitchFamily="34" charset="-120"/>
                        </a:rPr>
                        <a:t>minimal</a:t>
                      </a:r>
                      <a:endParaRPr lang="en-US" sz="120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en-US" sz="1200" dirty="0">
                          <a:solidFill>
                            <a:srgbClr val="26303F"/>
                          </a:solidFill>
                          <a:latin typeface="Calibri" pitchFamily="34" charset="0"/>
                          <a:ea typeface="Calibri" pitchFamily="34" charset="-122"/>
                          <a:cs typeface="Calibri" pitchFamily="34" charset="-120"/>
                        </a:rPr>
                        <a:t>workflow rules</a:t>
                      </a:r>
                      <a:endParaRPr lang="en-US" sz="120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en-US" sz="1200" dirty="0">
                          <a:solidFill>
                            <a:srgbClr val="26303F"/>
                          </a:solidFill>
                          <a:latin typeface="Calibri" pitchFamily="34" charset="0"/>
                          <a:ea typeface="Calibri" pitchFamily="34" charset="-122"/>
                          <a:cs typeface="Calibri" pitchFamily="34" charset="-120"/>
                        </a:rPr>
                        <a:t>none</a:t>
                      </a:r>
                      <a:endParaRPr lang="en-US" sz="120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en-US" sz="1200" dirty="0">
                          <a:solidFill>
                            <a:srgbClr val="26303F"/>
                          </a:solidFill>
                          <a:latin typeface="Calibri" pitchFamily="34" charset="0"/>
                          <a:ea typeface="Calibri" pitchFamily="34" charset="-122"/>
                          <a:cs typeface="Calibri" pitchFamily="34" charset="-120"/>
                        </a:rPr>
                        <a:t>paid module only</a:t>
                      </a:r>
                      <a:endParaRPr lang="en-US" sz="120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r>
            </a:tbl>
          </a:graphicData>
        </a:graphic>
      </p:graphicFrame>
      <p:sp>
        <p:nvSpPr>
          <p:cNvPr id="13" name="Text 9"/>
          <p:cNvSpPr/>
          <p:nvPr/>
        </p:nvSpPr>
        <p:spPr>
          <a:xfrm>
            <a:off x="5486400" y="4434840"/>
            <a:ext cx="6153912" cy="1737360"/>
          </a:xfrm>
          <a:prstGeom prst="rect">
            <a:avLst/>
          </a:prstGeom>
          <a:noFill/>
          <a:ln/>
        </p:spPr>
        <p:txBody>
          <a:bodyPr wrap="square" lIns="0" tIns="0" rIns="0" bIns="0" rtlCol="0" anchor="t"/>
          <a:lstStyle/>
          <a:p>
            <a:pPr indent="0" marL="0">
              <a:lnSpc>
                <a:spcPct val="105000"/>
              </a:lnSpc>
              <a:buNone/>
            </a:pPr>
            <a:r>
              <a:rPr lang="en-US" sz="1450" dirty="0">
                <a:solidFill>
                  <a:srgbClr val="14213D"/>
                </a:solidFill>
                <a:latin typeface="Georgia" pitchFamily="34" charset="0"/>
                <a:ea typeface="Georgia" pitchFamily="34" charset="-122"/>
                <a:cs typeface="Georgia" pitchFamily="34" charset="-120"/>
              </a:rPr>
              <a:t>What is missing. </a:t>
            </a:r>
            <a:r>
              <a:rPr lang="en-US" sz="1450" dirty="0">
                <a:solidFill>
                  <a:srgbClr val="26303F"/>
                </a:solidFill>
                <a:latin typeface="Calibri" pitchFamily="34" charset="0"/>
                <a:ea typeface="Calibri" pitchFamily="34" charset="-122"/>
                <a:cs typeface="Calibri" pitchFamily="34" charset="-120"/>
              </a:rPr>
              <a:t>Only GLPI computes priority, and without waiting time. None of them assigns by workload and skills, and none detects duplicates automatically. Machine-learning approaches in the literature need labelled history and are hard to explain, so a transparent baseline is a reasonable place to start.</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64240" cy="640080"/>
          </a:xfrm>
          <a:prstGeom prst="rect">
            <a:avLst/>
          </a:prstGeom>
          <a:noFill/>
          <a:ln/>
        </p:spPr>
        <p:txBody>
          <a:bodyPr wrap="square" lIns="0" tIns="0" rIns="0" bIns="0" rtlCol="0" anchor="b"/>
          <a:lstStyle/>
          <a:p>
            <a:pPr indent="0" marL="0">
              <a:buNone/>
            </a:pPr>
            <a:r>
              <a:rPr lang="en-US" sz="2800" dirty="0">
                <a:solidFill>
                  <a:srgbClr val="14213D"/>
                </a:solidFill>
                <a:latin typeface="Georgia" pitchFamily="34" charset="0"/>
                <a:ea typeface="Georgia" pitchFamily="34" charset="-122"/>
                <a:cs typeface="Georgia" pitchFamily="34" charset="-120"/>
              </a:rPr>
              <a:t>Requirement Analysis</a:t>
            </a:r>
            <a:endParaRPr lang="en-US" sz="2800" dirty="0"/>
          </a:p>
        </p:txBody>
      </p:sp>
      <p:sp>
        <p:nvSpPr>
          <p:cNvPr id="3" name="Shape 1"/>
          <p:cNvSpPr/>
          <p:nvPr/>
        </p:nvSpPr>
        <p:spPr>
          <a:xfrm>
            <a:off x="548640" y="1060704"/>
            <a:ext cx="822960" cy="45720"/>
          </a:xfrm>
          <a:prstGeom prst="rect">
            <a:avLst/>
          </a:prstGeom>
          <a:solidFill>
            <a:srgbClr val="1F5FAD"/>
          </a:solidFill>
          <a:ln w="12700">
            <a:solidFill>
              <a:srgbClr val="1F5FAD"/>
            </a:solidFill>
            <a:prstDash val="solid"/>
          </a:ln>
        </p:spPr>
      </p:sp>
      <p:sp>
        <p:nvSpPr>
          <p:cNvPr id="4" name="Shape 2"/>
          <p:cNvSpPr/>
          <p:nvPr/>
        </p:nvSpPr>
        <p:spPr>
          <a:xfrm>
            <a:off x="548640" y="6382512"/>
            <a:ext cx="11091672" cy="0"/>
          </a:xfrm>
          <a:prstGeom prst="line">
            <a:avLst/>
          </a:prstGeom>
          <a:noFill/>
          <a:ln w="9525">
            <a:solidFill>
              <a:srgbClr val="D5DAE1"/>
            </a:solidFill>
            <a:prstDash val="solid"/>
          </a:ln>
        </p:spPr>
      </p:sp>
      <p:sp>
        <p:nvSpPr>
          <p:cNvPr id="5" name="Text 3"/>
          <p:cNvSpPr/>
          <p:nvPr/>
        </p:nvSpPr>
        <p:spPr>
          <a:xfrm>
            <a:off x="548640" y="6428232"/>
            <a:ext cx="3657600" cy="274320"/>
          </a:xfrm>
          <a:prstGeom prst="rect">
            <a:avLst/>
          </a:prstGeom>
          <a:noFill/>
          <a:ln/>
        </p:spPr>
        <p:txBody>
          <a:bodyPr wrap="square" lIns="0" tIns="0" rIns="0" bIns="0" rtlCol="0" anchor="ctr"/>
          <a:lstStyle/>
          <a:p>
            <a:pPr indent="0" marL="0">
              <a:buNone/>
            </a:pPr>
            <a:r>
              <a:rPr lang="en-US" sz="1050" dirty="0">
                <a:solidFill>
                  <a:srgbClr val="66707F"/>
                </a:solidFill>
                <a:latin typeface="Georgia" pitchFamily="34" charset="0"/>
                <a:ea typeface="Georgia" pitchFamily="34" charset="-122"/>
                <a:cs typeface="Georgia" pitchFamily="34" charset="-120"/>
              </a:rPr>
              <a:t>Smart Helpdesk</a:t>
            </a:r>
            <a:endParaRPr lang="en-US" sz="1050" dirty="0"/>
          </a:p>
        </p:txBody>
      </p:sp>
      <p:sp>
        <p:nvSpPr>
          <p:cNvPr id="6" name="Text 4"/>
          <p:cNvSpPr/>
          <p:nvPr/>
        </p:nvSpPr>
        <p:spPr>
          <a:xfrm>
            <a:off x="5669280" y="6428232"/>
            <a:ext cx="5971032" cy="274320"/>
          </a:xfrm>
          <a:prstGeom prst="rect">
            <a:avLst/>
          </a:prstGeom>
          <a:noFill/>
          <a:ln/>
        </p:spPr>
        <p:txBody>
          <a:bodyPr wrap="square" lIns="0" tIns="0" rIns="0" bIns="0" rtlCol="0" anchor="ctr"/>
          <a:lstStyle/>
          <a:p>
            <a:pPr algn="r" indent="0" marL="0">
              <a:buNone/>
            </a:pPr>
            <a:r>
              <a:rPr lang="en-US" sz="1050" dirty="0">
                <a:solidFill>
                  <a:srgbClr val="66707F"/>
                </a:solidFill>
                <a:latin typeface="Calibri" pitchFamily="34" charset="0"/>
                <a:ea typeface="Calibri" pitchFamily="34" charset="-122"/>
                <a:cs typeface="Calibri" pitchFamily="34" charset="-120"/>
              </a:rPr>
              <a:t>Chapter 3: System Analysis and Design      6 / 13</a:t>
            </a:r>
            <a:endParaRPr lang="en-US" sz="1050" dirty="0"/>
          </a:p>
        </p:txBody>
      </p:sp>
      <p:sp>
        <p:nvSpPr>
          <p:cNvPr id="8" name="Text 5"/>
          <p:cNvSpPr/>
          <p:nvPr/>
        </p:nvSpPr>
        <p:spPr>
          <a:xfrm>
            <a:off x="548640" y="1325880"/>
            <a:ext cx="11091672" cy="365760"/>
          </a:xfrm>
          <a:prstGeom prst="rect">
            <a:avLst/>
          </a:prstGeom>
          <a:noFill/>
          <a:ln/>
        </p:spPr>
        <p:txBody>
          <a:bodyPr wrap="square" lIns="0" tIns="0" rIns="0" bIns="0" rtlCol="0" anchor="ctr"/>
          <a:lstStyle/>
          <a:p>
            <a:pPr indent="0" marL="0">
              <a:buNone/>
            </a:pPr>
            <a:r>
              <a:rPr lang="en-US" sz="1400" dirty="0">
                <a:solidFill>
                  <a:srgbClr val="26303F"/>
                </a:solidFill>
                <a:latin typeface="Calibri" pitchFamily="34" charset="0"/>
                <a:ea typeface="Calibri" pitchFamily="34" charset="-122"/>
                <a:cs typeface="Calibri" pitchFamily="34" charset="-120"/>
              </a:rPr>
              <a:t>Actors: Platform Super Admin, Tenant Admin, Support Manager, Support Agent, external systems, Contact (by email) and the scheduler.</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6172200" cy="914400"/>
        </p:xfrm>
        <a:graphic>
          <a:graphicData uri="http://schemas.openxmlformats.org/drawingml/2006/table">
            <a:tbl>
              <a:tblPr/>
              <a:tblGrid>
                <a:gridCol w="1737360"/>
                <a:gridCol w="4434840"/>
              </a:tblGrid>
              <a:tr h="3383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Module</a:t>
                      </a:r>
                      <a:endParaRPr lang="en-US" sz="12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4213D"/>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Functional requirement</a:t>
                      </a:r>
                      <a:endParaRPr lang="en-US" sz="12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4213D"/>
                    </a:solidFill>
                  </a:tcPr>
                </a:tc>
              </a:tr>
              <a:tr h="338328">
                <a:tc>
                  <a:txBody>
                    <a:bodyPr/>
                    <a:lstStyle/>
                    <a:p>
                      <a:pPr indent="0" marL="0">
                        <a:buNone/>
                      </a:pPr>
                      <a:r>
                        <a:rPr lang="en-US" sz="1250" dirty="0">
                          <a:solidFill>
                            <a:srgbClr val="26303F"/>
                          </a:solidFill>
                          <a:latin typeface="Calibri" pitchFamily="34" charset="0"/>
                          <a:ea typeface="Calibri" pitchFamily="34" charset="-122"/>
                          <a:cs typeface="Calibri" pitchFamily="34" charset="-120"/>
                        </a:rPr>
                        <a:t>Tenancy</a:t>
                      </a:r>
                      <a:endParaRPr lang="en-US" sz="12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50" dirty="0">
                          <a:solidFill>
                            <a:srgbClr val="26303F"/>
                          </a:solidFill>
                          <a:latin typeface="Calibri" pitchFamily="34" charset="0"/>
                          <a:ea typeface="Calibri" pitchFamily="34" charset="-122"/>
                          <a:cs typeface="Calibri" pitchFamily="34" charset="-120"/>
                        </a:rPr>
                        <a:t>Create, suspend and reactivate workspaces</a:t>
                      </a:r>
                      <a:endParaRPr lang="en-US" sz="12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338328">
                <a:tc>
                  <a:txBody>
                    <a:bodyPr/>
                    <a:lstStyle/>
                    <a:p>
                      <a:pPr indent="0" marL="0">
                        <a:buNone/>
                      </a:pPr>
                      <a:r>
                        <a:rPr lang="en-US" sz="1250" dirty="0">
                          <a:solidFill>
                            <a:srgbClr val="26303F"/>
                          </a:solidFill>
                          <a:latin typeface="Calibri" pitchFamily="34" charset="0"/>
                          <a:ea typeface="Calibri" pitchFamily="34" charset="-122"/>
                          <a:cs typeface="Calibri" pitchFamily="34" charset="-120"/>
                        </a:rPr>
                        <a:t>Identity</a:t>
                      </a:r>
                      <a:endParaRPr lang="en-US" sz="12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en-US" sz="1250" dirty="0">
                          <a:solidFill>
                            <a:srgbClr val="26303F"/>
                          </a:solidFill>
                          <a:latin typeface="Calibri" pitchFamily="34" charset="0"/>
                          <a:ea typeface="Calibri" pitchFamily="34" charset="-122"/>
                          <a:cs typeface="Calibri" pitchFamily="34" charset="-120"/>
                        </a:rPr>
                        <a:t>Sign in, invitations, roles made of permissions</a:t>
                      </a:r>
                      <a:endParaRPr lang="en-US" sz="12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r>
              <a:tr h="338328">
                <a:tc>
                  <a:txBody>
                    <a:bodyPr/>
                    <a:lstStyle/>
                    <a:p>
                      <a:pPr indent="0" marL="0">
                        <a:buNone/>
                      </a:pPr>
                      <a:r>
                        <a:rPr lang="en-US" sz="1250" dirty="0">
                          <a:solidFill>
                            <a:srgbClr val="26303F"/>
                          </a:solidFill>
                          <a:latin typeface="Calibri" pitchFamily="34" charset="0"/>
                          <a:ea typeface="Calibri" pitchFamily="34" charset="-122"/>
                          <a:cs typeface="Calibri" pitchFamily="34" charset="-120"/>
                        </a:rPr>
                        <a:t>Contacts and agents</a:t>
                      </a:r>
                      <a:endParaRPr lang="en-US" sz="12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50" dirty="0">
                          <a:solidFill>
                            <a:srgbClr val="26303F"/>
                          </a:solidFill>
                          <a:latin typeface="Calibri" pitchFamily="34" charset="0"/>
                          <a:ea typeface="Calibri" pitchFamily="34" charset="-122"/>
                          <a:cs typeface="Calibri" pitchFamily="34" charset="-120"/>
                        </a:rPr>
                        <a:t>Organisations and tiers; teams, skills, capacity, shifts</a:t>
                      </a:r>
                      <a:endParaRPr lang="en-US" sz="12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338328">
                <a:tc>
                  <a:txBody>
                    <a:bodyPr/>
                    <a:lstStyle/>
                    <a:p>
                      <a:pPr indent="0" marL="0">
                        <a:buNone/>
                      </a:pPr>
                      <a:r>
                        <a:rPr lang="en-US" sz="1250" dirty="0">
                          <a:solidFill>
                            <a:srgbClr val="26303F"/>
                          </a:solidFill>
                          <a:latin typeface="Calibri" pitchFamily="34" charset="0"/>
                          <a:ea typeface="Calibri" pitchFamily="34" charset="-122"/>
                          <a:cs typeface="Calibri" pitchFamily="34" charset="-120"/>
                        </a:rPr>
                        <a:t>Tickets</a:t>
                      </a:r>
                      <a:endParaRPr lang="en-US" sz="12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en-US" sz="1250" dirty="0">
                          <a:solidFill>
                            <a:srgbClr val="26303F"/>
                          </a:solidFill>
                          <a:latin typeface="Calibri" pitchFamily="34" charset="0"/>
                          <a:ea typeface="Calibri" pitchFamily="34" charset="-122"/>
                          <a:cs typeface="Calibri" pitchFamily="34" charset="-120"/>
                        </a:rPr>
                        <a:t>Lifecycle, replies and notes, attachments, history, search</a:t>
                      </a:r>
                      <a:endParaRPr lang="en-US" sz="12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r>
              <a:tr h="338328">
                <a:tc>
                  <a:txBody>
                    <a:bodyPr/>
                    <a:lstStyle/>
                    <a:p>
                      <a:pPr indent="0" marL="0">
                        <a:buNone/>
                      </a:pPr>
                      <a:r>
                        <a:rPr lang="en-US" sz="1250" dirty="0">
                          <a:solidFill>
                            <a:srgbClr val="26303F"/>
                          </a:solidFill>
                          <a:latin typeface="Calibri" pitchFamily="34" charset="0"/>
                          <a:ea typeface="Calibri" pitchFamily="34" charset="-122"/>
                          <a:cs typeface="Calibri" pitchFamily="34" charset="-120"/>
                        </a:rPr>
                        <a:t>Automation</a:t>
                      </a:r>
                      <a:endParaRPr lang="en-US" sz="12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50" dirty="0">
                          <a:solidFill>
                            <a:srgbClr val="26303F"/>
                          </a:solidFill>
                          <a:latin typeface="Calibri" pitchFamily="34" charset="0"/>
                          <a:ea typeface="Calibri" pitchFamily="34" charset="-122"/>
                          <a:cs typeface="Calibri" pitchFamily="34" charset="-120"/>
                        </a:rPr>
                        <a:t>Score priority, assign agents, suggest duplicates, explain</a:t>
                      </a:r>
                      <a:endParaRPr lang="en-US" sz="12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338328">
                <a:tc>
                  <a:txBody>
                    <a:bodyPr/>
                    <a:lstStyle/>
                    <a:p>
                      <a:pPr indent="0" marL="0">
                        <a:buNone/>
                      </a:pPr>
                      <a:r>
                        <a:rPr lang="en-US" sz="1250" dirty="0">
                          <a:solidFill>
                            <a:srgbClr val="26303F"/>
                          </a:solidFill>
                          <a:latin typeface="Calibri" pitchFamily="34" charset="0"/>
                          <a:ea typeface="Calibri" pitchFamily="34" charset="-122"/>
                          <a:cs typeface="Calibri" pitchFamily="34" charset="-120"/>
                        </a:rPr>
                        <a:t>SLA</a:t>
                      </a:r>
                      <a:endParaRPr lang="en-US" sz="12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en-US" sz="1250" dirty="0">
                          <a:solidFill>
                            <a:srgbClr val="26303F"/>
                          </a:solidFill>
                          <a:latin typeface="Calibri" pitchFamily="34" charset="0"/>
                          <a:ea typeface="Calibri" pitchFamily="34" charset="-122"/>
                          <a:cs typeface="Calibri" pitchFamily="34" charset="-120"/>
                        </a:rPr>
                        <a:t>Policies, calendars, timers, pause while pending, warn, breach</a:t>
                      </a:r>
                      <a:endParaRPr lang="en-US" sz="12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r>
              <a:tr h="338328">
                <a:tc>
                  <a:txBody>
                    <a:bodyPr/>
                    <a:lstStyle/>
                    <a:p>
                      <a:pPr indent="0" marL="0">
                        <a:buNone/>
                      </a:pPr>
                      <a:r>
                        <a:rPr lang="en-US" sz="1250" dirty="0">
                          <a:solidFill>
                            <a:srgbClr val="26303F"/>
                          </a:solidFill>
                          <a:latin typeface="Calibri" pitchFamily="34" charset="0"/>
                          <a:ea typeface="Calibri" pitchFamily="34" charset="-122"/>
                          <a:cs typeface="Calibri" pitchFamily="34" charset="-120"/>
                        </a:rPr>
                        <a:t>Media and email</a:t>
                      </a:r>
                      <a:endParaRPr lang="en-US" sz="12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50" dirty="0">
                          <a:solidFill>
                            <a:srgbClr val="26303F"/>
                          </a:solidFill>
                          <a:latin typeface="Calibri" pitchFamily="34" charset="0"/>
                          <a:ea typeface="Calibri" pitchFamily="34" charset="-122"/>
                          <a:cs typeface="Calibri" pitchFamily="34" charset="-120"/>
                        </a:rPr>
                        <a:t>File library, notifications, email-to-ticket</a:t>
                      </a:r>
                      <a:endParaRPr lang="en-US" sz="12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338328">
                <a:tc>
                  <a:txBody>
                    <a:bodyPr/>
                    <a:lstStyle/>
                    <a:p>
                      <a:pPr indent="0" marL="0">
                        <a:buNone/>
                      </a:pPr>
                      <a:r>
                        <a:rPr lang="en-US" sz="1250" dirty="0">
                          <a:solidFill>
                            <a:srgbClr val="26303F"/>
                          </a:solidFill>
                          <a:latin typeface="Calibri" pitchFamily="34" charset="0"/>
                          <a:ea typeface="Calibri" pitchFamily="34" charset="-122"/>
                          <a:cs typeface="Calibri" pitchFamily="34" charset="-120"/>
                        </a:rPr>
                        <a:t>Integrations</a:t>
                      </a:r>
                      <a:endParaRPr lang="en-US" sz="12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en-US" sz="1250" dirty="0">
                          <a:solidFill>
                            <a:srgbClr val="26303F"/>
                          </a:solidFill>
                          <a:latin typeface="Calibri" pitchFamily="34" charset="0"/>
                          <a:ea typeface="Calibri" pitchFamily="34" charset="-122"/>
                          <a:cs typeface="Calibri" pitchFamily="34" charset="-120"/>
                        </a:rPr>
                        <a:t>REST API, client credentials, signed webhooks</a:t>
                      </a:r>
                      <a:endParaRPr lang="en-US" sz="12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r>
              <a:tr h="338328">
                <a:tc>
                  <a:txBody>
                    <a:bodyPr/>
                    <a:lstStyle/>
                    <a:p>
                      <a:pPr indent="0" marL="0">
                        <a:buNone/>
                      </a:pPr>
                      <a:r>
                        <a:rPr lang="en-US" sz="1250" dirty="0">
                          <a:solidFill>
                            <a:srgbClr val="26303F"/>
                          </a:solidFill>
                          <a:latin typeface="Calibri" pitchFamily="34" charset="0"/>
                          <a:ea typeface="Calibri" pitchFamily="34" charset="-122"/>
                          <a:cs typeface="Calibri" pitchFamily="34" charset="-120"/>
                        </a:rPr>
                        <a:t>Reporting</a:t>
                      </a:r>
                      <a:endParaRPr lang="en-US" sz="12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50" dirty="0">
                          <a:solidFill>
                            <a:srgbClr val="26303F"/>
                          </a:solidFill>
                          <a:latin typeface="Calibri" pitchFamily="34" charset="0"/>
                          <a:ea typeface="Calibri" pitchFamily="34" charset="-122"/>
                          <a:cs typeface="Calibri" pitchFamily="34" charset="-120"/>
                        </a:rPr>
                        <a:t>Change history, reports, past views, CSV and XLSX export</a:t>
                      </a:r>
                      <a:endParaRPr lang="en-US" sz="12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bl>
          </a:graphicData>
        </a:graphic>
      </p:graphicFrame>
      <p:sp>
        <p:nvSpPr>
          <p:cNvPr id="10" name="Shape 6"/>
          <p:cNvSpPr/>
          <p:nvPr/>
        </p:nvSpPr>
        <p:spPr>
          <a:xfrm>
            <a:off x="7371452" y="1792224"/>
            <a:ext cx="3892568" cy="3227832"/>
          </a:xfrm>
          <a:prstGeom prst="rect">
            <a:avLst/>
          </a:prstGeom>
          <a:solidFill>
            <a:srgbClr val="FFFFFF"/>
          </a:solidFill>
          <a:ln w="9525">
            <a:solidFill>
              <a:srgbClr val="D5DAE1"/>
            </a:solidFill>
            <a:prstDash val="solid"/>
          </a:ln>
        </p:spPr>
      </p:sp>
      <p:pic>
        <p:nvPicPr>
          <p:cNvPr id="11" name="Image 0" descr="/home/subham/Projects/college/fyp/smart-helpdesk/report/university/figures/uc-01.png">    </p:cNvPr>
          <p:cNvPicPr>
            <a:picLocks noChangeAspect="1"/>
          </p:cNvPicPr>
          <p:nvPr/>
        </p:nvPicPr>
        <p:blipFill>
          <a:blip r:embed="rId1"/>
          <a:stretch>
            <a:fillRect/>
          </a:stretch>
        </p:blipFill>
        <p:spPr>
          <a:xfrm>
            <a:off x="7408028" y="1828800"/>
            <a:ext cx="3819416" cy="3154680"/>
          </a:xfrm>
          <a:prstGeom prst="rect">
            <a:avLst/>
          </a:prstGeom>
        </p:spPr>
      </p:pic>
      <p:sp>
        <p:nvSpPr>
          <p:cNvPr id="12" name="Text 7"/>
          <p:cNvSpPr/>
          <p:nvPr/>
        </p:nvSpPr>
        <p:spPr>
          <a:xfrm>
            <a:off x="6995160" y="5074920"/>
            <a:ext cx="4645152" cy="274320"/>
          </a:xfrm>
          <a:prstGeom prst="rect">
            <a:avLst/>
          </a:prstGeom>
          <a:noFill/>
          <a:ln/>
        </p:spPr>
        <p:txBody>
          <a:bodyPr wrap="square" lIns="0" tIns="0" rIns="0" bIns="0" rtlCol="0" anchor="ctr"/>
          <a:lstStyle/>
          <a:p>
            <a:pPr algn="ctr" indent="0" marL="0">
              <a:buNone/>
            </a:pPr>
            <a:r>
              <a:rPr lang="en-US" sz="1100" i="1" dirty="0">
                <a:solidFill>
                  <a:srgbClr val="66707F"/>
                </a:solidFill>
                <a:latin typeface="Calibri" pitchFamily="34" charset="0"/>
                <a:ea typeface="Calibri" pitchFamily="34" charset="-122"/>
                <a:cs typeface="Calibri" pitchFamily="34" charset="-120"/>
              </a:rPr>
              <a:t>Figure 3.1: Use cases of ticket handling and automation</a:t>
            </a:r>
            <a:endParaRPr lang="en-US" sz="1100" dirty="0"/>
          </a:p>
        </p:txBody>
      </p:sp>
      <p:sp>
        <p:nvSpPr>
          <p:cNvPr id="13" name="Text 8"/>
          <p:cNvSpPr/>
          <p:nvPr/>
        </p:nvSpPr>
        <p:spPr>
          <a:xfrm>
            <a:off x="548640" y="5532120"/>
            <a:ext cx="11091672" cy="777240"/>
          </a:xfrm>
          <a:prstGeom prst="rect">
            <a:avLst/>
          </a:prstGeom>
          <a:noFill/>
          <a:ln/>
        </p:spPr>
        <p:txBody>
          <a:bodyPr wrap="square" lIns="0" tIns="0" rIns="0" bIns="0" rtlCol="0" anchor="t"/>
          <a:lstStyle/>
          <a:p>
            <a:pPr indent="0" marL="0">
              <a:buNone/>
            </a:pPr>
            <a:r>
              <a:rPr lang="en-US" sz="1350" dirty="0">
                <a:solidFill>
                  <a:srgbClr val="14213D"/>
                </a:solidFill>
                <a:latin typeface="Georgia" pitchFamily="34" charset="0"/>
                <a:ea typeface="Georgia" pitchFamily="34" charset="-122"/>
                <a:cs typeface="Georgia" pitchFamily="34" charset="-120"/>
              </a:rPr>
              <a:t>Non-functional requirements: </a:t>
            </a:r>
            <a:r>
              <a:rPr lang="en-US" sz="1350" dirty="0">
                <a:solidFill>
                  <a:srgbClr val="26303F"/>
                </a:solidFill>
                <a:latin typeface="Calibri" pitchFamily="34" charset="0"/>
                <a:ea typeface="Calibri" pitchFamily="34" charset="-122"/>
                <a:cs typeface="Calibri" pitchFamily="34" charset="-120"/>
              </a:rPr>
              <a:t>no access across workspaces and a permission check on every action; ticket list and creation within about one second; queued, retried background work and daily backups; light and dark themes with keyboard use; runs on any Linux machine with Docker.</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64240" cy="640080"/>
          </a:xfrm>
          <a:prstGeom prst="rect">
            <a:avLst/>
          </a:prstGeom>
          <a:noFill/>
          <a:ln/>
        </p:spPr>
        <p:txBody>
          <a:bodyPr wrap="square" lIns="0" tIns="0" rIns="0" bIns="0" rtlCol="0" anchor="b"/>
          <a:lstStyle/>
          <a:p>
            <a:pPr indent="0" marL="0">
              <a:buNone/>
            </a:pPr>
            <a:r>
              <a:rPr lang="en-US" sz="2800" dirty="0">
                <a:solidFill>
                  <a:srgbClr val="14213D"/>
                </a:solidFill>
                <a:latin typeface="Georgia" pitchFamily="34" charset="0"/>
                <a:ea typeface="Georgia" pitchFamily="34" charset="-122"/>
                <a:cs typeface="Georgia" pitchFamily="34" charset="-120"/>
              </a:rPr>
              <a:t>Feasibility Analysis and Schedule</a:t>
            </a:r>
            <a:endParaRPr lang="en-US" sz="2800" dirty="0"/>
          </a:p>
        </p:txBody>
      </p:sp>
      <p:sp>
        <p:nvSpPr>
          <p:cNvPr id="3" name="Shape 1"/>
          <p:cNvSpPr/>
          <p:nvPr/>
        </p:nvSpPr>
        <p:spPr>
          <a:xfrm>
            <a:off x="548640" y="1060704"/>
            <a:ext cx="822960" cy="45720"/>
          </a:xfrm>
          <a:prstGeom prst="rect">
            <a:avLst/>
          </a:prstGeom>
          <a:solidFill>
            <a:srgbClr val="1F5FAD"/>
          </a:solidFill>
          <a:ln w="12700">
            <a:solidFill>
              <a:srgbClr val="1F5FAD"/>
            </a:solidFill>
            <a:prstDash val="solid"/>
          </a:ln>
        </p:spPr>
      </p:sp>
      <p:sp>
        <p:nvSpPr>
          <p:cNvPr id="4" name="Shape 2"/>
          <p:cNvSpPr/>
          <p:nvPr/>
        </p:nvSpPr>
        <p:spPr>
          <a:xfrm>
            <a:off x="548640" y="6382512"/>
            <a:ext cx="11091672" cy="0"/>
          </a:xfrm>
          <a:prstGeom prst="line">
            <a:avLst/>
          </a:prstGeom>
          <a:noFill/>
          <a:ln w="9525">
            <a:solidFill>
              <a:srgbClr val="D5DAE1"/>
            </a:solidFill>
            <a:prstDash val="solid"/>
          </a:ln>
        </p:spPr>
      </p:sp>
      <p:sp>
        <p:nvSpPr>
          <p:cNvPr id="5" name="Text 3"/>
          <p:cNvSpPr/>
          <p:nvPr/>
        </p:nvSpPr>
        <p:spPr>
          <a:xfrm>
            <a:off x="548640" y="6428232"/>
            <a:ext cx="3657600" cy="274320"/>
          </a:xfrm>
          <a:prstGeom prst="rect">
            <a:avLst/>
          </a:prstGeom>
          <a:noFill/>
          <a:ln/>
        </p:spPr>
        <p:txBody>
          <a:bodyPr wrap="square" lIns="0" tIns="0" rIns="0" bIns="0" rtlCol="0" anchor="ctr"/>
          <a:lstStyle/>
          <a:p>
            <a:pPr indent="0" marL="0">
              <a:buNone/>
            </a:pPr>
            <a:r>
              <a:rPr lang="en-US" sz="1050" dirty="0">
                <a:solidFill>
                  <a:srgbClr val="66707F"/>
                </a:solidFill>
                <a:latin typeface="Georgia" pitchFamily="34" charset="0"/>
                <a:ea typeface="Georgia" pitchFamily="34" charset="-122"/>
                <a:cs typeface="Georgia" pitchFamily="34" charset="-120"/>
              </a:rPr>
              <a:t>Smart Helpdesk</a:t>
            </a:r>
            <a:endParaRPr lang="en-US" sz="1050" dirty="0"/>
          </a:p>
        </p:txBody>
      </p:sp>
      <p:sp>
        <p:nvSpPr>
          <p:cNvPr id="6" name="Text 4"/>
          <p:cNvSpPr/>
          <p:nvPr/>
        </p:nvSpPr>
        <p:spPr>
          <a:xfrm>
            <a:off x="5669280" y="6428232"/>
            <a:ext cx="5971032" cy="274320"/>
          </a:xfrm>
          <a:prstGeom prst="rect">
            <a:avLst/>
          </a:prstGeom>
          <a:noFill/>
          <a:ln/>
        </p:spPr>
        <p:txBody>
          <a:bodyPr wrap="square" lIns="0" tIns="0" rIns="0" bIns="0" rtlCol="0" anchor="ctr"/>
          <a:lstStyle/>
          <a:p>
            <a:pPr algn="r" indent="0" marL="0">
              <a:buNone/>
            </a:pPr>
            <a:r>
              <a:rPr lang="en-US" sz="1050" dirty="0">
                <a:solidFill>
                  <a:srgbClr val="66707F"/>
                </a:solidFill>
                <a:latin typeface="Calibri" pitchFamily="34" charset="0"/>
                <a:ea typeface="Calibri" pitchFamily="34" charset="-122"/>
                <a:cs typeface="Calibri" pitchFamily="34" charset="-120"/>
              </a:rPr>
              <a:t>Chapter 3: System Analysis and Design      7 / 13</a:t>
            </a:r>
            <a:endParaRPr lang="en-US" sz="1050" dirty="0"/>
          </a:p>
        </p:txBody>
      </p:sp>
      <p:sp>
        <p:nvSpPr>
          <p:cNvPr id="8" name="Text 5"/>
          <p:cNvSpPr/>
          <p:nvPr/>
        </p:nvSpPr>
        <p:spPr>
          <a:xfrm>
            <a:off x="548640" y="1280160"/>
            <a:ext cx="2606040" cy="384048"/>
          </a:xfrm>
          <a:prstGeom prst="rect">
            <a:avLst/>
          </a:prstGeom>
          <a:noFill/>
          <a:ln/>
        </p:spPr>
        <p:txBody>
          <a:bodyPr wrap="square" lIns="0" tIns="0" rIns="0" bIns="0" rtlCol="0" anchor="b"/>
          <a:lstStyle/>
          <a:p>
            <a:pPr indent="0" marL="0">
              <a:buNone/>
            </a:pPr>
            <a:r>
              <a:rPr lang="en-US" sz="1700" dirty="0">
                <a:solidFill>
                  <a:srgbClr val="14213D"/>
                </a:solidFill>
                <a:latin typeface="Georgia" pitchFamily="34" charset="0"/>
                <a:ea typeface="Georgia" pitchFamily="34" charset="-122"/>
                <a:cs typeface="Georgia" pitchFamily="34" charset="-120"/>
              </a:rPr>
              <a:t>Technical</a:t>
            </a:r>
            <a:endParaRPr lang="en-US" sz="1700" dirty="0"/>
          </a:p>
        </p:txBody>
      </p:sp>
      <p:sp>
        <p:nvSpPr>
          <p:cNvPr id="9" name="Shape 6"/>
          <p:cNvSpPr/>
          <p:nvPr/>
        </p:nvSpPr>
        <p:spPr>
          <a:xfrm>
            <a:off x="548640" y="1737360"/>
            <a:ext cx="2606040" cy="0"/>
          </a:xfrm>
          <a:prstGeom prst="line">
            <a:avLst/>
          </a:prstGeom>
          <a:noFill/>
          <a:ln w="9525">
            <a:solidFill>
              <a:srgbClr val="D5DAE1"/>
            </a:solidFill>
            <a:prstDash val="solid"/>
          </a:ln>
        </p:spPr>
      </p:sp>
      <p:sp>
        <p:nvSpPr>
          <p:cNvPr id="10" name="Text 7"/>
          <p:cNvSpPr/>
          <p:nvPr/>
        </p:nvSpPr>
        <p:spPr>
          <a:xfrm>
            <a:off x="548640" y="1847088"/>
            <a:ext cx="2606040" cy="1353312"/>
          </a:xfrm>
          <a:prstGeom prst="rect">
            <a:avLst/>
          </a:prstGeom>
          <a:noFill/>
          <a:ln/>
        </p:spPr>
        <p:txBody>
          <a:bodyPr wrap="square" lIns="25400" tIns="25400" rIns="25400" bIns="25400" rtlCol="0" anchor="t"/>
          <a:lstStyle/>
          <a:p>
            <a:pPr indent="0" marL="0">
              <a:lnSpc>
                <a:spcPct val="105000"/>
              </a:lnSpc>
              <a:buNone/>
            </a:pPr>
            <a:r>
              <a:rPr lang="en-US" sz="1450" dirty="0">
                <a:solidFill>
                  <a:srgbClr val="26303F"/>
                </a:solidFill>
                <a:latin typeface="Calibri" pitchFamily="34" charset="0"/>
                <a:ea typeface="Calibri" pitchFamily="34" charset="-122"/>
                <a:cs typeface="Calibri" pitchFamily="34" charset="-120"/>
              </a:rPr>
              <a:t>Mature open-source components run together with Docker Compose on one small virtual machine (2 vCPU, 2 GB on AWS).</a:t>
            </a:r>
            <a:endParaRPr lang="en-US" sz="1450" dirty="0"/>
          </a:p>
        </p:txBody>
      </p:sp>
      <p:sp>
        <p:nvSpPr>
          <p:cNvPr id="11" name="Text 8"/>
          <p:cNvSpPr/>
          <p:nvPr/>
        </p:nvSpPr>
        <p:spPr>
          <a:xfrm>
            <a:off x="3383280" y="1280160"/>
            <a:ext cx="2606040" cy="384048"/>
          </a:xfrm>
          <a:prstGeom prst="rect">
            <a:avLst/>
          </a:prstGeom>
          <a:noFill/>
          <a:ln/>
        </p:spPr>
        <p:txBody>
          <a:bodyPr wrap="square" lIns="0" tIns="0" rIns="0" bIns="0" rtlCol="0" anchor="b"/>
          <a:lstStyle/>
          <a:p>
            <a:pPr indent="0" marL="0">
              <a:buNone/>
            </a:pPr>
            <a:r>
              <a:rPr lang="en-US" sz="1700" dirty="0">
                <a:solidFill>
                  <a:srgbClr val="14213D"/>
                </a:solidFill>
                <a:latin typeface="Georgia" pitchFamily="34" charset="0"/>
                <a:ea typeface="Georgia" pitchFamily="34" charset="-122"/>
                <a:cs typeface="Georgia" pitchFamily="34" charset="-120"/>
              </a:rPr>
              <a:t>Operational</a:t>
            </a:r>
            <a:endParaRPr lang="en-US" sz="1700" dirty="0"/>
          </a:p>
        </p:txBody>
      </p:sp>
      <p:sp>
        <p:nvSpPr>
          <p:cNvPr id="12" name="Shape 9"/>
          <p:cNvSpPr/>
          <p:nvPr/>
        </p:nvSpPr>
        <p:spPr>
          <a:xfrm>
            <a:off x="3383280" y="1737360"/>
            <a:ext cx="2606040" cy="0"/>
          </a:xfrm>
          <a:prstGeom prst="line">
            <a:avLst/>
          </a:prstGeom>
          <a:noFill/>
          <a:ln w="9525">
            <a:solidFill>
              <a:srgbClr val="D5DAE1"/>
            </a:solidFill>
            <a:prstDash val="solid"/>
          </a:ln>
        </p:spPr>
      </p:sp>
      <p:sp>
        <p:nvSpPr>
          <p:cNvPr id="13" name="Text 10"/>
          <p:cNvSpPr/>
          <p:nvPr/>
        </p:nvSpPr>
        <p:spPr>
          <a:xfrm>
            <a:off x="3383280" y="1847088"/>
            <a:ext cx="2606040" cy="1353312"/>
          </a:xfrm>
          <a:prstGeom prst="rect">
            <a:avLst/>
          </a:prstGeom>
          <a:noFill/>
          <a:ln/>
        </p:spPr>
        <p:txBody>
          <a:bodyPr wrap="square" lIns="25400" tIns="25400" rIns="25400" bIns="25400" rtlCol="0" anchor="t"/>
          <a:lstStyle/>
          <a:p>
            <a:pPr indent="0" marL="0">
              <a:lnSpc>
                <a:spcPct val="105000"/>
              </a:lnSpc>
              <a:buNone/>
            </a:pPr>
            <a:r>
              <a:rPr lang="en-US" sz="1450" dirty="0">
                <a:solidFill>
                  <a:srgbClr val="26303F"/>
                </a:solidFill>
                <a:latin typeface="Calibri" pitchFamily="34" charset="0"/>
                <a:ea typeface="Calibri" pitchFamily="34" charset="-122"/>
                <a:cs typeface="Calibri" pitchFamily="34" charset="-120"/>
              </a:rPr>
              <a:t>It follows the workflow support teams already use, explains every decision and is configured through forms.</a:t>
            </a:r>
            <a:endParaRPr lang="en-US" sz="1450" dirty="0"/>
          </a:p>
        </p:txBody>
      </p:sp>
      <p:sp>
        <p:nvSpPr>
          <p:cNvPr id="14" name="Text 11"/>
          <p:cNvSpPr/>
          <p:nvPr/>
        </p:nvSpPr>
        <p:spPr>
          <a:xfrm>
            <a:off x="6217920" y="1280160"/>
            <a:ext cx="2606040" cy="384048"/>
          </a:xfrm>
          <a:prstGeom prst="rect">
            <a:avLst/>
          </a:prstGeom>
          <a:noFill/>
          <a:ln/>
        </p:spPr>
        <p:txBody>
          <a:bodyPr wrap="square" lIns="0" tIns="0" rIns="0" bIns="0" rtlCol="0" anchor="b"/>
          <a:lstStyle/>
          <a:p>
            <a:pPr indent="0" marL="0">
              <a:buNone/>
            </a:pPr>
            <a:r>
              <a:rPr lang="en-US" sz="1700" dirty="0">
                <a:solidFill>
                  <a:srgbClr val="14213D"/>
                </a:solidFill>
                <a:latin typeface="Georgia" pitchFamily="34" charset="0"/>
                <a:ea typeface="Georgia" pitchFamily="34" charset="-122"/>
                <a:cs typeface="Georgia" pitchFamily="34" charset="-120"/>
              </a:rPr>
              <a:t>Economic</a:t>
            </a:r>
            <a:endParaRPr lang="en-US" sz="1700" dirty="0"/>
          </a:p>
        </p:txBody>
      </p:sp>
      <p:sp>
        <p:nvSpPr>
          <p:cNvPr id="15" name="Shape 12"/>
          <p:cNvSpPr/>
          <p:nvPr/>
        </p:nvSpPr>
        <p:spPr>
          <a:xfrm>
            <a:off x="6217920" y="1737360"/>
            <a:ext cx="2606040" cy="0"/>
          </a:xfrm>
          <a:prstGeom prst="line">
            <a:avLst/>
          </a:prstGeom>
          <a:noFill/>
          <a:ln w="9525">
            <a:solidFill>
              <a:srgbClr val="D5DAE1"/>
            </a:solidFill>
            <a:prstDash val="solid"/>
          </a:ln>
        </p:spPr>
      </p:sp>
      <p:sp>
        <p:nvSpPr>
          <p:cNvPr id="16" name="Text 13"/>
          <p:cNvSpPr/>
          <p:nvPr/>
        </p:nvSpPr>
        <p:spPr>
          <a:xfrm>
            <a:off x="6217920" y="1847088"/>
            <a:ext cx="2606040" cy="1353312"/>
          </a:xfrm>
          <a:prstGeom prst="rect">
            <a:avLst/>
          </a:prstGeom>
          <a:noFill/>
          <a:ln/>
        </p:spPr>
        <p:txBody>
          <a:bodyPr wrap="square" lIns="25400" tIns="25400" rIns="25400" bIns="25400" rtlCol="0" anchor="t"/>
          <a:lstStyle/>
          <a:p>
            <a:pPr indent="0" marL="0">
              <a:lnSpc>
                <a:spcPct val="105000"/>
              </a:lnSpc>
              <a:buNone/>
            </a:pPr>
            <a:r>
              <a:rPr lang="en-US" sz="1450" dirty="0">
                <a:solidFill>
                  <a:srgbClr val="26303F"/>
                </a:solidFill>
                <a:latin typeface="Calibri" pitchFamily="34" charset="0"/>
                <a:ea typeface="Calibri" pitchFamily="34" charset="-122"/>
                <a:cs typeface="Calibri" pitchFamily="34" charset="-120"/>
              </a:rPr>
              <a:t>No licence fees. A suitable virtual machine costs about US$8–35 a month, or an own server can be used.</a:t>
            </a:r>
            <a:endParaRPr lang="en-US" sz="1450" dirty="0"/>
          </a:p>
        </p:txBody>
      </p:sp>
      <p:sp>
        <p:nvSpPr>
          <p:cNvPr id="17" name="Text 14"/>
          <p:cNvSpPr/>
          <p:nvPr/>
        </p:nvSpPr>
        <p:spPr>
          <a:xfrm>
            <a:off x="9052560" y="1280160"/>
            <a:ext cx="2606040" cy="384048"/>
          </a:xfrm>
          <a:prstGeom prst="rect">
            <a:avLst/>
          </a:prstGeom>
          <a:noFill/>
          <a:ln/>
        </p:spPr>
        <p:txBody>
          <a:bodyPr wrap="square" lIns="0" tIns="0" rIns="0" bIns="0" rtlCol="0" anchor="b"/>
          <a:lstStyle/>
          <a:p>
            <a:pPr indent="0" marL="0">
              <a:buNone/>
            </a:pPr>
            <a:r>
              <a:rPr lang="en-US" sz="1700" dirty="0">
                <a:solidFill>
                  <a:srgbClr val="14213D"/>
                </a:solidFill>
                <a:latin typeface="Georgia" pitchFamily="34" charset="0"/>
                <a:ea typeface="Georgia" pitchFamily="34" charset="-122"/>
                <a:cs typeface="Georgia" pitchFamily="34" charset="-120"/>
              </a:rPr>
              <a:t>Schedule</a:t>
            </a:r>
            <a:endParaRPr lang="en-US" sz="1700" dirty="0"/>
          </a:p>
        </p:txBody>
      </p:sp>
      <p:sp>
        <p:nvSpPr>
          <p:cNvPr id="18" name="Shape 15"/>
          <p:cNvSpPr/>
          <p:nvPr/>
        </p:nvSpPr>
        <p:spPr>
          <a:xfrm>
            <a:off x="9052560" y="1737360"/>
            <a:ext cx="2606040" cy="0"/>
          </a:xfrm>
          <a:prstGeom prst="line">
            <a:avLst/>
          </a:prstGeom>
          <a:noFill/>
          <a:ln w="9525">
            <a:solidFill>
              <a:srgbClr val="D5DAE1"/>
            </a:solidFill>
            <a:prstDash val="solid"/>
          </a:ln>
        </p:spPr>
      </p:sp>
      <p:sp>
        <p:nvSpPr>
          <p:cNvPr id="19" name="Text 16"/>
          <p:cNvSpPr/>
          <p:nvPr/>
        </p:nvSpPr>
        <p:spPr>
          <a:xfrm>
            <a:off x="9052560" y="1847088"/>
            <a:ext cx="2606040" cy="1353312"/>
          </a:xfrm>
          <a:prstGeom prst="rect">
            <a:avLst/>
          </a:prstGeom>
          <a:noFill/>
          <a:ln/>
        </p:spPr>
        <p:txBody>
          <a:bodyPr wrap="square" lIns="25400" tIns="25400" rIns="25400" bIns="25400" rtlCol="0" anchor="t"/>
          <a:lstStyle/>
          <a:p>
            <a:pPr indent="0" marL="0">
              <a:lnSpc>
                <a:spcPct val="105000"/>
              </a:lnSpc>
              <a:buNone/>
            </a:pPr>
            <a:r>
              <a:rPr lang="en-US" sz="1450" dirty="0">
                <a:solidFill>
                  <a:srgbClr val="26303F"/>
                </a:solidFill>
                <a:latin typeface="Calibri" pitchFamily="34" charset="0"/>
                <a:ea typeface="Calibri" pitchFamily="34" charset="-122"/>
                <a:cs typeface="Calibri" pitchFamily="34" charset="-120"/>
              </a:rPr>
              <a:t>Three months, 16 June to 15 September 2026, in the waterfall phases, with documentation throughout.</a:t>
            </a:r>
            <a:endParaRPr lang="en-US" sz="1450" dirty="0"/>
          </a:p>
        </p:txBody>
      </p:sp>
      <p:sp>
        <p:nvSpPr>
          <p:cNvPr id="20" name="Shape 17"/>
          <p:cNvSpPr/>
          <p:nvPr/>
        </p:nvSpPr>
        <p:spPr>
          <a:xfrm>
            <a:off x="2553722" y="3300984"/>
            <a:ext cx="7081509" cy="2679192"/>
          </a:xfrm>
          <a:prstGeom prst="rect">
            <a:avLst/>
          </a:prstGeom>
          <a:solidFill>
            <a:srgbClr val="FFFFFF"/>
          </a:solidFill>
          <a:ln w="9525">
            <a:solidFill>
              <a:srgbClr val="D5DAE1"/>
            </a:solidFill>
            <a:prstDash val="solid"/>
          </a:ln>
        </p:spPr>
      </p:sp>
      <p:pic>
        <p:nvPicPr>
          <p:cNvPr id="21" name="Image 0" descr="/home/subham/Projects/college/fyp/smart-helpdesk/report/university/figures/gantt.png">    </p:cNvPr>
          <p:cNvPicPr>
            <a:picLocks noChangeAspect="1"/>
          </p:cNvPicPr>
          <p:nvPr/>
        </p:nvPicPr>
        <p:blipFill>
          <a:blip r:embed="rId1"/>
          <a:stretch>
            <a:fillRect/>
          </a:stretch>
        </p:blipFill>
        <p:spPr>
          <a:xfrm>
            <a:off x="2590298" y="3337560"/>
            <a:ext cx="7008357" cy="2606040"/>
          </a:xfrm>
          <a:prstGeom prst="rect">
            <a:avLst/>
          </a:prstGeom>
        </p:spPr>
      </p:pic>
      <p:sp>
        <p:nvSpPr>
          <p:cNvPr id="22" name="Text 18"/>
          <p:cNvSpPr/>
          <p:nvPr/>
        </p:nvSpPr>
        <p:spPr>
          <a:xfrm>
            <a:off x="548640" y="6035040"/>
            <a:ext cx="11091672" cy="274320"/>
          </a:xfrm>
          <a:prstGeom prst="rect">
            <a:avLst/>
          </a:prstGeom>
          <a:noFill/>
          <a:ln/>
        </p:spPr>
        <p:txBody>
          <a:bodyPr wrap="square" lIns="0" tIns="0" rIns="0" bIns="0" rtlCol="0" anchor="ctr"/>
          <a:lstStyle/>
          <a:p>
            <a:pPr algn="ctr" indent="0" marL="0">
              <a:buNone/>
            </a:pPr>
            <a:r>
              <a:rPr lang="en-US" sz="1100" i="1" dirty="0">
                <a:solidFill>
                  <a:srgbClr val="66707F"/>
                </a:solidFill>
                <a:latin typeface="Calibri" pitchFamily="34" charset="0"/>
                <a:ea typeface="Calibri" pitchFamily="34" charset="-122"/>
                <a:cs typeface="Calibri" pitchFamily="34" charset="-120"/>
              </a:rPr>
              <a:t>Figure 3.3: Gantt chart of the project schedule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64240" cy="640080"/>
          </a:xfrm>
          <a:prstGeom prst="rect">
            <a:avLst/>
          </a:prstGeom>
          <a:noFill/>
          <a:ln/>
        </p:spPr>
        <p:txBody>
          <a:bodyPr wrap="square" lIns="0" tIns="0" rIns="0" bIns="0" rtlCol="0" anchor="b"/>
          <a:lstStyle/>
          <a:p>
            <a:pPr indent="0" marL="0">
              <a:buNone/>
            </a:pPr>
            <a:r>
              <a:rPr lang="en-US" sz="2800" dirty="0">
                <a:solidFill>
                  <a:srgbClr val="14213D"/>
                </a:solidFill>
                <a:latin typeface="Georgia" pitchFamily="34" charset="0"/>
                <a:ea typeface="Georgia" pitchFamily="34" charset="-122"/>
                <a:cs typeface="Georgia" pitchFamily="34" charset="-120"/>
              </a:rPr>
              <a:t>System Design: Architecture</a:t>
            </a:r>
            <a:endParaRPr lang="en-US" sz="2800" dirty="0"/>
          </a:p>
        </p:txBody>
      </p:sp>
      <p:sp>
        <p:nvSpPr>
          <p:cNvPr id="3" name="Shape 1"/>
          <p:cNvSpPr/>
          <p:nvPr/>
        </p:nvSpPr>
        <p:spPr>
          <a:xfrm>
            <a:off x="548640" y="1060704"/>
            <a:ext cx="822960" cy="45720"/>
          </a:xfrm>
          <a:prstGeom prst="rect">
            <a:avLst/>
          </a:prstGeom>
          <a:solidFill>
            <a:srgbClr val="1F5FAD"/>
          </a:solidFill>
          <a:ln w="12700">
            <a:solidFill>
              <a:srgbClr val="1F5FAD"/>
            </a:solidFill>
            <a:prstDash val="solid"/>
          </a:ln>
        </p:spPr>
      </p:sp>
      <p:sp>
        <p:nvSpPr>
          <p:cNvPr id="4" name="Shape 2"/>
          <p:cNvSpPr/>
          <p:nvPr/>
        </p:nvSpPr>
        <p:spPr>
          <a:xfrm>
            <a:off x="548640" y="6382512"/>
            <a:ext cx="11091672" cy="0"/>
          </a:xfrm>
          <a:prstGeom prst="line">
            <a:avLst/>
          </a:prstGeom>
          <a:noFill/>
          <a:ln w="9525">
            <a:solidFill>
              <a:srgbClr val="D5DAE1"/>
            </a:solidFill>
            <a:prstDash val="solid"/>
          </a:ln>
        </p:spPr>
      </p:sp>
      <p:sp>
        <p:nvSpPr>
          <p:cNvPr id="5" name="Text 3"/>
          <p:cNvSpPr/>
          <p:nvPr/>
        </p:nvSpPr>
        <p:spPr>
          <a:xfrm>
            <a:off x="548640" y="6428232"/>
            <a:ext cx="3657600" cy="274320"/>
          </a:xfrm>
          <a:prstGeom prst="rect">
            <a:avLst/>
          </a:prstGeom>
          <a:noFill/>
          <a:ln/>
        </p:spPr>
        <p:txBody>
          <a:bodyPr wrap="square" lIns="0" tIns="0" rIns="0" bIns="0" rtlCol="0" anchor="ctr"/>
          <a:lstStyle/>
          <a:p>
            <a:pPr indent="0" marL="0">
              <a:buNone/>
            </a:pPr>
            <a:r>
              <a:rPr lang="en-US" sz="1050" dirty="0">
                <a:solidFill>
                  <a:srgbClr val="66707F"/>
                </a:solidFill>
                <a:latin typeface="Georgia" pitchFamily="34" charset="0"/>
                <a:ea typeface="Georgia" pitchFamily="34" charset="-122"/>
                <a:cs typeface="Georgia" pitchFamily="34" charset="-120"/>
              </a:rPr>
              <a:t>Smart Helpdesk</a:t>
            </a:r>
            <a:endParaRPr lang="en-US" sz="1050" dirty="0"/>
          </a:p>
        </p:txBody>
      </p:sp>
      <p:sp>
        <p:nvSpPr>
          <p:cNvPr id="6" name="Text 4"/>
          <p:cNvSpPr/>
          <p:nvPr/>
        </p:nvSpPr>
        <p:spPr>
          <a:xfrm>
            <a:off x="5669280" y="6428232"/>
            <a:ext cx="5971032" cy="274320"/>
          </a:xfrm>
          <a:prstGeom prst="rect">
            <a:avLst/>
          </a:prstGeom>
          <a:noFill/>
          <a:ln/>
        </p:spPr>
        <p:txBody>
          <a:bodyPr wrap="square" lIns="0" tIns="0" rIns="0" bIns="0" rtlCol="0" anchor="ctr"/>
          <a:lstStyle/>
          <a:p>
            <a:pPr algn="r" indent="0" marL="0">
              <a:buNone/>
            </a:pPr>
            <a:r>
              <a:rPr lang="en-US" sz="1050" dirty="0">
                <a:solidFill>
                  <a:srgbClr val="66707F"/>
                </a:solidFill>
                <a:latin typeface="Calibri" pitchFamily="34" charset="0"/>
                <a:ea typeface="Calibri" pitchFamily="34" charset="-122"/>
                <a:cs typeface="Calibri" pitchFamily="34" charset="-120"/>
              </a:rPr>
              <a:t>Chapter 3: System Analysis and Design      8 / 13</a:t>
            </a:r>
            <a:endParaRPr lang="en-US" sz="1050" dirty="0"/>
          </a:p>
        </p:txBody>
      </p:sp>
      <p:sp>
        <p:nvSpPr>
          <p:cNvPr id="8" name="Text 5"/>
          <p:cNvSpPr/>
          <p:nvPr/>
        </p:nvSpPr>
        <p:spPr>
          <a:xfrm>
            <a:off x="548640" y="1325880"/>
            <a:ext cx="2468880" cy="566928"/>
          </a:xfrm>
          <a:prstGeom prst="roundRect">
            <a:avLst>
              <a:gd name="adj" fmla="val 8065"/>
            </a:avLst>
          </a:prstGeom>
          <a:solidFill>
            <a:srgbClr val="FFFFFF"/>
          </a:solidFill>
          <a:ln w="12700">
            <a:solidFill>
              <a:srgbClr val="AFC0D8"/>
            </a:solidFill>
          </a:ln>
        </p:spPr>
        <p:txBody>
          <a:bodyPr wrap="square" lIns="38100" tIns="38100" rIns="38100" bIns="38100" rtlCol="0" anchor="ctr"/>
          <a:lstStyle/>
          <a:p>
            <a:pPr algn="ctr" indent="0" marL="0">
              <a:buNone/>
            </a:pPr>
            <a:r>
              <a:rPr lang="en-US" sz="1250" b="1" dirty="0">
                <a:solidFill>
                  <a:srgbClr val="14213D"/>
                </a:solidFill>
                <a:latin typeface="Calibri" pitchFamily="34" charset="0"/>
                <a:ea typeface="Calibri" pitchFamily="34" charset="-122"/>
                <a:cs typeface="Calibri" pitchFamily="34" charset="-120"/>
              </a:rPr>
              <a:t>Web browser</a:t>
            </a:r>
            <a:endParaRPr lang="en-US" sz="1250" dirty="0"/>
          </a:p>
          <a:p>
            <a:pPr algn="ctr" indent="0" marL="0">
              <a:buNone/>
            </a:pPr>
            <a:r>
              <a:rPr lang="en-US" sz="1050" b="1" dirty="0">
                <a:solidFill>
                  <a:srgbClr val="66707F"/>
                </a:solidFill>
                <a:latin typeface="Calibri" pitchFamily="34" charset="0"/>
                <a:ea typeface="Calibri" pitchFamily="34" charset="-122"/>
                <a:cs typeface="Calibri" pitchFamily="34" charset="-120"/>
              </a:rPr>
              <a:t>agents, managers, admins</a:t>
            </a:r>
            <a:endParaRPr lang="en-US" sz="1250" dirty="0"/>
          </a:p>
        </p:txBody>
      </p:sp>
      <p:sp>
        <p:nvSpPr>
          <p:cNvPr id="9" name="Text 6"/>
          <p:cNvSpPr/>
          <p:nvPr/>
        </p:nvSpPr>
        <p:spPr>
          <a:xfrm>
            <a:off x="3154680" y="1325880"/>
            <a:ext cx="2468880" cy="566928"/>
          </a:xfrm>
          <a:prstGeom prst="roundRect">
            <a:avLst>
              <a:gd name="adj" fmla="val 8065"/>
            </a:avLst>
          </a:prstGeom>
          <a:solidFill>
            <a:srgbClr val="FFFFFF"/>
          </a:solidFill>
          <a:ln w="12700">
            <a:solidFill>
              <a:srgbClr val="AFC0D8"/>
            </a:solidFill>
          </a:ln>
        </p:spPr>
        <p:txBody>
          <a:bodyPr wrap="square" lIns="38100" tIns="38100" rIns="38100" bIns="38100" rtlCol="0" anchor="ctr"/>
          <a:lstStyle/>
          <a:p>
            <a:pPr algn="ctr" indent="0" marL="0">
              <a:buNone/>
            </a:pPr>
            <a:r>
              <a:rPr lang="en-US" sz="1250" b="1" dirty="0">
                <a:solidFill>
                  <a:srgbClr val="14213D"/>
                </a:solidFill>
                <a:latin typeface="Calibri" pitchFamily="34" charset="0"/>
                <a:ea typeface="Calibri" pitchFamily="34" charset="-122"/>
                <a:cs typeface="Calibri" pitchFamily="34" charset="-120"/>
              </a:rPr>
              <a:t>External systems</a:t>
            </a:r>
            <a:endParaRPr lang="en-US" sz="1250" dirty="0"/>
          </a:p>
          <a:p>
            <a:pPr algn="ctr" indent="0" marL="0">
              <a:buNone/>
            </a:pPr>
            <a:r>
              <a:rPr lang="en-US" sz="1050" b="1" dirty="0">
                <a:solidFill>
                  <a:srgbClr val="66707F"/>
                </a:solidFill>
                <a:latin typeface="Calibri" pitchFamily="34" charset="0"/>
                <a:ea typeface="Calibri" pitchFamily="34" charset="-122"/>
                <a:cs typeface="Calibri" pitchFamily="34" charset="-120"/>
              </a:rPr>
              <a:t>REST API and webhooks</a:t>
            </a:r>
            <a:endParaRPr lang="en-US" sz="1250" dirty="0"/>
          </a:p>
        </p:txBody>
      </p:sp>
      <p:sp>
        <p:nvSpPr>
          <p:cNvPr id="10" name="Text 7"/>
          <p:cNvSpPr/>
          <p:nvPr/>
        </p:nvSpPr>
        <p:spPr>
          <a:xfrm>
            <a:off x="5760720" y="1325880"/>
            <a:ext cx="2468880" cy="566928"/>
          </a:xfrm>
          <a:prstGeom prst="roundRect">
            <a:avLst>
              <a:gd name="adj" fmla="val 8065"/>
            </a:avLst>
          </a:prstGeom>
          <a:solidFill>
            <a:srgbClr val="FFFFFF"/>
          </a:solidFill>
          <a:ln w="12700">
            <a:solidFill>
              <a:srgbClr val="AFC0D8"/>
            </a:solidFill>
          </a:ln>
        </p:spPr>
        <p:txBody>
          <a:bodyPr wrap="square" lIns="38100" tIns="38100" rIns="38100" bIns="38100" rtlCol="0" anchor="ctr"/>
          <a:lstStyle/>
          <a:p>
            <a:pPr algn="ctr" indent="0" marL="0">
              <a:buNone/>
            </a:pPr>
            <a:r>
              <a:rPr lang="en-US" sz="1250" b="1" dirty="0">
                <a:solidFill>
                  <a:srgbClr val="14213D"/>
                </a:solidFill>
                <a:latin typeface="Calibri" pitchFamily="34" charset="0"/>
                <a:ea typeface="Calibri" pitchFamily="34" charset="-122"/>
                <a:cs typeface="Calibri" pitchFamily="34" charset="-120"/>
              </a:rPr>
              <a:t>Contacts</a:t>
            </a:r>
            <a:endParaRPr lang="en-US" sz="1250" dirty="0"/>
          </a:p>
          <a:p>
            <a:pPr algn="ctr" indent="0" marL="0">
              <a:buNone/>
            </a:pPr>
            <a:r>
              <a:rPr lang="en-US" sz="1050" b="1" dirty="0">
                <a:solidFill>
                  <a:srgbClr val="66707F"/>
                </a:solidFill>
                <a:latin typeface="Calibri" pitchFamily="34" charset="0"/>
                <a:ea typeface="Calibri" pitchFamily="34" charset="-122"/>
                <a:cs typeface="Calibri" pitchFamily="34" charset="-120"/>
              </a:rPr>
              <a:t>by email</a:t>
            </a:r>
            <a:endParaRPr lang="en-US" sz="1250" dirty="0"/>
          </a:p>
        </p:txBody>
      </p:sp>
      <p:sp>
        <p:nvSpPr>
          <p:cNvPr id="11" name="Shape 8"/>
          <p:cNvSpPr/>
          <p:nvPr/>
        </p:nvSpPr>
        <p:spPr>
          <a:xfrm>
            <a:off x="1783080" y="1892808"/>
            <a:ext cx="0" cy="393192"/>
          </a:xfrm>
          <a:prstGeom prst="line">
            <a:avLst/>
          </a:prstGeom>
          <a:noFill/>
          <a:ln w="15875">
            <a:solidFill>
              <a:srgbClr val="66707F"/>
            </a:solidFill>
            <a:prstDash val="solid"/>
            <a:tailEnd type="triangle"/>
          </a:ln>
        </p:spPr>
      </p:sp>
      <p:sp>
        <p:nvSpPr>
          <p:cNvPr id="12" name="Text 9"/>
          <p:cNvSpPr/>
          <p:nvPr/>
        </p:nvSpPr>
        <p:spPr>
          <a:xfrm>
            <a:off x="1847088" y="1892808"/>
            <a:ext cx="1463040" cy="393192"/>
          </a:xfrm>
          <a:prstGeom prst="rect">
            <a:avLst/>
          </a:prstGeom>
          <a:noFill/>
          <a:ln/>
        </p:spPr>
        <p:txBody>
          <a:bodyPr wrap="square" lIns="0" tIns="0" rIns="0" bIns="0" rtlCol="0" anchor="ctr"/>
          <a:lstStyle/>
          <a:p>
            <a:pPr indent="0" marL="0">
              <a:buNone/>
            </a:pPr>
            <a:r>
              <a:rPr lang="en-US" sz="1050" dirty="0">
                <a:solidFill>
                  <a:srgbClr val="66707F"/>
                </a:solidFill>
                <a:latin typeface="Calibri" pitchFamily="34" charset="0"/>
                <a:ea typeface="Calibri" pitchFamily="34" charset="-122"/>
                <a:cs typeface="Calibri" pitchFamily="34" charset="-120"/>
              </a:rPr>
              <a:t>HTTPS</a:t>
            </a:r>
            <a:endParaRPr lang="en-US" sz="1050" dirty="0"/>
          </a:p>
        </p:txBody>
      </p:sp>
      <p:sp>
        <p:nvSpPr>
          <p:cNvPr id="13" name="Shape 10"/>
          <p:cNvSpPr/>
          <p:nvPr/>
        </p:nvSpPr>
        <p:spPr>
          <a:xfrm>
            <a:off x="4389120" y="1892808"/>
            <a:ext cx="0" cy="393192"/>
          </a:xfrm>
          <a:prstGeom prst="line">
            <a:avLst/>
          </a:prstGeom>
          <a:noFill/>
          <a:ln w="15875">
            <a:solidFill>
              <a:srgbClr val="66707F"/>
            </a:solidFill>
            <a:prstDash val="solid"/>
            <a:tailEnd type="triangle"/>
          </a:ln>
        </p:spPr>
      </p:sp>
      <p:sp>
        <p:nvSpPr>
          <p:cNvPr id="14" name="Text 11"/>
          <p:cNvSpPr/>
          <p:nvPr/>
        </p:nvSpPr>
        <p:spPr>
          <a:xfrm>
            <a:off x="4453128" y="1892808"/>
            <a:ext cx="1463040" cy="393192"/>
          </a:xfrm>
          <a:prstGeom prst="rect">
            <a:avLst/>
          </a:prstGeom>
          <a:noFill/>
          <a:ln/>
        </p:spPr>
        <p:txBody>
          <a:bodyPr wrap="square" lIns="0" tIns="0" rIns="0" bIns="0" rtlCol="0" anchor="ctr"/>
          <a:lstStyle/>
          <a:p>
            <a:pPr indent="0" marL="0">
              <a:buNone/>
            </a:pPr>
            <a:r>
              <a:rPr lang="en-US" sz="1050" dirty="0">
                <a:solidFill>
                  <a:srgbClr val="66707F"/>
                </a:solidFill>
                <a:latin typeface="Calibri" pitchFamily="34" charset="0"/>
                <a:ea typeface="Calibri" pitchFamily="34" charset="-122"/>
                <a:cs typeface="Calibri" pitchFamily="34" charset="-120"/>
              </a:rPr>
              <a:t>HTTPS</a:t>
            </a:r>
            <a:endParaRPr lang="en-US" sz="1050" dirty="0"/>
          </a:p>
        </p:txBody>
      </p:sp>
      <p:sp>
        <p:nvSpPr>
          <p:cNvPr id="15" name="Shape 12"/>
          <p:cNvSpPr/>
          <p:nvPr/>
        </p:nvSpPr>
        <p:spPr>
          <a:xfrm>
            <a:off x="6995160" y="1892808"/>
            <a:ext cx="0" cy="393192"/>
          </a:xfrm>
          <a:prstGeom prst="line">
            <a:avLst/>
          </a:prstGeom>
          <a:noFill/>
          <a:ln w="15875">
            <a:solidFill>
              <a:srgbClr val="66707F"/>
            </a:solidFill>
            <a:prstDash val="solid"/>
            <a:tailEnd type="triangle"/>
          </a:ln>
        </p:spPr>
      </p:sp>
      <p:sp>
        <p:nvSpPr>
          <p:cNvPr id="16" name="Text 13"/>
          <p:cNvSpPr/>
          <p:nvPr/>
        </p:nvSpPr>
        <p:spPr>
          <a:xfrm>
            <a:off x="7059168" y="1892808"/>
            <a:ext cx="1463040" cy="393192"/>
          </a:xfrm>
          <a:prstGeom prst="rect">
            <a:avLst/>
          </a:prstGeom>
          <a:noFill/>
          <a:ln/>
        </p:spPr>
        <p:txBody>
          <a:bodyPr wrap="square" lIns="0" tIns="0" rIns="0" bIns="0" rtlCol="0" anchor="ctr"/>
          <a:lstStyle/>
          <a:p>
            <a:pPr indent="0" marL="0">
              <a:buNone/>
            </a:pPr>
            <a:r>
              <a:rPr lang="en-US" sz="1050" dirty="0">
                <a:solidFill>
                  <a:srgbClr val="66707F"/>
                </a:solidFill>
                <a:latin typeface="Calibri" pitchFamily="34" charset="0"/>
                <a:ea typeface="Calibri" pitchFamily="34" charset="-122"/>
                <a:cs typeface="Calibri" pitchFamily="34" charset="-120"/>
              </a:rPr>
              <a:t>SMTP</a:t>
            </a:r>
            <a:endParaRPr lang="en-US" sz="1050" dirty="0"/>
          </a:p>
        </p:txBody>
      </p:sp>
      <p:sp>
        <p:nvSpPr>
          <p:cNvPr id="17" name="Shape 14"/>
          <p:cNvSpPr/>
          <p:nvPr/>
        </p:nvSpPr>
        <p:spPr>
          <a:xfrm>
            <a:off x="548640" y="2286000"/>
            <a:ext cx="7680960" cy="3959352"/>
          </a:xfrm>
          <a:prstGeom prst="rect">
            <a:avLst/>
          </a:prstGeom>
          <a:solidFill>
            <a:srgbClr val="F8F9FB"/>
          </a:solidFill>
          <a:ln w="12700">
            <a:solidFill>
              <a:srgbClr val="D5DAE1"/>
            </a:solidFill>
            <a:prstDash val="dash"/>
          </a:ln>
        </p:spPr>
      </p:sp>
      <p:sp>
        <p:nvSpPr>
          <p:cNvPr id="18" name="Text 15"/>
          <p:cNvSpPr/>
          <p:nvPr/>
        </p:nvSpPr>
        <p:spPr>
          <a:xfrm>
            <a:off x="676656" y="2331720"/>
            <a:ext cx="7424928" cy="256032"/>
          </a:xfrm>
          <a:prstGeom prst="rect">
            <a:avLst/>
          </a:prstGeom>
          <a:noFill/>
          <a:ln/>
        </p:spPr>
        <p:txBody>
          <a:bodyPr wrap="square" lIns="0" tIns="0" rIns="0" bIns="0" rtlCol="0" anchor="ctr"/>
          <a:lstStyle/>
          <a:p>
            <a:pPr indent="0" marL="0">
              <a:buNone/>
            </a:pPr>
            <a:r>
              <a:rPr lang="en-US" sz="1100" i="1" dirty="0">
                <a:solidFill>
                  <a:srgbClr val="66707F"/>
                </a:solidFill>
                <a:latin typeface="Calibri" pitchFamily="34" charset="0"/>
                <a:ea typeface="Calibri" pitchFamily="34" charset="-122"/>
                <a:cs typeface="Calibri" pitchFamily="34" charset="-120"/>
              </a:rPr>
              <a:t>One virtual machine running Docker Compose (AWS in the live deployment)</a:t>
            </a:r>
            <a:endParaRPr lang="en-US" sz="1100" dirty="0"/>
          </a:p>
        </p:txBody>
      </p:sp>
      <p:sp>
        <p:nvSpPr>
          <p:cNvPr id="19" name="Text 16"/>
          <p:cNvSpPr/>
          <p:nvPr/>
        </p:nvSpPr>
        <p:spPr>
          <a:xfrm>
            <a:off x="731520" y="2624328"/>
            <a:ext cx="7315200" cy="475488"/>
          </a:xfrm>
          <a:prstGeom prst="roundRect">
            <a:avLst>
              <a:gd name="adj" fmla="val 9615"/>
            </a:avLst>
          </a:prstGeom>
          <a:solidFill>
            <a:srgbClr val="EEF3FA"/>
          </a:solidFill>
          <a:ln w="12700">
            <a:solidFill>
              <a:srgbClr val="AFC0D8"/>
            </a:solidFill>
          </a:ln>
        </p:spPr>
        <p:txBody>
          <a:bodyPr wrap="square" lIns="38100" tIns="38100" rIns="38100" bIns="38100" rtlCol="0" anchor="ctr"/>
          <a:lstStyle/>
          <a:p>
            <a:pPr algn="ctr" indent="0" marL="0">
              <a:buNone/>
            </a:pPr>
            <a:r>
              <a:rPr lang="en-US" sz="1250" b="1" dirty="0">
                <a:solidFill>
                  <a:srgbClr val="14213D"/>
                </a:solidFill>
                <a:latin typeface="Calibri" pitchFamily="34" charset="0"/>
                <a:ea typeface="Calibri" pitchFamily="34" charset="-122"/>
                <a:cs typeface="Calibri" pitchFamily="34" charset="-120"/>
              </a:rPr>
              <a:t>Reverse proxy (Caddy)</a:t>
            </a:r>
            <a:endParaRPr lang="en-US" sz="1250" dirty="0"/>
          </a:p>
          <a:p>
            <a:pPr algn="ctr" indent="0" marL="0">
              <a:buNone/>
            </a:pPr>
            <a:r>
              <a:rPr lang="en-US" sz="1050" b="1" dirty="0">
                <a:solidFill>
                  <a:srgbClr val="66707F"/>
                </a:solidFill>
                <a:latin typeface="Calibri" pitchFamily="34" charset="0"/>
                <a:ea typeface="Calibri" pitchFamily="34" charset="-122"/>
                <a:cs typeface="Calibri" pitchFamily="34" charset="-120"/>
              </a:rPr>
              <a:t>HTTPS for every host; serves the React web application</a:t>
            </a:r>
            <a:endParaRPr lang="en-US" sz="1250" dirty="0"/>
          </a:p>
        </p:txBody>
      </p:sp>
      <p:sp>
        <p:nvSpPr>
          <p:cNvPr id="20" name="Shape 17"/>
          <p:cNvSpPr/>
          <p:nvPr/>
        </p:nvSpPr>
        <p:spPr>
          <a:xfrm>
            <a:off x="4389120" y="3099816"/>
            <a:ext cx="0" cy="210312"/>
          </a:xfrm>
          <a:prstGeom prst="line">
            <a:avLst/>
          </a:prstGeom>
          <a:noFill/>
          <a:ln w="15875">
            <a:solidFill>
              <a:srgbClr val="66707F"/>
            </a:solidFill>
            <a:prstDash val="solid"/>
            <a:tailEnd type="triangle"/>
          </a:ln>
        </p:spPr>
      </p:sp>
      <p:sp>
        <p:nvSpPr>
          <p:cNvPr id="21" name="Shape 18"/>
          <p:cNvSpPr/>
          <p:nvPr/>
        </p:nvSpPr>
        <p:spPr>
          <a:xfrm>
            <a:off x="731520" y="3310128"/>
            <a:ext cx="7315200" cy="1810512"/>
          </a:xfrm>
          <a:prstGeom prst="rect">
            <a:avLst/>
          </a:prstGeom>
          <a:solidFill>
            <a:srgbClr val="FFFFFF"/>
          </a:solidFill>
          <a:ln w="15875">
            <a:solidFill>
              <a:srgbClr val="1F5FAD"/>
            </a:solidFill>
            <a:prstDash val="solid"/>
          </a:ln>
        </p:spPr>
      </p:sp>
      <p:sp>
        <p:nvSpPr>
          <p:cNvPr id="22" name="Text 19"/>
          <p:cNvSpPr/>
          <p:nvPr/>
        </p:nvSpPr>
        <p:spPr>
          <a:xfrm>
            <a:off x="841248" y="3364992"/>
            <a:ext cx="7095744" cy="274320"/>
          </a:xfrm>
          <a:prstGeom prst="rect">
            <a:avLst/>
          </a:prstGeom>
          <a:noFill/>
          <a:ln/>
        </p:spPr>
        <p:txBody>
          <a:bodyPr wrap="square" lIns="0" tIns="0" rIns="0" bIns="0" rtlCol="0" anchor="ctr"/>
          <a:lstStyle/>
          <a:p>
            <a:pPr indent="0" marL="0">
              <a:buNone/>
            </a:pPr>
            <a:r>
              <a:rPr lang="en-US" sz="1300" dirty="0">
                <a:solidFill>
                  <a:srgbClr val="1F5FAD"/>
                </a:solidFill>
                <a:latin typeface="Georgia" pitchFamily="34" charset="0"/>
                <a:ea typeface="Georgia" pitchFamily="34" charset="-122"/>
                <a:cs typeface="Georgia" pitchFamily="34" charset="-120"/>
              </a:rPr>
              <a:t>Laravel application (one container image)</a:t>
            </a:r>
            <a:endParaRPr lang="en-US" sz="1300" dirty="0"/>
          </a:p>
        </p:txBody>
      </p:sp>
      <p:sp>
        <p:nvSpPr>
          <p:cNvPr id="23" name="Text 20"/>
          <p:cNvSpPr/>
          <p:nvPr/>
        </p:nvSpPr>
        <p:spPr>
          <a:xfrm>
            <a:off x="841248" y="3694176"/>
            <a:ext cx="1360627" cy="292608"/>
          </a:xfrm>
          <a:prstGeom prst="roundRect">
            <a:avLst>
              <a:gd name="adj" fmla="val 15625"/>
            </a:avLst>
          </a:prstGeom>
          <a:solidFill>
            <a:srgbClr val="F4F6F9"/>
          </a:solidFill>
          <a:ln w="12700">
            <a:solidFill>
              <a:srgbClr val="D5DAE1"/>
            </a:solidFill>
          </a:ln>
        </p:spPr>
        <p:txBody>
          <a:bodyPr wrap="square" lIns="38100" tIns="38100" rIns="38100" bIns="38100" rtlCol="0" anchor="ctr"/>
          <a:lstStyle/>
          <a:p>
            <a:pPr algn="ctr" indent="0" marL="0">
              <a:buNone/>
            </a:pPr>
            <a:r>
              <a:rPr lang="en-US" sz="1100" dirty="0">
                <a:solidFill>
                  <a:srgbClr val="14213D"/>
                </a:solidFill>
                <a:latin typeface="Calibri" pitchFamily="34" charset="0"/>
                <a:ea typeface="Calibri" pitchFamily="34" charset="-122"/>
                <a:cs typeface="Calibri" pitchFamily="34" charset="-120"/>
              </a:rPr>
              <a:t>Platform</a:t>
            </a:r>
            <a:endParaRPr lang="en-US" sz="1100" dirty="0"/>
          </a:p>
        </p:txBody>
      </p:sp>
      <p:sp>
        <p:nvSpPr>
          <p:cNvPr id="24" name="Text 21"/>
          <p:cNvSpPr/>
          <p:nvPr/>
        </p:nvSpPr>
        <p:spPr>
          <a:xfrm>
            <a:off x="2275027" y="3694176"/>
            <a:ext cx="1360627" cy="292608"/>
          </a:xfrm>
          <a:prstGeom prst="roundRect">
            <a:avLst>
              <a:gd name="adj" fmla="val 15625"/>
            </a:avLst>
          </a:prstGeom>
          <a:solidFill>
            <a:srgbClr val="F4F6F9"/>
          </a:solidFill>
          <a:ln w="12700">
            <a:solidFill>
              <a:srgbClr val="D5DAE1"/>
            </a:solidFill>
          </a:ln>
        </p:spPr>
        <p:txBody>
          <a:bodyPr wrap="square" lIns="38100" tIns="38100" rIns="38100" bIns="38100" rtlCol="0" anchor="ctr"/>
          <a:lstStyle/>
          <a:p>
            <a:pPr algn="ctr" indent="0" marL="0">
              <a:buNone/>
            </a:pPr>
            <a:r>
              <a:rPr lang="en-US" sz="1100" dirty="0">
                <a:solidFill>
                  <a:srgbClr val="14213D"/>
                </a:solidFill>
                <a:latin typeface="Calibri" pitchFamily="34" charset="0"/>
                <a:ea typeface="Calibri" pitchFamily="34" charset="-122"/>
                <a:cs typeface="Calibri" pitchFamily="34" charset="-120"/>
              </a:rPr>
              <a:t>Tenancy</a:t>
            </a:r>
            <a:endParaRPr lang="en-US" sz="1100" dirty="0"/>
          </a:p>
        </p:txBody>
      </p:sp>
      <p:sp>
        <p:nvSpPr>
          <p:cNvPr id="25" name="Text 22"/>
          <p:cNvSpPr/>
          <p:nvPr/>
        </p:nvSpPr>
        <p:spPr>
          <a:xfrm>
            <a:off x="3708806" y="3694176"/>
            <a:ext cx="1360627" cy="292608"/>
          </a:xfrm>
          <a:prstGeom prst="roundRect">
            <a:avLst>
              <a:gd name="adj" fmla="val 15625"/>
            </a:avLst>
          </a:prstGeom>
          <a:solidFill>
            <a:srgbClr val="F4F6F9"/>
          </a:solidFill>
          <a:ln w="12700">
            <a:solidFill>
              <a:srgbClr val="D5DAE1"/>
            </a:solidFill>
          </a:ln>
        </p:spPr>
        <p:txBody>
          <a:bodyPr wrap="square" lIns="38100" tIns="38100" rIns="38100" bIns="38100" rtlCol="0" anchor="ctr"/>
          <a:lstStyle/>
          <a:p>
            <a:pPr algn="ctr" indent="0" marL="0">
              <a:buNone/>
            </a:pPr>
            <a:r>
              <a:rPr lang="en-US" sz="1100" dirty="0">
                <a:solidFill>
                  <a:srgbClr val="14213D"/>
                </a:solidFill>
                <a:latin typeface="Calibri" pitchFamily="34" charset="0"/>
                <a:ea typeface="Calibri" pitchFamily="34" charset="-122"/>
                <a:cs typeface="Calibri" pitchFamily="34" charset="-120"/>
              </a:rPr>
              <a:t>Identity</a:t>
            </a:r>
            <a:endParaRPr lang="en-US" sz="1100" dirty="0"/>
          </a:p>
        </p:txBody>
      </p:sp>
      <p:sp>
        <p:nvSpPr>
          <p:cNvPr id="26" name="Text 23"/>
          <p:cNvSpPr/>
          <p:nvPr/>
        </p:nvSpPr>
        <p:spPr>
          <a:xfrm>
            <a:off x="5142586" y="3694176"/>
            <a:ext cx="1360627" cy="292608"/>
          </a:xfrm>
          <a:prstGeom prst="roundRect">
            <a:avLst>
              <a:gd name="adj" fmla="val 15625"/>
            </a:avLst>
          </a:prstGeom>
          <a:solidFill>
            <a:srgbClr val="F4F6F9"/>
          </a:solidFill>
          <a:ln w="12700">
            <a:solidFill>
              <a:srgbClr val="D5DAE1"/>
            </a:solidFill>
          </a:ln>
        </p:spPr>
        <p:txBody>
          <a:bodyPr wrap="square" lIns="38100" tIns="38100" rIns="38100" bIns="38100" rtlCol="0" anchor="ctr"/>
          <a:lstStyle/>
          <a:p>
            <a:pPr algn="ctr" indent="0" marL="0">
              <a:buNone/>
            </a:pPr>
            <a:r>
              <a:rPr lang="en-US" sz="1100" dirty="0">
                <a:solidFill>
                  <a:srgbClr val="14213D"/>
                </a:solidFill>
                <a:latin typeface="Calibri" pitchFamily="34" charset="0"/>
                <a:ea typeface="Calibri" pitchFamily="34" charset="-122"/>
                <a:cs typeface="Calibri" pitchFamily="34" charset="-120"/>
              </a:rPr>
              <a:t>Contacts</a:t>
            </a:r>
            <a:endParaRPr lang="en-US" sz="1100" dirty="0"/>
          </a:p>
        </p:txBody>
      </p:sp>
      <p:sp>
        <p:nvSpPr>
          <p:cNvPr id="27" name="Text 24"/>
          <p:cNvSpPr/>
          <p:nvPr/>
        </p:nvSpPr>
        <p:spPr>
          <a:xfrm>
            <a:off x="6576365" y="3694176"/>
            <a:ext cx="1360627" cy="292608"/>
          </a:xfrm>
          <a:prstGeom prst="roundRect">
            <a:avLst>
              <a:gd name="adj" fmla="val 15625"/>
            </a:avLst>
          </a:prstGeom>
          <a:solidFill>
            <a:srgbClr val="F4F6F9"/>
          </a:solidFill>
          <a:ln w="12700">
            <a:solidFill>
              <a:srgbClr val="D5DAE1"/>
            </a:solidFill>
          </a:ln>
        </p:spPr>
        <p:txBody>
          <a:bodyPr wrap="square" lIns="38100" tIns="38100" rIns="38100" bIns="38100" rtlCol="0" anchor="ctr"/>
          <a:lstStyle/>
          <a:p>
            <a:pPr algn="ctr" indent="0" marL="0">
              <a:buNone/>
            </a:pPr>
            <a:r>
              <a:rPr lang="en-US" sz="1100" dirty="0">
                <a:solidFill>
                  <a:srgbClr val="14213D"/>
                </a:solidFill>
                <a:latin typeface="Calibri" pitchFamily="34" charset="0"/>
                <a:ea typeface="Calibri" pitchFamily="34" charset="-122"/>
                <a:cs typeface="Calibri" pitchFamily="34" charset="-120"/>
              </a:rPr>
              <a:t>Agents</a:t>
            </a:r>
            <a:endParaRPr lang="en-US" sz="1100" dirty="0"/>
          </a:p>
        </p:txBody>
      </p:sp>
      <p:sp>
        <p:nvSpPr>
          <p:cNvPr id="28" name="Text 25"/>
          <p:cNvSpPr/>
          <p:nvPr/>
        </p:nvSpPr>
        <p:spPr>
          <a:xfrm>
            <a:off x="841248" y="4059936"/>
            <a:ext cx="1360627" cy="292608"/>
          </a:xfrm>
          <a:prstGeom prst="roundRect">
            <a:avLst>
              <a:gd name="adj" fmla="val 15625"/>
            </a:avLst>
          </a:prstGeom>
          <a:solidFill>
            <a:srgbClr val="F4F6F9"/>
          </a:solidFill>
          <a:ln w="12700">
            <a:solidFill>
              <a:srgbClr val="D5DAE1"/>
            </a:solidFill>
          </a:ln>
        </p:spPr>
        <p:txBody>
          <a:bodyPr wrap="square" lIns="38100" tIns="38100" rIns="38100" bIns="38100" rtlCol="0" anchor="ctr"/>
          <a:lstStyle/>
          <a:p>
            <a:pPr algn="ctr" indent="0" marL="0">
              <a:buNone/>
            </a:pPr>
            <a:r>
              <a:rPr lang="en-US" sz="1100" dirty="0">
                <a:solidFill>
                  <a:srgbClr val="14213D"/>
                </a:solidFill>
                <a:latin typeface="Calibri" pitchFamily="34" charset="0"/>
                <a:ea typeface="Calibri" pitchFamily="34" charset="-122"/>
                <a:cs typeface="Calibri" pitchFamily="34" charset="-120"/>
              </a:rPr>
              <a:t>Tickets</a:t>
            </a:r>
            <a:endParaRPr lang="en-US" sz="1100" dirty="0"/>
          </a:p>
        </p:txBody>
      </p:sp>
      <p:sp>
        <p:nvSpPr>
          <p:cNvPr id="29" name="Text 26"/>
          <p:cNvSpPr/>
          <p:nvPr/>
        </p:nvSpPr>
        <p:spPr>
          <a:xfrm>
            <a:off x="2275027" y="4059936"/>
            <a:ext cx="1360627" cy="292608"/>
          </a:xfrm>
          <a:prstGeom prst="roundRect">
            <a:avLst>
              <a:gd name="adj" fmla="val 15625"/>
            </a:avLst>
          </a:prstGeom>
          <a:solidFill>
            <a:srgbClr val="F4F6F9"/>
          </a:solidFill>
          <a:ln w="12700">
            <a:solidFill>
              <a:srgbClr val="D5DAE1"/>
            </a:solidFill>
          </a:ln>
        </p:spPr>
        <p:txBody>
          <a:bodyPr wrap="square" lIns="38100" tIns="38100" rIns="38100" bIns="38100" rtlCol="0" anchor="ctr"/>
          <a:lstStyle/>
          <a:p>
            <a:pPr algn="ctr" indent="0" marL="0">
              <a:buNone/>
            </a:pPr>
            <a:r>
              <a:rPr lang="en-US" sz="1100" dirty="0">
                <a:solidFill>
                  <a:srgbClr val="14213D"/>
                </a:solidFill>
                <a:latin typeface="Calibri" pitchFamily="34" charset="0"/>
                <a:ea typeface="Calibri" pitchFamily="34" charset="-122"/>
                <a:cs typeface="Calibri" pitchFamily="34" charset="-120"/>
              </a:rPr>
              <a:t>SLA</a:t>
            </a:r>
            <a:endParaRPr lang="en-US" sz="1100" dirty="0"/>
          </a:p>
        </p:txBody>
      </p:sp>
      <p:sp>
        <p:nvSpPr>
          <p:cNvPr id="30" name="Text 27"/>
          <p:cNvSpPr/>
          <p:nvPr/>
        </p:nvSpPr>
        <p:spPr>
          <a:xfrm>
            <a:off x="3708806" y="4059936"/>
            <a:ext cx="1360627" cy="292608"/>
          </a:xfrm>
          <a:prstGeom prst="roundRect">
            <a:avLst>
              <a:gd name="adj" fmla="val 15625"/>
            </a:avLst>
          </a:prstGeom>
          <a:solidFill>
            <a:srgbClr val="F4F6F9"/>
          </a:solidFill>
          <a:ln w="12700">
            <a:solidFill>
              <a:srgbClr val="D5DAE1"/>
            </a:solidFill>
          </a:ln>
        </p:spPr>
        <p:txBody>
          <a:bodyPr wrap="square" lIns="38100" tIns="38100" rIns="38100" bIns="38100" rtlCol="0" anchor="ctr"/>
          <a:lstStyle/>
          <a:p>
            <a:pPr algn="ctr" indent="0" marL="0">
              <a:buNone/>
            </a:pPr>
            <a:r>
              <a:rPr lang="en-US" sz="1100" dirty="0">
                <a:solidFill>
                  <a:srgbClr val="14213D"/>
                </a:solidFill>
                <a:latin typeface="Calibri" pitchFamily="34" charset="0"/>
                <a:ea typeface="Calibri" pitchFamily="34" charset="-122"/>
                <a:cs typeface="Calibri" pitchFamily="34" charset="-120"/>
              </a:rPr>
              <a:t>Automation</a:t>
            </a:r>
            <a:endParaRPr lang="en-US" sz="1100" dirty="0"/>
          </a:p>
        </p:txBody>
      </p:sp>
      <p:sp>
        <p:nvSpPr>
          <p:cNvPr id="31" name="Text 28"/>
          <p:cNvSpPr/>
          <p:nvPr/>
        </p:nvSpPr>
        <p:spPr>
          <a:xfrm>
            <a:off x="5142586" y="4059936"/>
            <a:ext cx="1360627" cy="292608"/>
          </a:xfrm>
          <a:prstGeom prst="roundRect">
            <a:avLst>
              <a:gd name="adj" fmla="val 15625"/>
            </a:avLst>
          </a:prstGeom>
          <a:solidFill>
            <a:srgbClr val="F4F6F9"/>
          </a:solidFill>
          <a:ln w="12700">
            <a:solidFill>
              <a:srgbClr val="D5DAE1"/>
            </a:solidFill>
          </a:ln>
        </p:spPr>
        <p:txBody>
          <a:bodyPr wrap="square" lIns="38100" tIns="38100" rIns="38100" bIns="38100" rtlCol="0" anchor="ctr"/>
          <a:lstStyle/>
          <a:p>
            <a:pPr algn="ctr" indent="0" marL="0">
              <a:buNone/>
            </a:pPr>
            <a:r>
              <a:rPr lang="en-US" sz="1100" dirty="0">
                <a:solidFill>
                  <a:srgbClr val="14213D"/>
                </a:solidFill>
                <a:latin typeface="Calibri" pitchFamily="34" charset="0"/>
                <a:ea typeface="Calibri" pitchFamily="34" charset="-122"/>
                <a:cs typeface="Calibri" pitchFamily="34" charset="-120"/>
              </a:rPr>
              <a:t>Media and mail</a:t>
            </a:r>
            <a:endParaRPr lang="en-US" sz="1100" dirty="0"/>
          </a:p>
        </p:txBody>
      </p:sp>
      <p:sp>
        <p:nvSpPr>
          <p:cNvPr id="32" name="Text 29"/>
          <p:cNvSpPr/>
          <p:nvPr/>
        </p:nvSpPr>
        <p:spPr>
          <a:xfrm>
            <a:off x="6576365" y="4059936"/>
            <a:ext cx="1360627" cy="292608"/>
          </a:xfrm>
          <a:prstGeom prst="roundRect">
            <a:avLst>
              <a:gd name="adj" fmla="val 15625"/>
            </a:avLst>
          </a:prstGeom>
          <a:solidFill>
            <a:srgbClr val="F4F6F9"/>
          </a:solidFill>
          <a:ln w="12700">
            <a:solidFill>
              <a:srgbClr val="D5DAE1"/>
            </a:solidFill>
          </a:ln>
        </p:spPr>
        <p:txBody>
          <a:bodyPr wrap="square" lIns="38100" tIns="38100" rIns="38100" bIns="38100" rtlCol="0" anchor="ctr"/>
          <a:lstStyle/>
          <a:p>
            <a:pPr algn="ctr" indent="0" marL="0">
              <a:buNone/>
            </a:pPr>
            <a:r>
              <a:rPr lang="en-US" sz="1100" dirty="0">
                <a:solidFill>
                  <a:srgbClr val="14213D"/>
                </a:solidFill>
                <a:latin typeface="Calibri" pitchFamily="34" charset="0"/>
                <a:ea typeface="Calibri" pitchFamily="34" charset="-122"/>
                <a:cs typeface="Calibri" pitchFamily="34" charset="-120"/>
              </a:rPr>
              <a:t>Reporting and audit</a:t>
            </a:r>
            <a:endParaRPr lang="en-US" sz="1100" dirty="0"/>
          </a:p>
        </p:txBody>
      </p:sp>
      <p:sp>
        <p:nvSpPr>
          <p:cNvPr id="33" name="Text 30"/>
          <p:cNvSpPr/>
          <p:nvPr/>
        </p:nvSpPr>
        <p:spPr>
          <a:xfrm>
            <a:off x="841248" y="4517136"/>
            <a:ext cx="2316480" cy="475488"/>
          </a:xfrm>
          <a:prstGeom prst="roundRect">
            <a:avLst>
              <a:gd name="adj" fmla="val 9615"/>
            </a:avLst>
          </a:prstGeom>
          <a:solidFill>
            <a:srgbClr val="EEF3FA"/>
          </a:solidFill>
          <a:ln w="12700">
            <a:solidFill>
              <a:srgbClr val="AFC0D8"/>
            </a:solidFill>
          </a:ln>
        </p:spPr>
        <p:txBody>
          <a:bodyPr wrap="square" lIns="38100" tIns="38100" rIns="38100" bIns="38100" rtlCol="0" anchor="ctr"/>
          <a:lstStyle/>
          <a:p>
            <a:pPr algn="ctr" indent="0" marL="0">
              <a:buNone/>
            </a:pPr>
            <a:r>
              <a:rPr lang="en-US" sz="1150" b="1" dirty="0">
                <a:solidFill>
                  <a:srgbClr val="14213D"/>
                </a:solidFill>
                <a:latin typeface="Calibri" pitchFamily="34" charset="0"/>
                <a:ea typeface="Calibri" pitchFamily="34" charset="-122"/>
                <a:cs typeface="Calibri" pitchFamily="34" charset="-120"/>
              </a:rPr>
              <a:t>Algorithms</a:t>
            </a:r>
            <a:endParaRPr lang="en-US" sz="1150" dirty="0"/>
          </a:p>
          <a:p>
            <a:pPr algn="ctr" indent="0" marL="0">
              <a:buNone/>
            </a:pPr>
            <a:r>
              <a:rPr lang="en-US" sz="1050" b="1" dirty="0">
                <a:solidFill>
                  <a:srgbClr val="66707F"/>
                </a:solidFill>
                <a:latin typeface="Calibri" pitchFamily="34" charset="0"/>
                <a:ea typeface="Calibri" pitchFamily="34" charset="-122"/>
                <a:cs typeface="Calibri" pitchFamily="34" charset="-120"/>
              </a:rPr>
              <a:t>behind replaceable interfaces</a:t>
            </a:r>
            <a:endParaRPr lang="en-US" sz="1150" dirty="0"/>
          </a:p>
        </p:txBody>
      </p:sp>
      <p:sp>
        <p:nvSpPr>
          <p:cNvPr id="34" name="Text 31"/>
          <p:cNvSpPr/>
          <p:nvPr/>
        </p:nvSpPr>
        <p:spPr>
          <a:xfrm>
            <a:off x="3230880" y="4517136"/>
            <a:ext cx="2316480" cy="475488"/>
          </a:xfrm>
          <a:prstGeom prst="roundRect">
            <a:avLst>
              <a:gd name="adj" fmla="val 9615"/>
            </a:avLst>
          </a:prstGeom>
          <a:solidFill>
            <a:srgbClr val="FFFFFF"/>
          </a:solidFill>
          <a:ln w="12700">
            <a:solidFill>
              <a:srgbClr val="AFC0D8"/>
            </a:solidFill>
          </a:ln>
        </p:spPr>
        <p:txBody>
          <a:bodyPr wrap="square" lIns="38100" tIns="38100" rIns="38100" bIns="38100" rtlCol="0" anchor="ctr"/>
          <a:lstStyle/>
          <a:p>
            <a:pPr algn="ctr" indent="0" marL="0">
              <a:buNone/>
            </a:pPr>
            <a:r>
              <a:rPr lang="en-US" sz="1150" b="1" dirty="0">
                <a:solidFill>
                  <a:srgbClr val="14213D"/>
                </a:solidFill>
                <a:latin typeface="Calibri" pitchFamily="34" charset="0"/>
                <a:ea typeface="Calibri" pitchFamily="34" charset="-122"/>
                <a:cs typeface="Calibri" pitchFamily="34" charset="-120"/>
              </a:rPr>
              <a:t>Queue workers</a:t>
            </a:r>
            <a:endParaRPr lang="en-US" sz="1150" dirty="0"/>
          </a:p>
          <a:p>
            <a:pPr algn="ctr" indent="0" marL="0">
              <a:buNone/>
            </a:pPr>
            <a:r>
              <a:rPr lang="en-US" sz="1050" b="1" dirty="0">
                <a:solidFill>
                  <a:srgbClr val="66707F"/>
                </a:solidFill>
                <a:latin typeface="Calibri" pitchFamily="34" charset="0"/>
                <a:ea typeface="Calibri" pitchFamily="34" charset="-122"/>
                <a:cs typeface="Calibri" pitchFamily="34" charset="-120"/>
              </a:rPr>
              <a:t>mail, notifications, webhooks</a:t>
            </a:r>
            <a:endParaRPr lang="en-US" sz="1150" dirty="0"/>
          </a:p>
        </p:txBody>
      </p:sp>
      <p:sp>
        <p:nvSpPr>
          <p:cNvPr id="35" name="Text 32"/>
          <p:cNvSpPr/>
          <p:nvPr/>
        </p:nvSpPr>
        <p:spPr>
          <a:xfrm>
            <a:off x="5620512" y="4517136"/>
            <a:ext cx="2316480" cy="475488"/>
          </a:xfrm>
          <a:prstGeom prst="roundRect">
            <a:avLst>
              <a:gd name="adj" fmla="val 9615"/>
            </a:avLst>
          </a:prstGeom>
          <a:solidFill>
            <a:srgbClr val="FFFFFF"/>
          </a:solidFill>
          <a:ln w="12700">
            <a:solidFill>
              <a:srgbClr val="AFC0D8"/>
            </a:solidFill>
          </a:ln>
        </p:spPr>
        <p:txBody>
          <a:bodyPr wrap="square" lIns="38100" tIns="38100" rIns="38100" bIns="38100" rtlCol="0" anchor="ctr"/>
          <a:lstStyle/>
          <a:p>
            <a:pPr algn="ctr" indent="0" marL="0">
              <a:buNone/>
            </a:pPr>
            <a:r>
              <a:rPr lang="en-US" sz="1150" b="1" dirty="0">
                <a:solidFill>
                  <a:srgbClr val="14213D"/>
                </a:solidFill>
                <a:latin typeface="Calibri" pitchFamily="34" charset="0"/>
                <a:ea typeface="Calibri" pitchFamily="34" charset="-122"/>
                <a:cs typeface="Calibri" pitchFamily="34" charset="-120"/>
              </a:rPr>
              <a:t>Scheduler</a:t>
            </a:r>
            <a:endParaRPr lang="en-US" sz="1150" dirty="0"/>
          </a:p>
          <a:p>
            <a:pPr algn="ctr" indent="0" marL="0">
              <a:buNone/>
            </a:pPr>
            <a:r>
              <a:rPr lang="en-US" sz="1050" b="1" dirty="0">
                <a:solidFill>
                  <a:srgbClr val="66707F"/>
                </a:solidFill>
                <a:latin typeface="Calibri" pitchFamily="34" charset="0"/>
                <a:ea typeface="Calibri" pitchFamily="34" charset="-122"/>
                <a:cs typeface="Calibri" pitchFamily="34" charset="-120"/>
              </a:rPr>
              <a:t>SLA check and mail, every minute</a:t>
            </a:r>
            <a:endParaRPr lang="en-US" sz="1150" dirty="0"/>
          </a:p>
        </p:txBody>
      </p:sp>
      <p:sp>
        <p:nvSpPr>
          <p:cNvPr id="36" name="Shape 33"/>
          <p:cNvSpPr/>
          <p:nvPr/>
        </p:nvSpPr>
        <p:spPr>
          <a:xfrm>
            <a:off x="1594485" y="5120640"/>
            <a:ext cx="0" cy="292608"/>
          </a:xfrm>
          <a:prstGeom prst="line">
            <a:avLst/>
          </a:prstGeom>
          <a:noFill/>
          <a:ln w="15875">
            <a:solidFill>
              <a:srgbClr val="66707F"/>
            </a:solidFill>
            <a:prstDash val="solid"/>
            <a:tailEnd type="triangle"/>
          </a:ln>
        </p:spPr>
      </p:sp>
      <p:sp>
        <p:nvSpPr>
          <p:cNvPr id="37" name="Text 34"/>
          <p:cNvSpPr/>
          <p:nvPr/>
        </p:nvSpPr>
        <p:spPr>
          <a:xfrm>
            <a:off x="731520" y="5413248"/>
            <a:ext cx="1725930" cy="658368"/>
          </a:xfrm>
          <a:prstGeom prst="roundRect">
            <a:avLst>
              <a:gd name="adj" fmla="val 6944"/>
            </a:avLst>
          </a:prstGeom>
          <a:solidFill>
            <a:srgbClr val="EEF6F1"/>
          </a:solidFill>
          <a:ln w="12700">
            <a:solidFill>
              <a:srgbClr val="A8D2B8"/>
            </a:solidFill>
          </a:ln>
        </p:spPr>
        <p:txBody>
          <a:bodyPr wrap="square" lIns="38100" tIns="38100" rIns="38100" bIns="3810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PostgreSQL</a:t>
            </a:r>
            <a:endParaRPr lang="en-US" sz="1200" dirty="0"/>
          </a:p>
          <a:p>
            <a:pPr algn="ctr" indent="0" marL="0">
              <a:buNone/>
            </a:pPr>
            <a:r>
              <a:rPr lang="en-US" sz="1050" b="1" dirty="0">
                <a:solidFill>
                  <a:srgbClr val="66707F"/>
                </a:solidFill>
                <a:latin typeface="Calibri" pitchFamily="34" charset="0"/>
                <a:ea typeface="Calibri" pitchFamily="34" charset="-122"/>
                <a:cs typeface="Calibri" pitchFamily="34" charset="-120"/>
              </a:rPr>
              <a:t>data, row-level security</a:t>
            </a:r>
            <a:endParaRPr lang="en-US" sz="1200" dirty="0"/>
          </a:p>
        </p:txBody>
      </p:sp>
      <p:sp>
        <p:nvSpPr>
          <p:cNvPr id="38" name="Shape 35"/>
          <p:cNvSpPr/>
          <p:nvPr/>
        </p:nvSpPr>
        <p:spPr>
          <a:xfrm>
            <a:off x="3457575" y="5120640"/>
            <a:ext cx="0" cy="292608"/>
          </a:xfrm>
          <a:prstGeom prst="line">
            <a:avLst/>
          </a:prstGeom>
          <a:noFill/>
          <a:ln w="15875">
            <a:solidFill>
              <a:srgbClr val="66707F"/>
            </a:solidFill>
            <a:prstDash val="solid"/>
            <a:tailEnd type="triangle"/>
          </a:ln>
        </p:spPr>
      </p:sp>
      <p:sp>
        <p:nvSpPr>
          <p:cNvPr id="39" name="Text 36"/>
          <p:cNvSpPr/>
          <p:nvPr/>
        </p:nvSpPr>
        <p:spPr>
          <a:xfrm>
            <a:off x="2594610" y="5413248"/>
            <a:ext cx="1725930" cy="658368"/>
          </a:xfrm>
          <a:prstGeom prst="roundRect">
            <a:avLst>
              <a:gd name="adj" fmla="val 6944"/>
            </a:avLst>
          </a:prstGeom>
          <a:solidFill>
            <a:srgbClr val="EEF6F1"/>
          </a:solidFill>
          <a:ln w="12700">
            <a:solidFill>
              <a:srgbClr val="A8D2B8"/>
            </a:solidFill>
          </a:ln>
        </p:spPr>
        <p:txBody>
          <a:bodyPr wrap="square" lIns="38100" tIns="38100" rIns="38100" bIns="3810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Valkey</a:t>
            </a:r>
            <a:endParaRPr lang="en-US" sz="1200" dirty="0"/>
          </a:p>
          <a:p>
            <a:pPr algn="ctr" indent="0" marL="0">
              <a:buNone/>
            </a:pPr>
            <a:r>
              <a:rPr lang="en-US" sz="1050" b="1" dirty="0">
                <a:solidFill>
                  <a:srgbClr val="66707F"/>
                </a:solidFill>
                <a:latin typeface="Calibri" pitchFamily="34" charset="0"/>
                <a:ea typeface="Calibri" pitchFamily="34" charset="-122"/>
                <a:cs typeface="Calibri" pitchFamily="34" charset="-120"/>
              </a:rPr>
              <a:t>cache and queues</a:t>
            </a:r>
            <a:endParaRPr lang="en-US" sz="1200" dirty="0"/>
          </a:p>
        </p:txBody>
      </p:sp>
      <p:sp>
        <p:nvSpPr>
          <p:cNvPr id="40" name="Shape 37"/>
          <p:cNvSpPr/>
          <p:nvPr/>
        </p:nvSpPr>
        <p:spPr>
          <a:xfrm>
            <a:off x="5320665" y="5120640"/>
            <a:ext cx="0" cy="292608"/>
          </a:xfrm>
          <a:prstGeom prst="line">
            <a:avLst/>
          </a:prstGeom>
          <a:noFill/>
          <a:ln w="15875">
            <a:solidFill>
              <a:srgbClr val="66707F"/>
            </a:solidFill>
            <a:prstDash val="solid"/>
            <a:tailEnd type="triangle"/>
          </a:ln>
        </p:spPr>
      </p:sp>
      <p:sp>
        <p:nvSpPr>
          <p:cNvPr id="41" name="Text 38"/>
          <p:cNvSpPr/>
          <p:nvPr/>
        </p:nvSpPr>
        <p:spPr>
          <a:xfrm>
            <a:off x="4457700" y="5413248"/>
            <a:ext cx="1725930" cy="658368"/>
          </a:xfrm>
          <a:prstGeom prst="roundRect">
            <a:avLst>
              <a:gd name="adj" fmla="val 6944"/>
            </a:avLst>
          </a:prstGeom>
          <a:solidFill>
            <a:srgbClr val="EEF6F1"/>
          </a:solidFill>
          <a:ln w="12700">
            <a:solidFill>
              <a:srgbClr val="A8D2B8"/>
            </a:solidFill>
          </a:ln>
        </p:spPr>
        <p:txBody>
          <a:bodyPr wrap="square" lIns="38100" tIns="38100" rIns="38100" bIns="3810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RustFS</a:t>
            </a:r>
            <a:endParaRPr lang="en-US" sz="1200" dirty="0"/>
          </a:p>
          <a:p>
            <a:pPr algn="ctr" indent="0" marL="0">
              <a:buNone/>
            </a:pPr>
            <a:r>
              <a:rPr lang="en-US" sz="1050" b="1" dirty="0">
                <a:solidFill>
                  <a:srgbClr val="66707F"/>
                </a:solidFill>
                <a:latin typeface="Calibri" pitchFamily="34" charset="0"/>
                <a:ea typeface="Calibri" pitchFamily="34" charset="-122"/>
                <a:cs typeface="Calibri" pitchFamily="34" charset="-120"/>
              </a:rPr>
              <a:t>file storage</a:t>
            </a:r>
            <a:endParaRPr lang="en-US" sz="1200" dirty="0"/>
          </a:p>
        </p:txBody>
      </p:sp>
      <p:sp>
        <p:nvSpPr>
          <p:cNvPr id="42" name="Shape 39"/>
          <p:cNvSpPr/>
          <p:nvPr/>
        </p:nvSpPr>
        <p:spPr>
          <a:xfrm>
            <a:off x="7183755" y="5120640"/>
            <a:ext cx="0" cy="292608"/>
          </a:xfrm>
          <a:prstGeom prst="line">
            <a:avLst/>
          </a:prstGeom>
          <a:noFill/>
          <a:ln w="15875">
            <a:solidFill>
              <a:srgbClr val="66707F"/>
            </a:solidFill>
            <a:prstDash val="solid"/>
            <a:tailEnd type="triangle"/>
          </a:ln>
        </p:spPr>
      </p:sp>
      <p:sp>
        <p:nvSpPr>
          <p:cNvPr id="43" name="Text 40"/>
          <p:cNvSpPr/>
          <p:nvPr/>
        </p:nvSpPr>
        <p:spPr>
          <a:xfrm>
            <a:off x="6320790" y="5413248"/>
            <a:ext cx="1725930" cy="658368"/>
          </a:xfrm>
          <a:prstGeom prst="roundRect">
            <a:avLst>
              <a:gd name="adj" fmla="val 6944"/>
            </a:avLst>
          </a:prstGeom>
          <a:solidFill>
            <a:srgbClr val="EEF6F1"/>
          </a:solidFill>
          <a:ln w="12700">
            <a:solidFill>
              <a:srgbClr val="A8D2B8"/>
            </a:solidFill>
          </a:ln>
        </p:spPr>
        <p:txBody>
          <a:bodyPr wrap="square" lIns="38100" tIns="38100" rIns="38100" bIns="3810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Stalwart</a:t>
            </a:r>
            <a:endParaRPr lang="en-US" sz="1200" dirty="0"/>
          </a:p>
          <a:p>
            <a:pPr algn="ctr" indent="0" marL="0">
              <a:buNone/>
            </a:pPr>
            <a:r>
              <a:rPr lang="en-US" sz="1050" b="1" dirty="0">
                <a:solidFill>
                  <a:srgbClr val="66707F"/>
                </a:solidFill>
                <a:latin typeface="Calibri" pitchFamily="34" charset="0"/>
                <a:ea typeface="Calibri" pitchFamily="34" charset="-122"/>
                <a:cs typeface="Calibri" pitchFamily="34" charset="-120"/>
              </a:rPr>
              <a:t>mail server</a:t>
            </a:r>
            <a:endParaRPr lang="en-US" sz="1200" dirty="0"/>
          </a:p>
        </p:txBody>
      </p:sp>
      <p:sp>
        <p:nvSpPr>
          <p:cNvPr id="44" name="Text 41"/>
          <p:cNvSpPr/>
          <p:nvPr/>
        </p:nvSpPr>
        <p:spPr>
          <a:xfrm>
            <a:off x="8549640" y="1325880"/>
            <a:ext cx="3108960" cy="365760"/>
          </a:xfrm>
          <a:prstGeom prst="rect">
            <a:avLst/>
          </a:prstGeom>
          <a:noFill/>
          <a:ln/>
        </p:spPr>
        <p:txBody>
          <a:bodyPr wrap="square" lIns="0" tIns="0" rIns="0" bIns="0" rtlCol="0" anchor="ctr"/>
          <a:lstStyle/>
          <a:p>
            <a:pPr indent="0" marL="0">
              <a:buNone/>
            </a:pPr>
            <a:r>
              <a:rPr lang="en-US" sz="1700" dirty="0">
                <a:solidFill>
                  <a:srgbClr val="14213D"/>
                </a:solidFill>
                <a:latin typeface="Georgia" pitchFamily="34" charset="0"/>
                <a:ea typeface="Georgia" pitchFamily="34" charset="-122"/>
                <a:cs typeface="Georgia" pitchFamily="34" charset="-120"/>
              </a:rPr>
              <a:t>Design decisions</a:t>
            </a:r>
            <a:endParaRPr lang="en-US" sz="1700" dirty="0"/>
          </a:p>
        </p:txBody>
      </p:sp>
      <p:sp>
        <p:nvSpPr>
          <p:cNvPr id="45" name="Text 42"/>
          <p:cNvSpPr/>
          <p:nvPr/>
        </p:nvSpPr>
        <p:spPr>
          <a:xfrm>
            <a:off x="8549640" y="1783080"/>
            <a:ext cx="3090672" cy="4480560"/>
          </a:xfrm>
          <a:prstGeom prst="rect">
            <a:avLst/>
          </a:prstGeom>
          <a:noFill/>
          <a:ln/>
        </p:spPr>
        <p:txBody>
          <a:bodyPr wrap="square" lIns="25400" tIns="25400" rIns="25400" bIns="25400" rtlCol="0" anchor="t"/>
          <a:lstStyle/>
          <a:p>
            <a:pPr marL="190500" indent="-190500">
              <a:lnSpc>
                <a:spcPct val="105000"/>
              </a:lnSpc>
              <a:spcAft>
                <a:spcPts val="700"/>
              </a:spcAft>
              <a:buSzPct val="100000"/>
              <a:buChar char="•"/>
            </a:pPr>
            <a:r>
              <a:rPr lang="en-US" sz="1300" dirty="0">
                <a:solidFill>
                  <a:srgbClr val="26303F"/>
                </a:solidFill>
                <a:latin typeface="Calibri" pitchFamily="34" charset="0"/>
                <a:ea typeface="Calibri" pitchFamily="34" charset="-122"/>
                <a:cs typeface="Calibri" pitchFamily="34" charset="-120"/>
              </a:rPr>
              <a:t>The backend is split into modules with one-way dependencies; notifications, integrations, reports and the audit trail only react to events.</a:t>
            </a:r>
            <a:endParaRPr lang="en-US" sz="1300" dirty="0"/>
          </a:p>
          <a:p>
            <a:pPr marL="190500" indent="-190500">
              <a:lnSpc>
                <a:spcPct val="105000"/>
              </a:lnSpc>
              <a:spcAft>
                <a:spcPts val="700"/>
              </a:spcAft>
              <a:buSzPct val="100000"/>
              <a:buChar char="•"/>
            </a:pPr>
            <a:r>
              <a:rPr lang="en-US" sz="1300" dirty="0">
                <a:solidFill>
                  <a:srgbClr val="26303F"/>
                </a:solidFill>
                <a:latin typeface="Calibri" pitchFamily="34" charset="0"/>
                <a:ea typeface="Calibri" pitchFamily="34" charset="-122"/>
                <a:cs typeface="Calibri" pitchFamily="34" charset="-120"/>
              </a:rPr>
              <a:t>Each algorithm sits behind an interface and returns its decision together with an explanation.</a:t>
            </a:r>
            <a:endParaRPr lang="en-US" sz="1300" dirty="0"/>
          </a:p>
          <a:p>
            <a:pPr marL="190500" indent="-190500">
              <a:lnSpc>
                <a:spcPct val="105000"/>
              </a:lnSpc>
              <a:spcAft>
                <a:spcPts val="700"/>
              </a:spcAft>
              <a:buSzPct val="100000"/>
              <a:buChar char="•"/>
            </a:pPr>
            <a:r>
              <a:rPr lang="en-US" sz="1300" dirty="0">
                <a:solidFill>
                  <a:srgbClr val="26303F"/>
                </a:solidFill>
                <a:latin typeface="Calibri" pitchFamily="34" charset="0"/>
                <a:ea typeface="Calibri" pitchFamily="34" charset="-122"/>
                <a:cs typeface="Calibri" pitchFamily="34" charset="-120"/>
              </a:rPr>
              <a:t>Every change runs in one database transaction.</a:t>
            </a:r>
            <a:endParaRPr lang="en-US" sz="1300" dirty="0"/>
          </a:p>
          <a:p>
            <a:pPr marL="190500" indent="-190500">
              <a:lnSpc>
                <a:spcPct val="105000"/>
              </a:lnSpc>
              <a:spcAft>
                <a:spcPts val="700"/>
              </a:spcAft>
              <a:buSzPct val="100000"/>
              <a:buChar char="•"/>
            </a:pPr>
            <a:r>
              <a:rPr lang="en-US" sz="1300" dirty="0">
                <a:solidFill>
                  <a:srgbClr val="26303F"/>
                </a:solidFill>
                <a:latin typeface="Calibri" pitchFamily="34" charset="0"/>
                <a:ea typeface="Calibri" pitchFamily="34" charset="-122"/>
                <a:cs typeface="Calibri" pitchFamily="34" charset="-120"/>
              </a:rPr>
              <a:t>Every workspace table carries the workspace id and a row-level security policy.</a:t>
            </a:r>
            <a:endParaRPr lang="en-US" sz="1300" dirty="0"/>
          </a:p>
          <a:p>
            <a:pPr marL="190500" indent="-190500">
              <a:lnSpc>
                <a:spcPct val="105000"/>
              </a:lnSpc>
              <a:spcAft>
                <a:spcPts val="700"/>
              </a:spcAft>
              <a:buSzPct val="100000"/>
              <a:buChar char="•"/>
            </a:pPr>
            <a:r>
              <a:rPr lang="en-US" sz="1300" dirty="0">
                <a:solidFill>
                  <a:srgbClr val="26303F"/>
                </a:solidFill>
                <a:latin typeface="Calibri" pitchFamily="34" charset="0"/>
                <a:ea typeface="Calibri" pitchFamily="34" charset="-122"/>
                <a:cs typeface="Calibri" pitchFamily="34" charset="-120"/>
              </a:rPr>
              <a:t>The same containers run on a laptop, an own server or any cloud machine.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64240" cy="640080"/>
          </a:xfrm>
          <a:prstGeom prst="rect">
            <a:avLst/>
          </a:prstGeom>
          <a:noFill/>
          <a:ln/>
        </p:spPr>
        <p:txBody>
          <a:bodyPr wrap="square" lIns="0" tIns="0" rIns="0" bIns="0" rtlCol="0" anchor="b"/>
          <a:lstStyle/>
          <a:p>
            <a:pPr indent="0" marL="0">
              <a:buNone/>
            </a:pPr>
            <a:r>
              <a:rPr lang="en-US" sz="2800" dirty="0">
                <a:solidFill>
                  <a:srgbClr val="14213D"/>
                </a:solidFill>
                <a:latin typeface="Georgia" pitchFamily="34" charset="0"/>
                <a:ea typeface="Georgia" pitchFamily="34" charset="-122"/>
                <a:cs typeface="Georgia" pitchFamily="34" charset="-120"/>
              </a:rPr>
              <a:t>Priority Scoring and Agent Assignment</a:t>
            </a:r>
            <a:endParaRPr lang="en-US" sz="2800" dirty="0"/>
          </a:p>
        </p:txBody>
      </p:sp>
      <p:sp>
        <p:nvSpPr>
          <p:cNvPr id="3" name="Shape 1"/>
          <p:cNvSpPr/>
          <p:nvPr/>
        </p:nvSpPr>
        <p:spPr>
          <a:xfrm>
            <a:off x="548640" y="1060704"/>
            <a:ext cx="822960" cy="45720"/>
          </a:xfrm>
          <a:prstGeom prst="rect">
            <a:avLst/>
          </a:prstGeom>
          <a:solidFill>
            <a:srgbClr val="1F5FAD"/>
          </a:solidFill>
          <a:ln w="12700">
            <a:solidFill>
              <a:srgbClr val="1F5FAD"/>
            </a:solidFill>
            <a:prstDash val="solid"/>
          </a:ln>
        </p:spPr>
      </p:sp>
      <p:sp>
        <p:nvSpPr>
          <p:cNvPr id="4" name="Shape 2"/>
          <p:cNvSpPr/>
          <p:nvPr/>
        </p:nvSpPr>
        <p:spPr>
          <a:xfrm>
            <a:off x="548640" y="6382512"/>
            <a:ext cx="11091672" cy="0"/>
          </a:xfrm>
          <a:prstGeom prst="line">
            <a:avLst/>
          </a:prstGeom>
          <a:noFill/>
          <a:ln w="9525">
            <a:solidFill>
              <a:srgbClr val="D5DAE1"/>
            </a:solidFill>
            <a:prstDash val="solid"/>
          </a:ln>
        </p:spPr>
      </p:sp>
      <p:sp>
        <p:nvSpPr>
          <p:cNvPr id="5" name="Text 3"/>
          <p:cNvSpPr/>
          <p:nvPr/>
        </p:nvSpPr>
        <p:spPr>
          <a:xfrm>
            <a:off x="548640" y="6428232"/>
            <a:ext cx="3657600" cy="274320"/>
          </a:xfrm>
          <a:prstGeom prst="rect">
            <a:avLst/>
          </a:prstGeom>
          <a:noFill/>
          <a:ln/>
        </p:spPr>
        <p:txBody>
          <a:bodyPr wrap="square" lIns="0" tIns="0" rIns="0" bIns="0" rtlCol="0" anchor="ctr"/>
          <a:lstStyle/>
          <a:p>
            <a:pPr indent="0" marL="0">
              <a:buNone/>
            </a:pPr>
            <a:r>
              <a:rPr lang="en-US" sz="1050" dirty="0">
                <a:solidFill>
                  <a:srgbClr val="66707F"/>
                </a:solidFill>
                <a:latin typeface="Georgia" pitchFamily="34" charset="0"/>
                <a:ea typeface="Georgia" pitchFamily="34" charset="-122"/>
                <a:cs typeface="Georgia" pitchFamily="34" charset="-120"/>
              </a:rPr>
              <a:t>Smart Helpdesk</a:t>
            </a:r>
            <a:endParaRPr lang="en-US" sz="1050" dirty="0"/>
          </a:p>
        </p:txBody>
      </p:sp>
      <p:sp>
        <p:nvSpPr>
          <p:cNvPr id="6" name="Text 4"/>
          <p:cNvSpPr/>
          <p:nvPr/>
        </p:nvSpPr>
        <p:spPr>
          <a:xfrm>
            <a:off x="5669280" y="6428232"/>
            <a:ext cx="5971032" cy="274320"/>
          </a:xfrm>
          <a:prstGeom prst="rect">
            <a:avLst/>
          </a:prstGeom>
          <a:noFill/>
          <a:ln/>
        </p:spPr>
        <p:txBody>
          <a:bodyPr wrap="square" lIns="0" tIns="0" rIns="0" bIns="0" rtlCol="0" anchor="ctr"/>
          <a:lstStyle/>
          <a:p>
            <a:pPr algn="r" indent="0" marL="0">
              <a:buNone/>
            </a:pPr>
            <a:r>
              <a:rPr lang="en-US" sz="1050" dirty="0">
                <a:solidFill>
                  <a:srgbClr val="66707F"/>
                </a:solidFill>
                <a:latin typeface="Calibri" pitchFamily="34" charset="0"/>
                <a:ea typeface="Calibri" pitchFamily="34" charset="-122"/>
                <a:cs typeface="Calibri" pitchFamily="34" charset="-120"/>
              </a:rPr>
              <a:t>Chapter 3: System Analysis and Design      9 / 13</a:t>
            </a:r>
            <a:endParaRPr lang="en-US" sz="1050" dirty="0"/>
          </a:p>
        </p:txBody>
      </p:sp>
      <p:sp>
        <p:nvSpPr>
          <p:cNvPr id="8" name="Text 5"/>
          <p:cNvSpPr/>
          <p:nvPr/>
        </p:nvSpPr>
        <p:spPr>
          <a:xfrm>
            <a:off x="548640" y="1325880"/>
            <a:ext cx="5394960" cy="365760"/>
          </a:xfrm>
          <a:prstGeom prst="rect">
            <a:avLst/>
          </a:prstGeom>
          <a:noFill/>
          <a:ln/>
        </p:spPr>
        <p:txBody>
          <a:bodyPr wrap="square" lIns="0" tIns="0" rIns="0" bIns="0" rtlCol="0" anchor="ctr"/>
          <a:lstStyle/>
          <a:p>
            <a:pPr indent="0" marL="0">
              <a:buNone/>
            </a:pPr>
            <a:r>
              <a:rPr lang="en-US" sz="1800" dirty="0">
                <a:solidFill>
                  <a:srgbClr val="14213D"/>
                </a:solidFill>
                <a:latin typeface="Georgia" pitchFamily="34" charset="0"/>
                <a:ea typeface="Georgia" pitchFamily="34" charset="-122"/>
                <a:cs typeface="Georgia" pitchFamily="34" charset="-120"/>
              </a:rPr>
              <a:t>Weighted priority score</a:t>
            </a:r>
            <a:endParaRPr lang="en-US" sz="1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5394960" cy="914400"/>
        </p:xfrm>
        <a:graphic>
          <a:graphicData uri="http://schemas.openxmlformats.org/drawingml/2006/table">
            <a:tbl>
              <a:tblPr/>
              <a:tblGrid>
                <a:gridCol w="1463040"/>
                <a:gridCol w="3108960"/>
                <a:gridCol w="822960"/>
              </a:tblGrid>
              <a:tr h="329184">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Input</a:t>
                      </a:r>
                      <a:endParaRPr lang="en-US" sz="12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4213D"/>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Scaled to 0–1</a:t>
                      </a:r>
                      <a:endParaRPr lang="en-US" sz="12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4213D"/>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Weight</a:t>
                      </a:r>
                      <a:endParaRPr lang="en-US" sz="12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4213D"/>
                    </a:solidFill>
                  </a:tcPr>
                </a:tc>
              </a:tr>
              <a:tr h="329184">
                <a:tc>
                  <a:txBody>
                    <a:bodyPr/>
                    <a:lstStyle/>
                    <a:p>
                      <a:pPr indent="0" marL="0">
                        <a:buNone/>
                      </a:pPr>
                      <a:r>
                        <a:rPr lang="en-US" sz="1250" dirty="0">
                          <a:solidFill>
                            <a:srgbClr val="26303F"/>
                          </a:solidFill>
                          <a:latin typeface="Calibri" pitchFamily="34" charset="0"/>
                          <a:ea typeface="Calibri" pitchFamily="34" charset="-122"/>
                          <a:cs typeface="Calibri" pitchFamily="34" charset="-120"/>
                        </a:rPr>
                        <a:t>Impact (1–4)</a:t>
                      </a:r>
                      <a:endParaRPr lang="en-US" sz="12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50" dirty="0">
                          <a:solidFill>
                            <a:srgbClr val="26303F"/>
                          </a:solidFill>
                          <a:latin typeface="Calibri" pitchFamily="34" charset="0"/>
                          <a:ea typeface="Calibri" pitchFamily="34" charset="-122"/>
                          <a:cs typeface="Calibri" pitchFamily="34" charset="-120"/>
                        </a:rPr>
                        <a:t>(impact − 1) ÷ 3</a:t>
                      </a:r>
                      <a:endParaRPr lang="en-US" sz="12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50" dirty="0">
                          <a:solidFill>
                            <a:srgbClr val="26303F"/>
                          </a:solidFill>
                          <a:latin typeface="Calibri" pitchFamily="34" charset="0"/>
                          <a:ea typeface="Calibri" pitchFamily="34" charset="-122"/>
                          <a:cs typeface="Calibri" pitchFamily="34" charset="-120"/>
                        </a:rPr>
                        <a:t>0.40</a:t>
                      </a:r>
                      <a:endParaRPr lang="en-US" sz="12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329184">
                <a:tc>
                  <a:txBody>
                    <a:bodyPr/>
                    <a:lstStyle/>
                    <a:p>
                      <a:pPr indent="0" marL="0">
                        <a:buNone/>
                      </a:pPr>
                      <a:r>
                        <a:rPr lang="en-US" sz="1250" dirty="0">
                          <a:solidFill>
                            <a:srgbClr val="26303F"/>
                          </a:solidFill>
                          <a:latin typeface="Calibri" pitchFamily="34" charset="0"/>
                          <a:ea typeface="Calibri" pitchFamily="34" charset="-122"/>
                          <a:cs typeface="Calibri" pitchFamily="34" charset="-120"/>
                        </a:rPr>
                        <a:t>Urgency (1–4)</a:t>
                      </a:r>
                      <a:endParaRPr lang="en-US" sz="12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en-US" sz="1250" dirty="0">
                          <a:solidFill>
                            <a:srgbClr val="26303F"/>
                          </a:solidFill>
                          <a:latin typeface="Calibri" pitchFamily="34" charset="0"/>
                          <a:ea typeface="Calibri" pitchFamily="34" charset="-122"/>
                          <a:cs typeface="Calibri" pitchFamily="34" charset="-120"/>
                        </a:rPr>
                        <a:t>(urgency − 1) ÷ 3</a:t>
                      </a:r>
                      <a:endParaRPr lang="en-US" sz="12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en-US" sz="1250" dirty="0">
                          <a:solidFill>
                            <a:srgbClr val="26303F"/>
                          </a:solidFill>
                          <a:latin typeface="Calibri" pitchFamily="34" charset="0"/>
                          <a:ea typeface="Calibri" pitchFamily="34" charset="-122"/>
                          <a:cs typeface="Calibri" pitchFamily="34" charset="-120"/>
                        </a:rPr>
                        <a:t>0.35</a:t>
                      </a:r>
                      <a:endParaRPr lang="en-US" sz="12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r>
              <a:tr h="329184">
                <a:tc>
                  <a:txBody>
                    <a:bodyPr/>
                    <a:lstStyle/>
                    <a:p>
                      <a:pPr indent="0" marL="0">
                        <a:buNone/>
                      </a:pPr>
                      <a:r>
                        <a:rPr lang="en-US" sz="1250" dirty="0">
                          <a:solidFill>
                            <a:srgbClr val="26303F"/>
                          </a:solidFill>
                          <a:latin typeface="Calibri" pitchFamily="34" charset="0"/>
                          <a:ea typeface="Calibri" pitchFamily="34" charset="-122"/>
                          <a:cs typeface="Calibri" pitchFamily="34" charset="-120"/>
                        </a:rPr>
                        <a:t>Customer tier</a:t>
                      </a:r>
                      <a:endParaRPr lang="en-US" sz="12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50" dirty="0">
                          <a:solidFill>
                            <a:srgbClr val="26303F"/>
                          </a:solidFill>
                          <a:latin typeface="Calibri" pitchFamily="34" charset="0"/>
                          <a:ea typeface="Calibri" pitchFamily="34" charset="-122"/>
                          <a:cs typeface="Calibri" pitchFamily="34" charset="-120"/>
                        </a:rPr>
                        <a:t>standard 0, premium 0.5, enterprise 1</a:t>
                      </a:r>
                      <a:endParaRPr lang="en-US" sz="12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50" dirty="0">
                          <a:solidFill>
                            <a:srgbClr val="26303F"/>
                          </a:solidFill>
                          <a:latin typeface="Calibri" pitchFamily="34" charset="0"/>
                          <a:ea typeface="Calibri" pitchFamily="34" charset="-122"/>
                          <a:cs typeface="Calibri" pitchFamily="34" charset="-120"/>
                        </a:rPr>
                        <a:t>0.15</a:t>
                      </a:r>
                      <a:endParaRPr lang="en-US" sz="12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329184">
                <a:tc>
                  <a:txBody>
                    <a:bodyPr/>
                    <a:lstStyle/>
                    <a:p>
                      <a:pPr indent="0" marL="0">
                        <a:buNone/>
                      </a:pPr>
                      <a:r>
                        <a:rPr lang="en-US" sz="1250" dirty="0">
                          <a:solidFill>
                            <a:srgbClr val="26303F"/>
                          </a:solidFill>
                          <a:latin typeface="Calibri" pitchFamily="34" charset="0"/>
                          <a:ea typeface="Calibri" pitchFamily="34" charset="-122"/>
                          <a:cs typeface="Calibri" pitchFamily="34" charset="-120"/>
                        </a:rPr>
                        <a:t>Waiting time</a:t>
                      </a:r>
                      <a:endParaRPr lang="en-US" sz="12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en-US" sz="1250" dirty="0">
                          <a:solidFill>
                            <a:srgbClr val="26303F"/>
                          </a:solidFill>
                          <a:latin typeface="Calibri" pitchFamily="34" charset="0"/>
                          <a:ea typeface="Calibri" pitchFamily="34" charset="-122"/>
                          <a:cs typeface="Calibri" pitchFamily="34" charset="-120"/>
                        </a:rPr>
                        <a:t>min(1, hours ÷ 72)</a:t>
                      </a:r>
                      <a:endParaRPr lang="en-US" sz="12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en-US" sz="1250" dirty="0">
                          <a:solidFill>
                            <a:srgbClr val="26303F"/>
                          </a:solidFill>
                          <a:latin typeface="Calibri" pitchFamily="34" charset="0"/>
                          <a:ea typeface="Calibri" pitchFamily="34" charset="-122"/>
                          <a:cs typeface="Calibri" pitchFamily="34" charset="-120"/>
                        </a:rPr>
                        <a:t>0.10</a:t>
                      </a:r>
                      <a:endParaRPr lang="en-US" sz="12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r>
            </a:tbl>
          </a:graphicData>
        </a:graphic>
      </p:graphicFrame>
      <p:sp>
        <p:nvSpPr>
          <p:cNvPr id="10" name="Text 6"/>
          <p:cNvSpPr/>
          <p:nvPr/>
        </p:nvSpPr>
        <p:spPr>
          <a:xfrm>
            <a:off x="548640" y="3566160"/>
            <a:ext cx="5394960" cy="731520"/>
          </a:xfrm>
          <a:prstGeom prst="rect">
            <a:avLst/>
          </a:prstGeom>
          <a:noFill/>
          <a:ln/>
        </p:spPr>
        <p:txBody>
          <a:bodyPr wrap="square" lIns="0" tIns="0" rIns="0" bIns="0" rtlCol="0" anchor="ctr"/>
          <a:lstStyle/>
          <a:p>
            <a:pPr indent="0" marL="0">
              <a:buNone/>
            </a:pPr>
            <a:r>
              <a:rPr lang="en-US" sz="1600" dirty="0">
                <a:solidFill>
                  <a:srgbClr val="14213D"/>
                </a:solidFill>
                <a:latin typeface="Georgia" pitchFamily="34" charset="0"/>
                <a:ea typeface="Georgia" pitchFamily="34" charset="-122"/>
                <a:cs typeface="Georgia" pitchFamily="34" charset="-120"/>
              </a:rPr>
              <a:t>score = 100 × Σ (weight × scaled value)</a:t>
            </a:r>
            <a:endParaRPr lang="en-US" sz="1600" dirty="0"/>
          </a:p>
          <a:p>
            <a:pPr indent="0" marL="0">
              <a:buNone/>
            </a:pPr>
            <a:r>
              <a:rPr lang="en-US" sz="1350" dirty="0">
                <a:solidFill>
                  <a:srgbClr val="26303F"/>
                </a:solidFill>
                <a:latin typeface="Calibri" pitchFamily="34" charset="0"/>
                <a:ea typeface="Calibri" pitchFamily="34" charset="-122"/>
                <a:cs typeface="Calibri" pitchFamily="34" charset="-120"/>
              </a:rPr>
              <a:t>P1 from 75, P2 from 50, P3 from 25, otherwise P4</a:t>
            </a:r>
            <a:endParaRPr lang="en-US" sz="1600" dirty="0"/>
          </a:p>
        </p:txBody>
      </p:sp>
      <p:sp>
        <p:nvSpPr>
          <p:cNvPr id="11" name="Shape 7"/>
          <p:cNvSpPr/>
          <p:nvPr/>
        </p:nvSpPr>
        <p:spPr>
          <a:xfrm>
            <a:off x="548640" y="4434840"/>
            <a:ext cx="5394960" cy="1737360"/>
          </a:xfrm>
          <a:prstGeom prst="rect">
            <a:avLst/>
          </a:prstGeom>
          <a:solidFill>
            <a:srgbClr val="F4F6F9"/>
          </a:solidFill>
          <a:ln w="12700">
            <a:solidFill>
              <a:srgbClr val="F4F6F9"/>
            </a:solidFill>
            <a:prstDash val="solid"/>
          </a:ln>
        </p:spPr>
      </p:sp>
      <p:sp>
        <p:nvSpPr>
          <p:cNvPr id="12" name="Text 8"/>
          <p:cNvSpPr/>
          <p:nvPr/>
        </p:nvSpPr>
        <p:spPr>
          <a:xfrm>
            <a:off x="731520" y="4544568"/>
            <a:ext cx="5029200" cy="1517904"/>
          </a:xfrm>
          <a:prstGeom prst="rect">
            <a:avLst/>
          </a:prstGeom>
          <a:noFill/>
          <a:ln/>
        </p:spPr>
        <p:txBody>
          <a:bodyPr wrap="square" lIns="0" tIns="0" rIns="0" bIns="0" rtlCol="0" anchor="t"/>
          <a:lstStyle/>
          <a:p>
            <a:pPr indent="0" marL="0">
              <a:spcAft>
                <a:spcPts val="500"/>
              </a:spcAft>
              <a:buNone/>
            </a:pPr>
            <a:r>
              <a:rPr lang="en-US" sz="1450" dirty="0">
                <a:solidFill>
                  <a:srgbClr val="14213D"/>
                </a:solidFill>
                <a:latin typeface="Georgia" pitchFamily="34" charset="0"/>
                <a:ea typeface="Georgia" pitchFamily="34" charset="-122"/>
                <a:cs typeface="Georgia" pitchFamily="34" charset="-120"/>
              </a:rPr>
              <a:t>Example</a:t>
            </a:r>
            <a:endParaRPr lang="en-US" sz="1350" dirty="0"/>
          </a:p>
          <a:p>
            <a:pPr indent="0" marL="0">
              <a:spcAft>
                <a:spcPts val="300"/>
              </a:spcAft>
              <a:buNone/>
            </a:pPr>
            <a:r>
              <a:rPr lang="en-US" sz="1350" dirty="0">
                <a:solidFill>
                  <a:srgbClr val="26303F"/>
                </a:solidFill>
                <a:latin typeface="Calibri" pitchFamily="34" charset="0"/>
                <a:ea typeface="Calibri" pitchFamily="34" charset="-122"/>
                <a:cs typeface="Calibri" pitchFamily="34" charset="-120"/>
              </a:rPr>
              <a:t>Impact 2, urgency 3 and a premium customer give 13.3 + 23.3 + 7.5 + 3.3 = 47.5 (P3) after one day.</a:t>
            </a:r>
            <a:endParaRPr lang="en-US" sz="1350" dirty="0"/>
          </a:p>
          <a:p>
            <a:pPr indent="0" marL="0">
              <a:spcAft>
                <a:spcPts val="300"/>
              </a:spcAft>
              <a:buNone/>
            </a:pPr>
            <a:r>
              <a:rPr lang="en-US" sz="1350" dirty="0">
                <a:solidFill>
                  <a:srgbClr val="26303F"/>
                </a:solidFill>
                <a:latin typeface="Calibri" pitchFamily="34" charset="0"/>
                <a:ea typeface="Calibri" pitchFamily="34" charset="-122"/>
                <a:cs typeface="Calibri" pitchFamily="34" charset="-120"/>
              </a:rPr>
              <a:t>After three days the same ticket scores 54.2 and rises to P2. A manager can always set the priority by hand.</a:t>
            </a:r>
            <a:endParaRPr lang="en-US" sz="1350" dirty="0"/>
          </a:p>
        </p:txBody>
      </p:sp>
      <p:sp>
        <p:nvSpPr>
          <p:cNvPr id="13" name="Shape 9"/>
          <p:cNvSpPr/>
          <p:nvPr/>
        </p:nvSpPr>
        <p:spPr>
          <a:xfrm>
            <a:off x="6263640" y="1371600"/>
            <a:ext cx="0" cy="4800600"/>
          </a:xfrm>
          <a:prstGeom prst="line">
            <a:avLst/>
          </a:prstGeom>
          <a:noFill/>
          <a:ln w="9525">
            <a:solidFill>
              <a:srgbClr val="D5DAE1"/>
            </a:solidFill>
            <a:prstDash val="solid"/>
          </a:ln>
        </p:spPr>
      </p:sp>
      <p:sp>
        <p:nvSpPr>
          <p:cNvPr id="14" name="Text 10"/>
          <p:cNvSpPr/>
          <p:nvPr/>
        </p:nvSpPr>
        <p:spPr>
          <a:xfrm>
            <a:off x="6583680" y="1325880"/>
            <a:ext cx="5029200" cy="365760"/>
          </a:xfrm>
          <a:prstGeom prst="rect">
            <a:avLst/>
          </a:prstGeom>
          <a:noFill/>
          <a:ln/>
        </p:spPr>
        <p:txBody>
          <a:bodyPr wrap="square" lIns="0" tIns="0" rIns="0" bIns="0" rtlCol="0" anchor="ctr"/>
          <a:lstStyle/>
          <a:p>
            <a:pPr indent="0" marL="0">
              <a:buNone/>
            </a:pPr>
            <a:r>
              <a:rPr lang="en-US" sz="1800" dirty="0">
                <a:solidFill>
                  <a:srgbClr val="14213D"/>
                </a:solidFill>
                <a:latin typeface="Georgia" pitchFamily="34" charset="0"/>
                <a:ea typeface="Georgia" pitchFamily="34" charset="-122"/>
                <a:cs typeface="Georgia" pitchFamily="34" charset="-120"/>
              </a:rPr>
              <a:t>Least-loaded eligible agent</a:t>
            </a:r>
            <a:endParaRPr lang="en-US" sz="1800" dirty="0"/>
          </a:p>
        </p:txBody>
      </p:sp>
      <p:sp>
        <p:nvSpPr>
          <p:cNvPr id="15" name="Text 11"/>
          <p:cNvSpPr/>
          <p:nvPr/>
        </p:nvSpPr>
        <p:spPr>
          <a:xfrm>
            <a:off x="6583680" y="1783080"/>
            <a:ext cx="5056632" cy="2560320"/>
          </a:xfrm>
          <a:prstGeom prst="rect">
            <a:avLst/>
          </a:prstGeom>
          <a:noFill/>
          <a:ln/>
        </p:spPr>
        <p:txBody>
          <a:bodyPr wrap="square" lIns="25400" tIns="25400" rIns="25400" bIns="25400" rtlCol="0" anchor="t"/>
          <a:lstStyle/>
          <a:p>
            <a:pPr marL="190500" indent="-190500">
              <a:lnSpc>
                <a:spcPct val="105000"/>
              </a:lnSpc>
              <a:spcAft>
                <a:spcPts val="700"/>
              </a:spcAft>
              <a:buSzPct val="100000"/>
              <a:buChar char="•"/>
            </a:pPr>
            <a:r>
              <a:rPr lang="en-US" sz="1400" dirty="0">
                <a:solidFill>
                  <a:srgbClr val="26303F"/>
                </a:solidFill>
                <a:latin typeface="Calibri" pitchFamily="34" charset="0"/>
                <a:ea typeface="Calibri" pitchFamily="34" charset="-122"/>
                <a:cs typeface="Calibri" pitchFamily="34" charset="-120"/>
              </a:rPr>
              <a:t>An agent is eligible when available, on shift, holding every skill the category needs, in the ticket's team and below capacity.</a:t>
            </a:r>
            <a:endParaRPr lang="en-US" sz="1400" dirty="0"/>
          </a:p>
          <a:p>
            <a:pPr marL="190500" indent="-190500">
              <a:lnSpc>
                <a:spcPct val="105000"/>
              </a:lnSpc>
              <a:spcAft>
                <a:spcPts val="700"/>
              </a:spcAft>
              <a:buSzPct val="100000"/>
              <a:buChar char="•"/>
            </a:pPr>
            <a:r>
              <a:rPr lang="en-US" sz="1400" dirty="0">
                <a:solidFill>
                  <a:srgbClr val="26303F"/>
                </a:solidFill>
                <a:latin typeface="Calibri" pitchFamily="34" charset="0"/>
                <a:ea typeface="Calibri" pitchFamily="34" charset="-122"/>
                <a:cs typeface="Calibri" pitchFamily="34" charset="-120"/>
              </a:rPr>
              <a:t>Eligible agents are ordered by open tickets per unit of capacity; a tie goes to the one assigned least recently.</a:t>
            </a:r>
            <a:endParaRPr lang="en-US" sz="1400" dirty="0"/>
          </a:p>
          <a:p>
            <a:pPr marL="190500" indent="-190500">
              <a:lnSpc>
                <a:spcPct val="105000"/>
              </a:lnSpc>
              <a:spcAft>
                <a:spcPts val="700"/>
              </a:spcAft>
              <a:buSzPct val="100000"/>
              <a:buChar char="•"/>
            </a:pPr>
            <a:r>
              <a:rPr lang="en-US" sz="1400" dirty="0">
                <a:solidFill>
                  <a:srgbClr val="26303F"/>
                </a:solidFill>
                <a:latin typeface="Calibri" pitchFamily="34" charset="0"/>
                <a:ea typeface="Calibri" pitchFamily="34" charset="-122"/>
                <a:cs typeface="Calibri" pitchFamily="34" charset="-120"/>
              </a:rPr>
              <a:t>Agents left out are listed with the rule they failed. If nobody is eligible, managers are notified.</a:t>
            </a:r>
            <a:endParaRPr lang="en-US" sz="1400" dirty="0"/>
          </a:p>
          <a:p>
            <a:pPr marL="190500" indent="-190500">
              <a:lnSpc>
                <a:spcPct val="105000"/>
              </a:lnSpc>
              <a:spcAft>
                <a:spcPts val="700"/>
              </a:spcAft>
              <a:buSzPct val="100000"/>
              <a:buChar char="•"/>
            </a:pPr>
            <a:r>
              <a:rPr lang="en-US" sz="1400" dirty="0">
                <a:solidFill>
                  <a:srgbClr val="26303F"/>
                </a:solidFill>
                <a:latin typeface="Calibri" pitchFamily="34" charset="0"/>
                <a:ea typeface="Calibri" pitchFamily="34" charset="-122"/>
                <a:cs typeface="Calibri" pitchFamily="34" charset="-120"/>
              </a:rPr>
              <a:t>Cost: O(A log A) for A agents.</a:t>
            </a:r>
            <a:endParaRPr lang="en-US" sz="1400" dirty="0"/>
          </a:p>
        </p:txBody>
      </p:sp>
      <p:sp>
        <p:nvSpPr>
          <p:cNvPr id="16" name="Shape 12"/>
          <p:cNvSpPr/>
          <p:nvPr/>
        </p:nvSpPr>
        <p:spPr>
          <a:xfrm>
            <a:off x="6583680" y="4434840"/>
            <a:ext cx="5056632" cy="1737360"/>
          </a:xfrm>
          <a:prstGeom prst="rect">
            <a:avLst/>
          </a:prstGeom>
          <a:solidFill>
            <a:srgbClr val="F4F6F9"/>
          </a:solidFill>
          <a:ln w="12700">
            <a:solidFill>
              <a:srgbClr val="F4F6F9"/>
            </a:solidFill>
            <a:prstDash val="solid"/>
          </a:ln>
        </p:spPr>
      </p:sp>
      <p:sp>
        <p:nvSpPr>
          <p:cNvPr id="17" name="Text 13"/>
          <p:cNvSpPr/>
          <p:nvPr/>
        </p:nvSpPr>
        <p:spPr>
          <a:xfrm>
            <a:off x="6766560" y="4544568"/>
            <a:ext cx="4690872" cy="1517904"/>
          </a:xfrm>
          <a:prstGeom prst="rect">
            <a:avLst/>
          </a:prstGeom>
          <a:noFill/>
          <a:ln/>
        </p:spPr>
        <p:txBody>
          <a:bodyPr wrap="square" lIns="0" tIns="0" rIns="0" bIns="0" rtlCol="0" anchor="t"/>
          <a:lstStyle/>
          <a:p>
            <a:pPr indent="0" marL="0">
              <a:spcAft>
                <a:spcPts val="500"/>
              </a:spcAft>
              <a:buNone/>
            </a:pPr>
            <a:r>
              <a:rPr lang="en-US" sz="1450" dirty="0">
                <a:solidFill>
                  <a:srgbClr val="14213D"/>
                </a:solidFill>
                <a:latin typeface="Georgia" pitchFamily="34" charset="0"/>
                <a:ea typeface="Georgia" pitchFamily="34" charset="-122"/>
                <a:cs typeface="Georgia" pitchFamily="34" charset="-120"/>
              </a:rPr>
              <a:t>Example</a:t>
            </a:r>
            <a:endParaRPr lang="en-US" sz="1350" dirty="0"/>
          </a:p>
          <a:p>
            <a:pPr indent="0" marL="0">
              <a:spcAft>
                <a:spcPts val="300"/>
              </a:spcAft>
              <a:buNone/>
            </a:pPr>
            <a:r>
              <a:rPr lang="en-US" sz="1350" dirty="0">
                <a:solidFill>
                  <a:srgbClr val="26303F"/>
                </a:solidFill>
                <a:latin typeface="Calibri" pitchFamily="34" charset="0"/>
                <a:ea typeface="Calibri" pitchFamily="34" charset="-122"/>
                <a:cs typeface="Calibri" pitchFamily="34" charset="-120"/>
              </a:rPr>
              <a:t>Asha and Chen each have 3 of 10 tickets (0.30); Bikram has 2 of 5 (0.40).</a:t>
            </a:r>
            <a:endParaRPr lang="en-US" sz="1350" dirty="0"/>
          </a:p>
          <a:p>
            <a:pPr indent="0" marL="0">
              <a:spcAft>
                <a:spcPts val="300"/>
              </a:spcAft>
              <a:buNone/>
            </a:pPr>
            <a:r>
              <a:rPr lang="en-US" sz="1350" dirty="0">
                <a:solidFill>
                  <a:srgbClr val="26303F"/>
                </a:solidFill>
                <a:latin typeface="Calibri" pitchFamily="34" charset="0"/>
                <a:ea typeface="Calibri" pitchFamily="34" charset="-122"/>
                <a:cs typeface="Calibri" pitchFamily="34" charset="-120"/>
              </a:rPr>
              <a:t>Asha and Chen tie on load, and Chen was assigned earlier, so Chen receives the ticket.</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64240" cy="640080"/>
          </a:xfrm>
          <a:prstGeom prst="rect">
            <a:avLst/>
          </a:prstGeom>
          <a:noFill/>
          <a:ln/>
        </p:spPr>
        <p:txBody>
          <a:bodyPr wrap="square" lIns="0" tIns="0" rIns="0" bIns="0" rtlCol="0" anchor="b"/>
          <a:lstStyle/>
          <a:p>
            <a:pPr indent="0" marL="0">
              <a:buNone/>
            </a:pPr>
            <a:r>
              <a:rPr lang="en-US" sz="2800" dirty="0">
                <a:solidFill>
                  <a:srgbClr val="14213D"/>
                </a:solidFill>
                <a:latin typeface="Georgia" pitchFamily="34" charset="0"/>
                <a:ea typeface="Georgia" pitchFamily="34" charset="-122"/>
                <a:cs typeface="Georgia" pitchFamily="34" charset="-120"/>
              </a:rPr>
              <a:t>Duplicates, SLA Timers and History</a:t>
            </a:r>
            <a:endParaRPr lang="en-US" sz="2800" dirty="0"/>
          </a:p>
        </p:txBody>
      </p:sp>
      <p:sp>
        <p:nvSpPr>
          <p:cNvPr id="3" name="Shape 1"/>
          <p:cNvSpPr/>
          <p:nvPr/>
        </p:nvSpPr>
        <p:spPr>
          <a:xfrm>
            <a:off x="548640" y="1060704"/>
            <a:ext cx="822960" cy="45720"/>
          </a:xfrm>
          <a:prstGeom prst="rect">
            <a:avLst/>
          </a:prstGeom>
          <a:solidFill>
            <a:srgbClr val="1F5FAD"/>
          </a:solidFill>
          <a:ln w="12700">
            <a:solidFill>
              <a:srgbClr val="1F5FAD"/>
            </a:solidFill>
            <a:prstDash val="solid"/>
          </a:ln>
        </p:spPr>
      </p:sp>
      <p:sp>
        <p:nvSpPr>
          <p:cNvPr id="4" name="Shape 2"/>
          <p:cNvSpPr/>
          <p:nvPr/>
        </p:nvSpPr>
        <p:spPr>
          <a:xfrm>
            <a:off x="548640" y="6382512"/>
            <a:ext cx="11091672" cy="0"/>
          </a:xfrm>
          <a:prstGeom prst="line">
            <a:avLst/>
          </a:prstGeom>
          <a:noFill/>
          <a:ln w="9525">
            <a:solidFill>
              <a:srgbClr val="D5DAE1"/>
            </a:solidFill>
            <a:prstDash val="solid"/>
          </a:ln>
        </p:spPr>
      </p:sp>
      <p:sp>
        <p:nvSpPr>
          <p:cNvPr id="5" name="Text 3"/>
          <p:cNvSpPr/>
          <p:nvPr/>
        </p:nvSpPr>
        <p:spPr>
          <a:xfrm>
            <a:off x="548640" y="6428232"/>
            <a:ext cx="3657600" cy="274320"/>
          </a:xfrm>
          <a:prstGeom prst="rect">
            <a:avLst/>
          </a:prstGeom>
          <a:noFill/>
          <a:ln/>
        </p:spPr>
        <p:txBody>
          <a:bodyPr wrap="square" lIns="0" tIns="0" rIns="0" bIns="0" rtlCol="0" anchor="ctr"/>
          <a:lstStyle/>
          <a:p>
            <a:pPr indent="0" marL="0">
              <a:buNone/>
            </a:pPr>
            <a:r>
              <a:rPr lang="en-US" sz="1050" dirty="0">
                <a:solidFill>
                  <a:srgbClr val="66707F"/>
                </a:solidFill>
                <a:latin typeface="Georgia" pitchFamily="34" charset="0"/>
                <a:ea typeface="Georgia" pitchFamily="34" charset="-122"/>
                <a:cs typeface="Georgia" pitchFamily="34" charset="-120"/>
              </a:rPr>
              <a:t>Smart Helpdesk</a:t>
            </a:r>
            <a:endParaRPr lang="en-US" sz="1050" dirty="0"/>
          </a:p>
        </p:txBody>
      </p:sp>
      <p:sp>
        <p:nvSpPr>
          <p:cNvPr id="6" name="Text 4"/>
          <p:cNvSpPr/>
          <p:nvPr/>
        </p:nvSpPr>
        <p:spPr>
          <a:xfrm>
            <a:off x="5669280" y="6428232"/>
            <a:ext cx="5971032" cy="274320"/>
          </a:xfrm>
          <a:prstGeom prst="rect">
            <a:avLst/>
          </a:prstGeom>
          <a:noFill/>
          <a:ln/>
        </p:spPr>
        <p:txBody>
          <a:bodyPr wrap="square" lIns="0" tIns="0" rIns="0" bIns="0" rtlCol="0" anchor="ctr"/>
          <a:lstStyle/>
          <a:p>
            <a:pPr algn="r" indent="0" marL="0">
              <a:buNone/>
            </a:pPr>
            <a:r>
              <a:rPr lang="en-US" sz="1050" dirty="0">
                <a:solidFill>
                  <a:srgbClr val="66707F"/>
                </a:solidFill>
                <a:latin typeface="Calibri" pitchFamily="34" charset="0"/>
                <a:ea typeface="Calibri" pitchFamily="34" charset="-122"/>
                <a:cs typeface="Calibri" pitchFamily="34" charset="-120"/>
              </a:rPr>
              <a:t>Chapter 3: System Analysis and Design      10 / 13</a:t>
            </a:r>
            <a:endParaRPr lang="en-US" sz="1050" dirty="0"/>
          </a:p>
        </p:txBody>
      </p:sp>
      <p:sp>
        <p:nvSpPr>
          <p:cNvPr id="8" name="Text 5"/>
          <p:cNvSpPr/>
          <p:nvPr/>
        </p:nvSpPr>
        <p:spPr>
          <a:xfrm>
            <a:off x="548640" y="1280160"/>
            <a:ext cx="3547872" cy="384048"/>
          </a:xfrm>
          <a:prstGeom prst="rect">
            <a:avLst/>
          </a:prstGeom>
          <a:noFill/>
          <a:ln/>
        </p:spPr>
        <p:txBody>
          <a:bodyPr wrap="square" lIns="0" tIns="0" rIns="0" bIns="0" rtlCol="0" anchor="b"/>
          <a:lstStyle/>
          <a:p>
            <a:pPr indent="0" marL="0">
              <a:buNone/>
            </a:pPr>
            <a:r>
              <a:rPr lang="en-US" sz="1700" dirty="0">
                <a:solidFill>
                  <a:srgbClr val="14213D"/>
                </a:solidFill>
                <a:latin typeface="Georgia" pitchFamily="34" charset="0"/>
                <a:ea typeface="Georgia" pitchFamily="34" charset="-122"/>
                <a:cs typeface="Georgia" pitchFamily="34" charset="-120"/>
              </a:rPr>
              <a:t>Duplicate detection</a:t>
            </a:r>
            <a:endParaRPr lang="en-US" sz="1700" dirty="0"/>
          </a:p>
        </p:txBody>
      </p:sp>
      <p:sp>
        <p:nvSpPr>
          <p:cNvPr id="9" name="Shape 6"/>
          <p:cNvSpPr/>
          <p:nvPr/>
        </p:nvSpPr>
        <p:spPr>
          <a:xfrm>
            <a:off x="548640" y="1737360"/>
            <a:ext cx="3547872" cy="0"/>
          </a:xfrm>
          <a:prstGeom prst="line">
            <a:avLst/>
          </a:prstGeom>
          <a:noFill/>
          <a:ln w="9525">
            <a:solidFill>
              <a:srgbClr val="D5DAE1"/>
            </a:solidFill>
            <a:prstDash val="solid"/>
          </a:ln>
        </p:spPr>
      </p:sp>
      <p:sp>
        <p:nvSpPr>
          <p:cNvPr id="10" name="Text 7"/>
          <p:cNvSpPr/>
          <p:nvPr/>
        </p:nvSpPr>
        <p:spPr>
          <a:xfrm>
            <a:off x="548640" y="1847088"/>
            <a:ext cx="3547872" cy="4370832"/>
          </a:xfrm>
          <a:prstGeom prst="rect">
            <a:avLst/>
          </a:prstGeom>
          <a:noFill/>
          <a:ln/>
        </p:spPr>
        <p:txBody>
          <a:bodyPr wrap="square" lIns="25400" tIns="25400" rIns="25400" bIns="25400" rtlCol="0" anchor="t"/>
          <a:lstStyle/>
          <a:p>
            <a:pPr marL="190500" indent="-190500">
              <a:lnSpc>
                <a:spcPct val="105000"/>
              </a:lnSpc>
              <a:spcAft>
                <a:spcPts val="1400"/>
              </a:spcAft>
              <a:buSzPct val="100000"/>
              <a:buChar char="•"/>
            </a:pPr>
            <a:r>
              <a:rPr lang="en-US" sz="1600" dirty="0">
                <a:solidFill>
                  <a:srgbClr val="26303F"/>
                </a:solidFill>
                <a:latin typeface="Calibri" pitchFamily="34" charset="0"/>
                <a:ea typeface="Calibri" pitchFamily="34" charset="-122"/>
                <a:cs typeface="Calibri" pitchFamily="34" charset="-120"/>
              </a:rPr>
              <a:t>Each ticket becomes a set of words, without 117 common stop words and very short words.</a:t>
            </a:r>
            <a:endParaRPr lang="en-US" sz="1600" dirty="0"/>
          </a:p>
          <a:p>
            <a:pPr marL="190500" indent="-190500">
              <a:lnSpc>
                <a:spcPct val="105000"/>
              </a:lnSpc>
              <a:spcAft>
                <a:spcPts val="1400"/>
              </a:spcAft>
              <a:buSzPct val="100000"/>
              <a:buChar char="•"/>
            </a:pPr>
            <a:r>
              <a:rPr lang="en-US" sz="1600" dirty="0">
                <a:solidFill>
                  <a:srgbClr val="26303F"/>
                </a:solidFill>
                <a:latin typeface="Calibri" pitchFamily="34" charset="0"/>
                <a:ea typeface="Calibri" pitchFamily="34" charset="-122"/>
                <a:cs typeface="Calibri" pitchFamily="34" charset="-120"/>
              </a:rPr>
              <a:t>Two tickets are compared by Jaccard similarity: shared words ÷ all distinct words.</a:t>
            </a:r>
            <a:endParaRPr lang="en-US" sz="1600" dirty="0"/>
          </a:p>
          <a:p>
            <a:pPr marL="190500" indent="-190500">
              <a:lnSpc>
                <a:spcPct val="105000"/>
              </a:lnSpc>
              <a:spcAft>
                <a:spcPts val="1400"/>
              </a:spcAft>
              <a:buSzPct val="100000"/>
              <a:buChar char="•"/>
            </a:pPr>
            <a:r>
              <a:rPr lang="en-US" sz="1600" dirty="0">
                <a:solidFill>
                  <a:srgbClr val="26303F"/>
                </a:solidFill>
                <a:latin typeface="Calibri" pitchFamily="34" charset="0"/>
                <a:ea typeface="Calibri" pitchFamily="34" charset="-122"/>
                <a:cs typeface="Calibri" pitchFamily="34" charset="-120"/>
              </a:rPr>
              <a:t>Open tickets of the same workspace from the last 30 days scoring 0.35 or more are suggested, top five first.</a:t>
            </a:r>
            <a:endParaRPr lang="en-US" sz="1600" dirty="0"/>
          </a:p>
          <a:p>
            <a:pPr marL="190500" indent="-190500">
              <a:lnSpc>
                <a:spcPct val="105000"/>
              </a:lnSpc>
              <a:spcAft>
                <a:spcPts val="1400"/>
              </a:spcAft>
              <a:buSzPct val="100000"/>
              <a:buChar char="•"/>
            </a:pPr>
            <a:r>
              <a:rPr lang="en-US" sz="1600" dirty="0">
                <a:solidFill>
                  <a:srgbClr val="26303F"/>
                </a:solidFill>
                <a:latin typeface="Calibri" pitchFamily="34" charset="0"/>
                <a:ea typeface="Calibri" pitchFamily="34" charset="-122"/>
                <a:cs typeface="Calibri" pitchFamily="34" charset="-120"/>
              </a:rPr>
              <a:t>"Cannot login after password reset" and "Login fails after resetting password" share half their words (0.50) and are suggested.</a:t>
            </a:r>
            <a:endParaRPr lang="en-US" sz="1600" dirty="0"/>
          </a:p>
        </p:txBody>
      </p:sp>
      <p:sp>
        <p:nvSpPr>
          <p:cNvPr id="11" name="Text 8"/>
          <p:cNvSpPr/>
          <p:nvPr/>
        </p:nvSpPr>
        <p:spPr>
          <a:xfrm>
            <a:off x="4325112" y="1280160"/>
            <a:ext cx="3547872" cy="384048"/>
          </a:xfrm>
          <a:prstGeom prst="rect">
            <a:avLst/>
          </a:prstGeom>
          <a:noFill/>
          <a:ln/>
        </p:spPr>
        <p:txBody>
          <a:bodyPr wrap="square" lIns="0" tIns="0" rIns="0" bIns="0" rtlCol="0" anchor="b"/>
          <a:lstStyle/>
          <a:p>
            <a:pPr indent="0" marL="0">
              <a:buNone/>
            </a:pPr>
            <a:r>
              <a:rPr lang="en-US" sz="1700" dirty="0">
                <a:solidFill>
                  <a:srgbClr val="14213D"/>
                </a:solidFill>
                <a:latin typeface="Georgia" pitchFamily="34" charset="0"/>
                <a:ea typeface="Georgia" pitchFamily="34" charset="-122"/>
                <a:cs typeface="Georgia" pitchFamily="34" charset="-120"/>
              </a:rPr>
              <a:t>SLA timer</a:t>
            </a:r>
            <a:endParaRPr lang="en-US" sz="1700" dirty="0"/>
          </a:p>
        </p:txBody>
      </p:sp>
      <p:sp>
        <p:nvSpPr>
          <p:cNvPr id="12" name="Shape 9"/>
          <p:cNvSpPr/>
          <p:nvPr/>
        </p:nvSpPr>
        <p:spPr>
          <a:xfrm>
            <a:off x="4325112" y="1737360"/>
            <a:ext cx="3547872" cy="0"/>
          </a:xfrm>
          <a:prstGeom prst="line">
            <a:avLst/>
          </a:prstGeom>
          <a:noFill/>
          <a:ln w="9525">
            <a:solidFill>
              <a:srgbClr val="D5DAE1"/>
            </a:solidFill>
            <a:prstDash val="solid"/>
          </a:ln>
        </p:spPr>
      </p:sp>
      <p:sp>
        <p:nvSpPr>
          <p:cNvPr id="13" name="Text 10"/>
          <p:cNvSpPr/>
          <p:nvPr/>
        </p:nvSpPr>
        <p:spPr>
          <a:xfrm>
            <a:off x="4325112" y="1847088"/>
            <a:ext cx="3547872" cy="4370832"/>
          </a:xfrm>
          <a:prstGeom prst="rect">
            <a:avLst/>
          </a:prstGeom>
          <a:noFill/>
          <a:ln/>
        </p:spPr>
        <p:txBody>
          <a:bodyPr wrap="square" lIns="25400" tIns="25400" rIns="25400" bIns="25400" rtlCol="0" anchor="t"/>
          <a:lstStyle/>
          <a:p>
            <a:pPr marL="190500" indent="-190500">
              <a:lnSpc>
                <a:spcPct val="105000"/>
              </a:lnSpc>
              <a:spcAft>
                <a:spcPts val="1400"/>
              </a:spcAft>
              <a:buSzPct val="100000"/>
              <a:buChar char="•"/>
            </a:pPr>
            <a:r>
              <a:rPr lang="en-US" sz="1600" dirty="0">
                <a:solidFill>
                  <a:srgbClr val="26303F"/>
                </a:solidFill>
                <a:latin typeface="Calibri" pitchFamily="34" charset="0"/>
                <a:ea typeface="Calibri" pitchFamily="34" charset="-122"/>
                <a:cs typeface="Calibri" pitchFamily="34" charset="-120"/>
              </a:rPr>
              <a:t>Each ticket has a first-response and a resolution timer, counted in all hours or only working hours.</a:t>
            </a:r>
            <a:endParaRPr lang="en-US" sz="1600" dirty="0"/>
          </a:p>
          <a:p>
            <a:pPr marL="190500" indent="-190500">
              <a:lnSpc>
                <a:spcPct val="105000"/>
              </a:lnSpc>
              <a:spcAft>
                <a:spcPts val="1400"/>
              </a:spcAft>
              <a:buSzPct val="100000"/>
              <a:buChar char="•"/>
            </a:pPr>
            <a:r>
              <a:rPr lang="en-US" sz="1600" dirty="0">
                <a:solidFill>
                  <a:srgbClr val="26303F"/>
                </a:solidFill>
                <a:latin typeface="Calibri" pitchFamily="34" charset="0"/>
                <a:ea typeface="Calibri" pitchFamily="34" charset="-122"/>
                <a:cs typeface="Calibri" pitchFamily="34" charset="-120"/>
              </a:rPr>
              <a:t>A warning is sent at 75 % of the target and a breach is recorded at the deadline, each only once.</a:t>
            </a:r>
            <a:endParaRPr lang="en-US" sz="1600" dirty="0"/>
          </a:p>
          <a:p>
            <a:pPr marL="190500" indent="-190500">
              <a:lnSpc>
                <a:spcPct val="105000"/>
              </a:lnSpc>
              <a:spcAft>
                <a:spcPts val="1400"/>
              </a:spcAft>
              <a:buSzPct val="100000"/>
              <a:buChar char="•"/>
            </a:pPr>
            <a:r>
              <a:rPr lang="en-US" sz="1600" dirty="0">
                <a:solidFill>
                  <a:srgbClr val="26303F"/>
                </a:solidFill>
                <a:latin typeface="Calibri" pitchFamily="34" charset="0"/>
                <a:ea typeface="Calibri" pitchFamily="34" charset="-122"/>
                <a:cs typeface="Calibri" pitchFamily="34" charset="-120"/>
              </a:rPr>
              <a:t>While a ticket waits for the customer the timer pauses, and the deadline moves by the time paused.</a:t>
            </a:r>
            <a:endParaRPr lang="en-US" sz="1600" dirty="0"/>
          </a:p>
          <a:p>
            <a:pPr marL="190500" indent="-190500">
              <a:lnSpc>
                <a:spcPct val="105000"/>
              </a:lnSpc>
              <a:spcAft>
                <a:spcPts val="1400"/>
              </a:spcAft>
              <a:buSzPct val="100000"/>
              <a:buChar char="•"/>
            </a:pPr>
            <a:r>
              <a:rPr lang="en-US" sz="1600" dirty="0">
                <a:solidFill>
                  <a:srgbClr val="26303F"/>
                </a:solidFill>
                <a:latin typeface="Calibri" pitchFamily="34" charset="0"/>
                <a:ea typeface="Calibri" pitchFamily="34" charset="-122"/>
                <a:cs typeface="Calibri" pitchFamily="34" charset="-120"/>
              </a:rPr>
              <a:t>An 8-hour target from 09:00, paused 10:00–12:00, ends at 19:00 instead of 17:00.</a:t>
            </a:r>
            <a:endParaRPr lang="en-US" sz="1600" dirty="0"/>
          </a:p>
        </p:txBody>
      </p:sp>
      <p:sp>
        <p:nvSpPr>
          <p:cNvPr id="14" name="Text 11"/>
          <p:cNvSpPr/>
          <p:nvPr/>
        </p:nvSpPr>
        <p:spPr>
          <a:xfrm>
            <a:off x="8101584" y="1280160"/>
            <a:ext cx="3547872" cy="384048"/>
          </a:xfrm>
          <a:prstGeom prst="rect">
            <a:avLst/>
          </a:prstGeom>
          <a:noFill/>
          <a:ln/>
        </p:spPr>
        <p:txBody>
          <a:bodyPr wrap="square" lIns="0" tIns="0" rIns="0" bIns="0" rtlCol="0" anchor="b"/>
          <a:lstStyle/>
          <a:p>
            <a:pPr indent="0" marL="0">
              <a:buNone/>
            </a:pPr>
            <a:r>
              <a:rPr lang="en-US" sz="1700" dirty="0">
                <a:solidFill>
                  <a:srgbClr val="14213D"/>
                </a:solidFill>
                <a:latin typeface="Georgia" pitchFamily="34" charset="0"/>
                <a:ea typeface="Georgia" pitchFamily="34" charset="-122"/>
                <a:cs typeface="Georgia" pitchFamily="34" charset="-120"/>
              </a:rPr>
              <a:t>History and time analysis</a:t>
            </a:r>
            <a:endParaRPr lang="en-US" sz="1700" dirty="0"/>
          </a:p>
        </p:txBody>
      </p:sp>
      <p:sp>
        <p:nvSpPr>
          <p:cNvPr id="15" name="Shape 12"/>
          <p:cNvSpPr/>
          <p:nvPr/>
        </p:nvSpPr>
        <p:spPr>
          <a:xfrm>
            <a:off x="8101584" y="1737360"/>
            <a:ext cx="3547872" cy="0"/>
          </a:xfrm>
          <a:prstGeom prst="line">
            <a:avLst/>
          </a:prstGeom>
          <a:noFill/>
          <a:ln w="9525">
            <a:solidFill>
              <a:srgbClr val="D5DAE1"/>
            </a:solidFill>
            <a:prstDash val="solid"/>
          </a:ln>
        </p:spPr>
      </p:sp>
      <p:sp>
        <p:nvSpPr>
          <p:cNvPr id="16" name="Text 13"/>
          <p:cNvSpPr/>
          <p:nvPr/>
        </p:nvSpPr>
        <p:spPr>
          <a:xfrm>
            <a:off x="8101584" y="1847088"/>
            <a:ext cx="3547872" cy="4370832"/>
          </a:xfrm>
          <a:prstGeom prst="rect">
            <a:avLst/>
          </a:prstGeom>
          <a:noFill/>
          <a:ln/>
        </p:spPr>
        <p:txBody>
          <a:bodyPr wrap="square" lIns="25400" tIns="25400" rIns="25400" bIns="25400" rtlCol="0" anchor="t"/>
          <a:lstStyle/>
          <a:p>
            <a:pPr marL="190500" indent="-190500">
              <a:lnSpc>
                <a:spcPct val="105000"/>
              </a:lnSpc>
              <a:spcAft>
                <a:spcPts val="1400"/>
              </a:spcAft>
              <a:buSzPct val="100000"/>
              <a:buChar char="•"/>
            </a:pPr>
            <a:r>
              <a:rPr lang="en-US" sz="1600" dirty="0">
                <a:solidFill>
                  <a:srgbClr val="26303F"/>
                </a:solidFill>
                <a:latin typeface="Calibri" pitchFamily="34" charset="0"/>
                <a:ea typeface="Calibri" pitchFamily="34" charset="-122"/>
                <a:cs typeface="Calibri" pitchFamily="34" charset="-120"/>
              </a:rPr>
              <a:t>A database trigger records every change to the main tables with the old and new values.</a:t>
            </a:r>
            <a:endParaRPr lang="en-US" sz="1600" dirty="0"/>
          </a:p>
          <a:p>
            <a:pPr marL="190500" indent="-190500">
              <a:lnSpc>
                <a:spcPct val="105000"/>
              </a:lnSpc>
              <a:spcAft>
                <a:spcPts val="1400"/>
              </a:spcAft>
              <a:buSzPct val="100000"/>
              <a:buChar char="•"/>
            </a:pPr>
            <a:r>
              <a:rPr lang="en-US" sz="1600" dirty="0">
                <a:solidFill>
                  <a:srgbClr val="26303F"/>
                </a:solidFill>
                <a:latin typeface="Calibri" pitchFamily="34" charset="0"/>
                <a:ea typeface="Calibri" pitchFamily="34" charset="-122"/>
                <a:cs typeface="Calibri" pitchFamily="34" charset="-120"/>
              </a:rPr>
              <a:t>A record at any past moment is rebuilt by undoing, newest first, the changes made after it.</a:t>
            </a:r>
            <a:endParaRPr lang="en-US" sz="1600" dirty="0"/>
          </a:p>
          <a:p>
            <a:pPr marL="190500" indent="-190500">
              <a:lnSpc>
                <a:spcPct val="105000"/>
              </a:lnSpc>
              <a:spcAft>
                <a:spcPts val="1400"/>
              </a:spcAft>
              <a:buSzPct val="100000"/>
              <a:buChar char="•"/>
            </a:pPr>
            <a:r>
              <a:rPr lang="en-US" sz="1600" dirty="0">
                <a:solidFill>
                  <a:srgbClr val="26303F"/>
                </a:solidFill>
                <a:latin typeface="Calibri" pitchFamily="34" charset="0"/>
                <a:ea typeface="Calibri" pitchFamily="34" charset="-122"/>
                <a:cs typeface="Calibri" pitchFamily="34" charset="-120"/>
              </a:rPr>
              <a:t>Each ticket's changes form periods of constant status, agent and priority.</a:t>
            </a:r>
            <a:endParaRPr lang="en-US" sz="1600" dirty="0"/>
          </a:p>
          <a:p>
            <a:pPr marL="190500" indent="-190500">
              <a:lnSpc>
                <a:spcPct val="105000"/>
              </a:lnSpc>
              <a:spcAft>
                <a:spcPts val="1400"/>
              </a:spcAft>
              <a:buSzPct val="100000"/>
              <a:buChar char="•"/>
            </a:pPr>
            <a:r>
              <a:rPr lang="en-US" sz="1600" dirty="0">
                <a:solidFill>
                  <a:srgbClr val="26303F"/>
                </a:solidFill>
                <a:latin typeface="Calibri" pitchFamily="34" charset="0"/>
                <a:ea typeface="Calibri" pitchFamily="34" charset="-122"/>
                <a:cs typeface="Calibri" pitchFamily="34" charset="-120"/>
              </a:rPr>
              <a:t>From these periods come time in status, the backlog on any date and each agent's workload.</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64240" cy="640080"/>
          </a:xfrm>
          <a:prstGeom prst="rect">
            <a:avLst/>
          </a:prstGeom>
          <a:noFill/>
          <a:ln/>
        </p:spPr>
        <p:txBody>
          <a:bodyPr wrap="square" lIns="0" tIns="0" rIns="0" bIns="0" rtlCol="0" anchor="b"/>
          <a:lstStyle/>
          <a:p>
            <a:pPr indent="0" marL="0">
              <a:buNone/>
            </a:pPr>
            <a:r>
              <a:rPr lang="en-US" sz="2800" dirty="0">
                <a:solidFill>
                  <a:srgbClr val="14213D"/>
                </a:solidFill>
                <a:latin typeface="Georgia" pitchFamily="34" charset="0"/>
                <a:ea typeface="Georgia" pitchFamily="34" charset="-122"/>
                <a:cs typeface="Georgia" pitchFamily="34" charset="-120"/>
              </a:rPr>
              <a:t>Implementation</a:t>
            </a:r>
            <a:endParaRPr lang="en-US" sz="2800" dirty="0"/>
          </a:p>
        </p:txBody>
      </p:sp>
      <p:sp>
        <p:nvSpPr>
          <p:cNvPr id="3" name="Shape 1"/>
          <p:cNvSpPr/>
          <p:nvPr/>
        </p:nvSpPr>
        <p:spPr>
          <a:xfrm>
            <a:off x="548640" y="1060704"/>
            <a:ext cx="822960" cy="45720"/>
          </a:xfrm>
          <a:prstGeom prst="rect">
            <a:avLst/>
          </a:prstGeom>
          <a:solidFill>
            <a:srgbClr val="1F5FAD"/>
          </a:solidFill>
          <a:ln w="12700">
            <a:solidFill>
              <a:srgbClr val="1F5FAD"/>
            </a:solidFill>
            <a:prstDash val="solid"/>
          </a:ln>
        </p:spPr>
      </p:sp>
      <p:sp>
        <p:nvSpPr>
          <p:cNvPr id="4" name="Shape 2"/>
          <p:cNvSpPr/>
          <p:nvPr/>
        </p:nvSpPr>
        <p:spPr>
          <a:xfrm>
            <a:off x="548640" y="6382512"/>
            <a:ext cx="11091672" cy="0"/>
          </a:xfrm>
          <a:prstGeom prst="line">
            <a:avLst/>
          </a:prstGeom>
          <a:noFill/>
          <a:ln w="9525">
            <a:solidFill>
              <a:srgbClr val="D5DAE1"/>
            </a:solidFill>
            <a:prstDash val="solid"/>
          </a:ln>
        </p:spPr>
      </p:sp>
      <p:sp>
        <p:nvSpPr>
          <p:cNvPr id="5" name="Text 3"/>
          <p:cNvSpPr/>
          <p:nvPr/>
        </p:nvSpPr>
        <p:spPr>
          <a:xfrm>
            <a:off x="548640" y="6428232"/>
            <a:ext cx="3657600" cy="274320"/>
          </a:xfrm>
          <a:prstGeom prst="rect">
            <a:avLst/>
          </a:prstGeom>
          <a:noFill/>
          <a:ln/>
        </p:spPr>
        <p:txBody>
          <a:bodyPr wrap="square" lIns="0" tIns="0" rIns="0" bIns="0" rtlCol="0" anchor="ctr"/>
          <a:lstStyle/>
          <a:p>
            <a:pPr indent="0" marL="0">
              <a:buNone/>
            </a:pPr>
            <a:r>
              <a:rPr lang="en-US" sz="1050" dirty="0">
                <a:solidFill>
                  <a:srgbClr val="66707F"/>
                </a:solidFill>
                <a:latin typeface="Georgia" pitchFamily="34" charset="0"/>
                <a:ea typeface="Georgia" pitchFamily="34" charset="-122"/>
                <a:cs typeface="Georgia" pitchFamily="34" charset="-120"/>
              </a:rPr>
              <a:t>Smart Helpdesk</a:t>
            </a:r>
            <a:endParaRPr lang="en-US" sz="1050" dirty="0"/>
          </a:p>
        </p:txBody>
      </p:sp>
      <p:sp>
        <p:nvSpPr>
          <p:cNvPr id="6" name="Text 4"/>
          <p:cNvSpPr/>
          <p:nvPr/>
        </p:nvSpPr>
        <p:spPr>
          <a:xfrm>
            <a:off x="5669280" y="6428232"/>
            <a:ext cx="5971032" cy="274320"/>
          </a:xfrm>
          <a:prstGeom prst="rect">
            <a:avLst/>
          </a:prstGeom>
          <a:noFill/>
          <a:ln/>
        </p:spPr>
        <p:txBody>
          <a:bodyPr wrap="square" lIns="0" tIns="0" rIns="0" bIns="0" rtlCol="0" anchor="ctr"/>
          <a:lstStyle/>
          <a:p>
            <a:pPr algn="r" indent="0" marL="0">
              <a:buNone/>
            </a:pPr>
            <a:r>
              <a:rPr lang="en-US" sz="1050" dirty="0">
                <a:solidFill>
                  <a:srgbClr val="66707F"/>
                </a:solidFill>
                <a:latin typeface="Calibri" pitchFamily="34" charset="0"/>
                <a:ea typeface="Calibri" pitchFamily="34" charset="-122"/>
                <a:cs typeface="Calibri" pitchFamily="34" charset="-120"/>
              </a:rPr>
              <a:t>Chapter 4: Implementation and Testing      11 / 13</a:t>
            </a:r>
            <a:endParaRPr lang="en-US" sz="10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5074920" cy="914400"/>
        </p:xfrm>
        <a:graphic>
          <a:graphicData uri="http://schemas.openxmlformats.org/drawingml/2006/table">
            <a:tbl>
              <a:tblPr/>
              <a:tblGrid>
                <a:gridCol w="1645920"/>
                <a:gridCol w="3429000"/>
              </a:tblGrid>
              <a:tr h="329184">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Area</a:t>
                      </a:r>
                      <a:endParaRPr lang="en-US" sz="12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4213D"/>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Tools</a:t>
                      </a:r>
                      <a:endParaRPr lang="en-US" sz="12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4213D"/>
                    </a:solidFill>
                  </a:tcPr>
                </a:tc>
              </a:tr>
              <a:tr h="329184">
                <a:tc>
                  <a:txBody>
                    <a:bodyPr/>
                    <a:lstStyle/>
                    <a:p>
                      <a:pPr indent="0" marL="0">
                        <a:buNone/>
                      </a:pPr>
                      <a:r>
                        <a:rPr lang="en-US" sz="1250" dirty="0">
                          <a:solidFill>
                            <a:srgbClr val="26303F"/>
                          </a:solidFill>
                          <a:latin typeface="Calibri" pitchFamily="34" charset="0"/>
                          <a:ea typeface="Calibri" pitchFamily="34" charset="-122"/>
                          <a:cs typeface="Calibri" pitchFamily="34" charset="-120"/>
                        </a:rPr>
                        <a:t>Backend</a:t>
                      </a:r>
                      <a:endParaRPr lang="en-US" sz="12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50" dirty="0">
                          <a:solidFill>
                            <a:srgbClr val="26303F"/>
                          </a:solidFill>
                          <a:latin typeface="Calibri" pitchFamily="34" charset="0"/>
                          <a:ea typeface="Calibri" pitchFamily="34" charset="-122"/>
                          <a:cs typeface="Calibri" pitchFamily="34" charset="-120"/>
                        </a:rPr>
                        <a:t>PHP 8.5, Laravel 13</a:t>
                      </a:r>
                      <a:endParaRPr lang="en-US" sz="12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329184">
                <a:tc>
                  <a:txBody>
                    <a:bodyPr/>
                    <a:lstStyle/>
                    <a:p>
                      <a:pPr indent="0" marL="0">
                        <a:buNone/>
                      </a:pPr>
                      <a:r>
                        <a:rPr lang="en-US" sz="1250" dirty="0">
                          <a:solidFill>
                            <a:srgbClr val="26303F"/>
                          </a:solidFill>
                          <a:latin typeface="Calibri" pitchFamily="34" charset="0"/>
                          <a:ea typeface="Calibri" pitchFamily="34" charset="-122"/>
                          <a:cs typeface="Calibri" pitchFamily="34" charset="-120"/>
                        </a:rPr>
                        <a:t>Frontend</a:t>
                      </a:r>
                      <a:endParaRPr lang="en-US" sz="12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en-US" sz="1250" dirty="0">
                          <a:solidFill>
                            <a:srgbClr val="26303F"/>
                          </a:solidFill>
                          <a:latin typeface="Calibri" pitchFamily="34" charset="0"/>
                          <a:ea typeface="Calibri" pitchFamily="34" charset="-122"/>
                          <a:cs typeface="Calibri" pitchFamily="34" charset="-120"/>
                        </a:rPr>
                        <a:t>React 19, TypeScript, Vite, TanStack, Zod</a:t>
                      </a:r>
                      <a:endParaRPr lang="en-US" sz="12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r>
              <a:tr h="329184">
                <a:tc>
                  <a:txBody>
                    <a:bodyPr/>
                    <a:lstStyle/>
                    <a:p>
                      <a:pPr indent="0" marL="0">
                        <a:buNone/>
                      </a:pPr>
                      <a:r>
                        <a:rPr lang="en-US" sz="1250" dirty="0">
                          <a:solidFill>
                            <a:srgbClr val="26303F"/>
                          </a:solidFill>
                          <a:latin typeface="Calibri" pitchFamily="34" charset="0"/>
                          <a:ea typeface="Calibri" pitchFamily="34" charset="-122"/>
                          <a:cs typeface="Calibri" pitchFamily="34" charset="-120"/>
                        </a:rPr>
                        <a:t>Interface</a:t>
                      </a:r>
                      <a:endParaRPr lang="en-US" sz="12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50" dirty="0">
                          <a:solidFill>
                            <a:srgbClr val="26303F"/>
                          </a:solidFill>
                          <a:latin typeface="Calibri" pitchFamily="34" charset="0"/>
                          <a:ea typeface="Calibri" pitchFamily="34" charset="-122"/>
                          <a:cs typeface="Calibri" pitchFamily="34" charset="-120"/>
                        </a:rPr>
                        <a:t>Tailwind CSS, shadcn/ui, Lucide, Recharts</a:t>
                      </a:r>
                      <a:endParaRPr lang="en-US" sz="12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329184">
                <a:tc>
                  <a:txBody>
                    <a:bodyPr/>
                    <a:lstStyle/>
                    <a:p>
                      <a:pPr indent="0" marL="0">
                        <a:buNone/>
                      </a:pPr>
                      <a:r>
                        <a:rPr lang="en-US" sz="1250" dirty="0">
                          <a:solidFill>
                            <a:srgbClr val="26303F"/>
                          </a:solidFill>
                          <a:latin typeface="Calibri" pitchFamily="34" charset="0"/>
                          <a:ea typeface="Calibri" pitchFamily="34" charset="-122"/>
                          <a:cs typeface="Calibri" pitchFamily="34" charset="-120"/>
                        </a:rPr>
                        <a:t>Database</a:t>
                      </a:r>
                      <a:endParaRPr lang="en-US" sz="12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en-US" sz="1250" dirty="0">
                          <a:solidFill>
                            <a:srgbClr val="26303F"/>
                          </a:solidFill>
                          <a:latin typeface="Calibri" pitchFamily="34" charset="0"/>
                          <a:ea typeface="Calibri" pitchFamily="34" charset="-122"/>
                          <a:cs typeface="Calibri" pitchFamily="34" charset="-120"/>
                        </a:rPr>
                        <a:t>PostgreSQL 18</a:t>
                      </a:r>
                      <a:endParaRPr lang="en-US" sz="12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r>
              <a:tr h="329184">
                <a:tc>
                  <a:txBody>
                    <a:bodyPr/>
                    <a:lstStyle/>
                    <a:p>
                      <a:pPr indent="0" marL="0">
                        <a:buNone/>
                      </a:pPr>
                      <a:r>
                        <a:rPr lang="en-US" sz="1250" dirty="0">
                          <a:solidFill>
                            <a:srgbClr val="26303F"/>
                          </a:solidFill>
                          <a:latin typeface="Calibri" pitchFamily="34" charset="0"/>
                          <a:ea typeface="Calibri" pitchFamily="34" charset="-122"/>
                          <a:cs typeface="Calibri" pitchFamily="34" charset="-120"/>
                        </a:rPr>
                        <a:t>Cache and queues</a:t>
                      </a:r>
                      <a:endParaRPr lang="en-US" sz="12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50" dirty="0">
                          <a:solidFill>
                            <a:srgbClr val="26303F"/>
                          </a:solidFill>
                          <a:latin typeface="Calibri" pitchFamily="34" charset="0"/>
                          <a:ea typeface="Calibri" pitchFamily="34" charset="-122"/>
                          <a:cs typeface="Calibri" pitchFamily="34" charset="-120"/>
                        </a:rPr>
                        <a:t>Valkey, Laravel Horizon</a:t>
                      </a:r>
                      <a:endParaRPr lang="en-US" sz="12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329184">
                <a:tc>
                  <a:txBody>
                    <a:bodyPr/>
                    <a:lstStyle/>
                    <a:p>
                      <a:pPr indent="0" marL="0">
                        <a:buNone/>
                      </a:pPr>
                      <a:r>
                        <a:rPr lang="en-US" sz="1250" dirty="0">
                          <a:solidFill>
                            <a:srgbClr val="26303F"/>
                          </a:solidFill>
                          <a:latin typeface="Calibri" pitchFamily="34" charset="0"/>
                          <a:ea typeface="Calibri" pitchFamily="34" charset="-122"/>
                          <a:cs typeface="Calibri" pitchFamily="34" charset="-120"/>
                        </a:rPr>
                        <a:t>Files and email</a:t>
                      </a:r>
                      <a:endParaRPr lang="en-US" sz="12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en-US" sz="1250" dirty="0">
                          <a:solidFill>
                            <a:srgbClr val="26303F"/>
                          </a:solidFill>
                          <a:latin typeface="Calibri" pitchFamily="34" charset="0"/>
                          <a:ea typeface="Calibri" pitchFamily="34" charset="-122"/>
                          <a:cs typeface="Calibri" pitchFamily="34" charset="-120"/>
                        </a:rPr>
                        <a:t>RustFS, Stalwart mail server</a:t>
                      </a:r>
                      <a:endParaRPr lang="en-US" sz="12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r>
              <a:tr h="329184">
                <a:tc>
                  <a:txBody>
                    <a:bodyPr/>
                    <a:lstStyle/>
                    <a:p>
                      <a:pPr indent="0" marL="0">
                        <a:buNone/>
                      </a:pPr>
                      <a:r>
                        <a:rPr lang="en-US" sz="1250" dirty="0">
                          <a:solidFill>
                            <a:srgbClr val="26303F"/>
                          </a:solidFill>
                          <a:latin typeface="Calibri" pitchFamily="34" charset="0"/>
                          <a:ea typeface="Calibri" pitchFamily="34" charset="-122"/>
                          <a:cs typeface="Calibri" pitchFamily="34" charset="-120"/>
                        </a:rPr>
                        <a:t>API documentation</a:t>
                      </a:r>
                      <a:endParaRPr lang="en-US" sz="12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50" dirty="0">
                          <a:solidFill>
                            <a:srgbClr val="26303F"/>
                          </a:solidFill>
                          <a:latin typeface="Calibri" pitchFamily="34" charset="0"/>
                          <a:ea typeface="Calibri" pitchFamily="34" charset="-122"/>
                          <a:cs typeface="Calibri" pitchFamily="34" charset="-120"/>
                        </a:rPr>
                        <a:t>Scramble</a:t>
                      </a:r>
                      <a:endParaRPr lang="en-US" sz="12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329184">
                <a:tc>
                  <a:txBody>
                    <a:bodyPr/>
                    <a:lstStyle/>
                    <a:p>
                      <a:pPr indent="0" marL="0">
                        <a:buNone/>
                      </a:pPr>
                      <a:r>
                        <a:rPr lang="en-US" sz="1250" dirty="0">
                          <a:solidFill>
                            <a:srgbClr val="26303F"/>
                          </a:solidFill>
                          <a:latin typeface="Calibri" pitchFamily="34" charset="0"/>
                          <a:ea typeface="Calibri" pitchFamily="34" charset="-122"/>
                          <a:cs typeface="Calibri" pitchFamily="34" charset="-120"/>
                        </a:rPr>
                        <a:t>Infrastructure</a:t>
                      </a:r>
                      <a:endParaRPr lang="en-US" sz="12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en-US" sz="1250" dirty="0">
                          <a:solidFill>
                            <a:srgbClr val="26303F"/>
                          </a:solidFill>
                          <a:latin typeface="Calibri" pitchFamily="34" charset="0"/>
                          <a:ea typeface="Calibri" pitchFamily="34" charset="-122"/>
                          <a:cs typeface="Calibri" pitchFamily="34" charset="-120"/>
                        </a:rPr>
                        <a:t>Docker Compose, Caddy, Ansible, OpenTofu</a:t>
                      </a:r>
                      <a:endParaRPr lang="en-US" sz="12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r>
              <a:tr h="329184">
                <a:tc>
                  <a:txBody>
                    <a:bodyPr/>
                    <a:lstStyle/>
                    <a:p>
                      <a:pPr indent="0" marL="0">
                        <a:buNone/>
                      </a:pPr>
                      <a:r>
                        <a:rPr lang="en-US" sz="1250" dirty="0">
                          <a:solidFill>
                            <a:srgbClr val="26303F"/>
                          </a:solidFill>
                          <a:latin typeface="Calibri" pitchFamily="34" charset="0"/>
                          <a:ea typeface="Calibri" pitchFamily="34" charset="-122"/>
                          <a:cs typeface="Calibri" pitchFamily="34" charset="-120"/>
                        </a:rPr>
                        <a:t>Diagrams</a:t>
                      </a:r>
                      <a:endParaRPr lang="en-US" sz="12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50" dirty="0">
                          <a:solidFill>
                            <a:srgbClr val="26303F"/>
                          </a:solidFill>
                          <a:latin typeface="Calibri" pitchFamily="34" charset="0"/>
                          <a:ea typeface="Calibri" pitchFamily="34" charset="-122"/>
                          <a:cs typeface="Calibri" pitchFamily="34" charset="-120"/>
                        </a:rPr>
                        <a:t>Mermaid</a:t>
                      </a:r>
                      <a:endParaRPr lang="en-US" sz="12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329184">
                <a:tc>
                  <a:txBody>
                    <a:bodyPr/>
                    <a:lstStyle/>
                    <a:p>
                      <a:pPr indent="0" marL="0">
                        <a:buNone/>
                      </a:pPr>
                      <a:r>
                        <a:rPr lang="en-US" sz="1250" dirty="0">
                          <a:solidFill>
                            <a:srgbClr val="26303F"/>
                          </a:solidFill>
                          <a:latin typeface="Calibri" pitchFamily="34" charset="0"/>
                          <a:ea typeface="Calibri" pitchFamily="34" charset="-122"/>
                          <a:cs typeface="Calibri" pitchFamily="34" charset="-120"/>
                        </a:rPr>
                        <a:t>Development</a:t>
                      </a:r>
                      <a:endParaRPr lang="en-US" sz="12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en-US" sz="1250" dirty="0">
                          <a:solidFill>
                            <a:srgbClr val="26303F"/>
                          </a:solidFill>
                          <a:latin typeface="Calibri" pitchFamily="34" charset="0"/>
                          <a:ea typeface="Calibri" pitchFamily="34" charset="-122"/>
                          <a:cs typeface="Calibri" pitchFamily="34" charset="-120"/>
                        </a:rPr>
                        <a:t>Visual Studio Code, Git, GitHub</a:t>
                      </a:r>
                      <a:endParaRPr lang="en-US" sz="12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r>
            </a:tbl>
          </a:graphicData>
        </a:graphic>
      </p:graphicFrame>
      <p:sp>
        <p:nvSpPr>
          <p:cNvPr id="9" name="Text 5"/>
          <p:cNvSpPr/>
          <p:nvPr/>
        </p:nvSpPr>
        <p:spPr>
          <a:xfrm>
            <a:off x="548640" y="5230368"/>
            <a:ext cx="5074920" cy="1005840"/>
          </a:xfrm>
          <a:prstGeom prst="rect">
            <a:avLst/>
          </a:prstGeom>
          <a:noFill/>
          <a:ln/>
        </p:spPr>
        <p:txBody>
          <a:bodyPr wrap="square" lIns="0" tIns="0" rIns="0" bIns="0" rtlCol="0" anchor="t"/>
          <a:lstStyle/>
          <a:p>
            <a:pPr indent="0" marL="0">
              <a:buNone/>
            </a:pPr>
            <a:r>
              <a:rPr lang="en-US" sz="1350" i="1" dirty="0">
                <a:solidFill>
                  <a:srgbClr val="66707F"/>
                </a:solidFill>
                <a:latin typeface="Calibri" pitchFamily="34" charset="0"/>
                <a:ea typeface="Calibri" pitchFamily="34" charset="-122"/>
                <a:cs typeface="Calibri" pitchFamily="34" charset="-120"/>
              </a:rPr>
              <a:t>Each module has its own routes, models, rules and tables, and every change of data runs in one transaction, so a failure never leaves anything half saved.</a:t>
            </a:r>
            <a:endParaRPr lang="en-US" sz="1350" dirty="0"/>
          </a:p>
        </p:txBody>
      </p:sp>
      <p:sp>
        <p:nvSpPr>
          <p:cNvPr id="10" name="Shape 6"/>
          <p:cNvSpPr/>
          <p:nvPr/>
        </p:nvSpPr>
        <p:spPr>
          <a:xfrm>
            <a:off x="5907024" y="1469327"/>
            <a:ext cx="2862072" cy="1816227"/>
          </a:xfrm>
          <a:prstGeom prst="rect">
            <a:avLst/>
          </a:prstGeom>
          <a:solidFill>
            <a:srgbClr val="FFFFFF"/>
          </a:solidFill>
          <a:ln w="9525">
            <a:solidFill>
              <a:srgbClr val="D5DAE1"/>
            </a:solidFill>
            <a:prstDash val="solid"/>
          </a:ln>
        </p:spPr>
      </p:sp>
      <p:pic>
        <p:nvPicPr>
          <p:cNvPr id="11" name="Image 0" descr="/home/subham/Projects/college/fyp/smart-helpdesk/report/university/figures/app-dashboard.png">    </p:cNvPr>
          <p:cNvPicPr>
            <a:picLocks noChangeAspect="1"/>
          </p:cNvPicPr>
          <p:nvPr/>
        </p:nvPicPr>
        <p:blipFill>
          <a:blip r:embed="rId1"/>
          <a:stretch>
            <a:fillRect/>
          </a:stretch>
        </p:blipFill>
        <p:spPr>
          <a:xfrm>
            <a:off x="5943600" y="1505903"/>
            <a:ext cx="2788920" cy="1743075"/>
          </a:xfrm>
          <a:prstGeom prst="rect">
            <a:avLst/>
          </a:prstGeom>
        </p:spPr>
      </p:pic>
      <p:sp>
        <p:nvSpPr>
          <p:cNvPr id="12" name="Text 7"/>
          <p:cNvSpPr/>
          <p:nvPr/>
        </p:nvSpPr>
        <p:spPr>
          <a:xfrm>
            <a:off x="5943600" y="3312985"/>
            <a:ext cx="2788920" cy="274320"/>
          </a:xfrm>
          <a:prstGeom prst="rect">
            <a:avLst/>
          </a:prstGeom>
          <a:noFill/>
          <a:ln/>
        </p:spPr>
        <p:txBody>
          <a:bodyPr wrap="square" lIns="0" tIns="0" rIns="0" bIns="0" rtlCol="0" anchor="ctr"/>
          <a:lstStyle/>
          <a:p>
            <a:pPr algn="ctr" indent="0" marL="0">
              <a:buNone/>
            </a:pPr>
            <a:r>
              <a:rPr lang="en-US" sz="1100" i="1" dirty="0">
                <a:solidFill>
                  <a:srgbClr val="66707F"/>
                </a:solidFill>
                <a:latin typeface="Calibri" pitchFamily="34" charset="0"/>
                <a:ea typeface="Calibri" pitchFamily="34" charset="-122"/>
                <a:cs typeface="Calibri" pitchFamily="34" charset="-120"/>
              </a:rPr>
              <a:t>Management dashboard (Fig. 4.1)</a:t>
            </a:r>
            <a:endParaRPr lang="en-US" sz="1100" dirty="0"/>
          </a:p>
        </p:txBody>
      </p:sp>
      <p:sp>
        <p:nvSpPr>
          <p:cNvPr id="13" name="Shape 8"/>
          <p:cNvSpPr/>
          <p:nvPr/>
        </p:nvSpPr>
        <p:spPr>
          <a:xfrm>
            <a:off x="8814816" y="1469327"/>
            <a:ext cx="2862072" cy="1816227"/>
          </a:xfrm>
          <a:prstGeom prst="rect">
            <a:avLst/>
          </a:prstGeom>
          <a:solidFill>
            <a:srgbClr val="FFFFFF"/>
          </a:solidFill>
          <a:ln w="9525">
            <a:solidFill>
              <a:srgbClr val="D5DAE1"/>
            </a:solidFill>
            <a:prstDash val="solid"/>
          </a:ln>
        </p:spPr>
      </p:sp>
      <p:pic>
        <p:nvPicPr>
          <p:cNvPr id="14" name="Image 1" descr="/home/subham/Projects/college/fyp/smart-helpdesk/report/university/figures/app-ticket.png">    </p:cNvPr>
          <p:cNvPicPr>
            <a:picLocks noChangeAspect="1"/>
          </p:cNvPicPr>
          <p:nvPr/>
        </p:nvPicPr>
        <p:blipFill>
          <a:blip r:embed="rId2"/>
          <a:stretch>
            <a:fillRect/>
          </a:stretch>
        </p:blipFill>
        <p:spPr>
          <a:xfrm>
            <a:off x="8851392" y="1505903"/>
            <a:ext cx="2788920" cy="1743075"/>
          </a:xfrm>
          <a:prstGeom prst="rect">
            <a:avLst/>
          </a:prstGeom>
        </p:spPr>
      </p:pic>
      <p:sp>
        <p:nvSpPr>
          <p:cNvPr id="15" name="Text 9"/>
          <p:cNvSpPr/>
          <p:nvPr/>
        </p:nvSpPr>
        <p:spPr>
          <a:xfrm>
            <a:off x="8851392" y="3312985"/>
            <a:ext cx="2788920" cy="274320"/>
          </a:xfrm>
          <a:prstGeom prst="rect">
            <a:avLst/>
          </a:prstGeom>
          <a:noFill/>
          <a:ln/>
        </p:spPr>
        <p:txBody>
          <a:bodyPr wrap="square" lIns="0" tIns="0" rIns="0" bIns="0" rtlCol="0" anchor="ctr"/>
          <a:lstStyle/>
          <a:p>
            <a:pPr algn="ctr" indent="0" marL="0">
              <a:buNone/>
            </a:pPr>
            <a:r>
              <a:rPr lang="en-US" sz="1100" i="1" dirty="0">
                <a:solidFill>
                  <a:srgbClr val="66707F"/>
                </a:solidFill>
                <a:latin typeface="Calibri" pitchFamily="34" charset="0"/>
                <a:ea typeface="Calibri" pitchFamily="34" charset="-122"/>
                <a:cs typeface="Calibri" pitchFamily="34" charset="-120"/>
              </a:rPr>
              <a:t>Ticket with SLA timers (Fig. 4.2)</a:t>
            </a:r>
            <a:endParaRPr lang="en-US" sz="1100" dirty="0"/>
          </a:p>
        </p:txBody>
      </p:sp>
      <p:sp>
        <p:nvSpPr>
          <p:cNvPr id="16" name="Shape 10"/>
          <p:cNvSpPr/>
          <p:nvPr/>
        </p:nvSpPr>
        <p:spPr>
          <a:xfrm>
            <a:off x="5907024" y="3956495"/>
            <a:ext cx="2862072" cy="1816227"/>
          </a:xfrm>
          <a:prstGeom prst="rect">
            <a:avLst/>
          </a:prstGeom>
          <a:solidFill>
            <a:srgbClr val="FFFFFF"/>
          </a:solidFill>
          <a:ln w="9525">
            <a:solidFill>
              <a:srgbClr val="D5DAE1"/>
            </a:solidFill>
            <a:prstDash val="solid"/>
          </a:ln>
        </p:spPr>
      </p:sp>
      <p:pic>
        <p:nvPicPr>
          <p:cNvPr id="17" name="Image 2" descr="/home/subham/Projects/college/fyp/smart-helpdesk/report/university/figures/app-why-priority.png">    </p:cNvPr>
          <p:cNvPicPr>
            <a:picLocks noChangeAspect="1"/>
          </p:cNvPicPr>
          <p:nvPr/>
        </p:nvPicPr>
        <p:blipFill>
          <a:blip r:embed="rId3"/>
          <a:stretch>
            <a:fillRect/>
          </a:stretch>
        </p:blipFill>
        <p:spPr>
          <a:xfrm>
            <a:off x="5943600" y="3993071"/>
            <a:ext cx="2788920" cy="1743075"/>
          </a:xfrm>
          <a:prstGeom prst="rect">
            <a:avLst/>
          </a:prstGeom>
        </p:spPr>
      </p:pic>
      <p:sp>
        <p:nvSpPr>
          <p:cNvPr id="18" name="Text 11"/>
          <p:cNvSpPr/>
          <p:nvPr/>
        </p:nvSpPr>
        <p:spPr>
          <a:xfrm>
            <a:off x="5943600" y="5800154"/>
            <a:ext cx="2788920" cy="274320"/>
          </a:xfrm>
          <a:prstGeom prst="rect">
            <a:avLst/>
          </a:prstGeom>
          <a:noFill/>
          <a:ln/>
        </p:spPr>
        <p:txBody>
          <a:bodyPr wrap="square" lIns="0" tIns="0" rIns="0" bIns="0" rtlCol="0" anchor="ctr"/>
          <a:lstStyle/>
          <a:p>
            <a:pPr algn="ctr" indent="0" marL="0">
              <a:buNone/>
            </a:pPr>
            <a:r>
              <a:rPr lang="en-US" sz="1100" i="1" dirty="0">
                <a:solidFill>
                  <a:srgbClr val="66707F"/>
                </a:solidFill>
                <a:latin typeface="Calibri" pitchFamily="34" charset="0"/>
                <a:ea typeface="Calibri" pitchFamily="34" charset="-122"/>
                <a:cs typeface="Calibri" pitchFamily="34" charset="-120"/>
              </a:rPr>
              <a:t>Priority explanation (Fig. 4.3)</a:t>
            </a:r>
            <a:endParaRPr lang="en-US" sz="1100" dirty="0"/>
          </a:p>
        </p:txBody>
      </p:sp>
      <p:sp>
        <p:nvSpPr>
          <p:cNvPr id="19" name="Shape 12"/>
          <p:cNvSpPr/>
          <p:nvPr/>
        </p:nvSpPr>
        <p:spPr>
          <a:xfrm>
            <a:off x="8814816" y="3956495"/>
            <a:ext cx="2862072" cy="1816227"/>
          </a:xfrm>
          <a:prstGeom prst="rect">
            <a:avLst/>
          </a:prstGeom>
          <a:solidFill>
            <a:srgbClr val="FFFFFF"/>
          </a:solidFill>
          <a:ln w="9525">
            <a:solidFill>
              <a:srgbClr val="D5DAE1"/>
            </a:solidFill>
            <a:prstDash val="solid"/>
          </a:ln>
        </p:spPr>
      </p:sp>
      <p:pic>
        <p:nvPicPr>
          <p:cNvPr id="20" name="Image 3" descr="/home/subham/Projects/college/fyp/smart-helpdesk/report/university/figures/app-assignment.png">    </p:cNvPr>
          <p:cNvPicPr>
            <a:picLocks noChangeAspect="1"/>
          </p:cNvPicPr>
          <p:nvPr/>
        </p:nvPicPr>
        <p:blipFill>
          <a:blip r:embed="rId4"/>
          <a:stretch>
            <a:fillRect/>
          </a:stretch>
        </p:blipFill>
        <p:spPr>
          <a:xfrm>
            <a:off x="8851392" y="3993071"/>
            <a:ext cx="2788920" cy="1743075"/>
          </a:xfrm>
          <a:prstGeom prst="rect">
            <a:avLst/>
          </a:prstGeom>
        </p:spPr>
      </p:pic>
      <p:sp>
        <p:nvSpPr>
          <p:cNvPr id="21" name="Text 13"/>
          <p:cNvSpPr/>
          <p:nvPr/>
        </p:nvSpPr>
        <p:spPr>
          <a:xfrm>
            <a:off x="8851392" y="5800154"/>
            <a:ext cx="2788920" cy="274320"/>
          </a:xfrm>
          <a:prstGeom prst="rect">
            <a:avLst/>
          </a:prstGeom>
          <a:noFill/>
          <a:ln/>
        </p:spPr>
        <p:txBody>
          <a:bodyPr wrap="square" lIns="0" tIns="0" rIns="0" bIns="0" rtlCol="0" anchor="ctr"/>
          <a:lstStyle/>
          <a:p>
            <a:pPr algn="ctr" indent="0" marL="0">
              <a:buNone/>
            </a:pPr>
            <a:r>
              <a:rPr lang="en-US" sz="1100" i="1" dirty="0">
                <a:solidFill>
                  <a:srgbClr val="66707F"/>
                </a:solidFill>
                <a:latin typeface="Calibri" pitchFamily="34" charset="0"/>
                <a:ea typeface="Calibri" pitchFamily="34" charset="-122"/>
                <a:cs typeface="Calibri" pitchFamily="34" charset="-120"/>
              </a:rPr>
              <a:t>Assignment ranking (Fig. A.5)</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64240" cy="640080"/>
          </a:xfrm>
          <a:prstGeom prst="rect">
            <a:avLst/>
          </a:prstGeom>
          <a:noFill/>
          <a:ln/>
        </p:spPr>
        <p:txBody>
          <a:bodyPr wrap="square" lIns="0" tIns="0" rIns="0" bIns="0" rtlCol="0" anchor="b"/>
          <a:lstStyle/>
          <a:p>
            <a:pPr indent="0" marL="0">
              <a:buNone/>
            </a:pPr>
            <a:r>
              <a:rPr lang="en-US" sz="2800" dirty="0">
                <a:solidFill>
                  <a:srgbClr val="14213D"/>
                </a:solidFill>
                <a:latin typeface="Georgia" pitchFamily="34" charset="0"/>
                <a:ea typeface="Georgia" pitchFamily="34" charset="-122"/>
                <a:cs typeface="Georgia" pitchFamily="34" charset="-120"/>
              </a:rPr>
              <a:t>Testing and Result Analysis</a:t>
            </a:r>
            <a:endParaRPr lang="en-US" sz="2800" dirty="0"/>
          </a:p>
        </p:txBody>
      </p:sp>
      <p:sp>
        <p:nvSpPr>
          <p:cNvPr id="3" name="Shape 1"/>
          <p:cNvSpPr/>
          <p:nvPr/>
        </p:nvSpPr>
        <p:spPr>
          <a:xfrm>
            <a:off x="548640" y="1060704"/>
            <a:ext cx="822960" cy="45720"/>
          </a:xfrm>
          <a:prstGeom prst="rect">
            <a:avLst/>
          </a:prstGeom>
          <a:solidFill>
            <a:srgbClr val="1F5FAD"/>
          </a:solidFill>
          <a:ln w="12700">
            <a:solidFill>
              <a:srgbClr val="1F5FAD"/>
            </a:solidFill>
            <a:prstDash val="solid"/>
          </a:ln>
        </p:spPr>
      </p:sp>
      <p:sp>
        <p:nvSpPr>
          <p:cNvPr id="4" name="Shape 2"/>
          <p:cNvSpPr/>
          <p:nvPr/>
        </p:nvSpPr>
        <p:spPr>
          <a:xfrm>
            <a:off x="548640" y="6382512"/>
            <a:ext cx="11091672" cy="0"/>
          </a:xfrm>
          <a:prstGeom prst="line">
            <a:avLst/>
          </a:prstGeom>
          <a:noFill/>
          <a:ln w="9525">
            <a:solidFill>
              <a:srgbClr val="D5DAE1"/>
            </a:solidFill>
            <a:prstDash val="solid"/>
          </a:ln>
        </p:spPr>
      </p:sp>
      <p:sp>
        <p:nvSpPr>
          <p:cNvPr id="5" name="Text 3"/>
          <p:cNvSpPr/>
          <p:nvPr/>
        </p:nvSpPr>
        <p:spPr>
          <a:xfrm>
            <a:off x="548640" y="6428232"/>
            <a:ext cx="3657600" cy="274320"/>
          </a:xfrm>
          <a:prstGeom prst="rect">
            <a:avLst/>
          </a:prstGeom>
          <a:noFill/>
          <a:ln/>
        </p:spPr>
        <p:txBody>
          <a:bodyPr wrap="square" lIns="0" tIns="0" rIns="0" bIns="0" rtlCol="0" anchor="ctr"/>
          <a:lstStyle/>
          <a:p>
            <a:pPr indent="0" marL="0">
              <a:buNone/>
            </a:pPr>
            <a:r>
              <a:rPr lang="en-US" sz="1050" dirty="0">
                <a:solidFill>
                  <a:srgbClr val="66707F"/>
                </a:solidFill>
                <a:latin typeface="Georgia" pitchFamily="34" charset="0"/>
                <a:ea typeface="Georgia" pitchFamily="34" charset="-122"/>
                <a:cs typeface="Georgia" pitchFamily="34" charset="-120"/>
              </a:rPr>
              <a:t>Smart Helpdesk</a:t>
            </a:r>
            <a:endParaRPr lang="en-US" sz="1050" dirty="0"/>
          </a:p>
        </p:txBody>
      </p:sp>
      <p:sp>
        <p:nvSpPr>
          <p:cNvPr id="6" name="Text 4"/>
          <p:cNvSpPr/>
          <p:nvPr/>
        </p:nvSpPr>
        <p:spPr>
          <a:xfrm>
            <a:off x="5669280" y="6428232"/>
            <a:ext cx="5971032" cy="274320"/>
          </a:xfrm>
          <a:prstGeom prst="rect">
            <a:avLst/>
          </a:prstGeom>
          <a:noFill/>
          <a:ln/>
        </p:spPr>
        <p:txBody>
          <a:bodyPr wrap="square" lIns="0" tIns="0" rIns="0" bIns="0" rtlCol="0" anchor="ctr"/>
          <a:lstStyle/>
          <a:p>
            <a:pPr algn="r" indent="0" marL="0">
              <a:buNone/>
            </a:pPr>
            <a:r>
              <a:rPr lang="en-US" sz="1050" dirty="0">
                <a:solidFill>
                  <a:srgbClr val="66707F"/>
                </a:solidFill>
                <a:latin typeface="Calibri" pitchFamily="34" charset="0"/>
                <a:ea typeface="Calibri" pitchFamily="34" charset="-122"/>
                <a:cs typeface="Calibri" pitchFamily="34" charset="-120"/>
              </a:rPr>
              <a:t>Chapter 4: Implementation and Testing      12 / 13</a:t>
            </a:r>
            <a:endParaRPr lang="en-US" sz="1050" dirty="0"/>
          </a:p>
        </p:txBody>
      </p:sp>
      <p:sp>
        <p:nvSpPr>
          <p:cNvPr id="8" name="Text 5"/>
          <p:cNvSpPr/>
          <p:nvPr/>
        </p:nvSpPr>
        <p:spPr>
          <a:xfrm>
            <a:off x="548640" y="1280160"/>
            <a:ext cx="5486400" cy="320040"/>
          </a:xfrm>
          <a:prstGeom prst="rect">
            <a:avLst/>
          </a:prstGeom>
          <a:noFill/>
          <a:ln/>
        </p:spPr>
        <p:txBody>
          <a:bodyPr wrap="square" lIns="0" tIns="0" rIns="0" bIns="0" rtlCol="0" anchor="ctr"/>
          <a:lstStyle/>
          <a:p>
            <a:pPr indent="0" marL="0">
              <a:buNone/>
            </a:pPr>
            <a:r>
              <a:rPr lang="en-US" sz="1500" dirty="0">
                <a:solidFill>
                  <a:srgbClr val="14213D"/>
                </a:solidFill>
                <a:latin typeface="Georgia" pitchFamily="34" charset="0"/>
                <a:ea typeface="Georgia" pitchFamily="34" charset="-122"/>
                <a:cs typeface="Georgia" pitchFamily="34" charset="-120"/>
              </a:rPr>
              <a:t>Unit test cases</a:t>
            </a:r>
            <a:endParaRPr lang="en-US" sz="15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3246120" cy="914400"/>
        </p:xfrm>
        <a:graphic>
          <a:graphicData uri="http://schemas.openxmlformats.org/drawingml/2006/table">
            <a:tbl>
              <a:tblPr/>
              <a:tblGrid>
                <a:gridCol w="621792"/>
                <a:gridCol w="2011680"/>
                <a:gridCol w="612648"/>
              </a:tblGrid>
              <a:tr h="28346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ID</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4213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Test case</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4213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Result</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4213D"/>
                    </a:solidFill>
                  </a:tcPr>
                </a:tc>
              </a:tr>
              <a:tr h="283464">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UT-01</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Sign in with correct details</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Pass</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283464">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UT-02</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Sign in with a wrong password</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Pass</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r>
              <a:tr h="283464">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UT-03</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Create a contact</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Pass</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283464">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UT-04</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Contact without an email</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Pass</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r>
              <a:tr h="283464">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UT-05</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Edit an organisation</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Pass</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283464">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UT-06</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Create a category</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Pass</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r>
              <a:tr h="283464">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UT-07</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Delete a category in use</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Pass</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283464">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UT-08</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Create a ticket</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Pass</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r>
            </a:tbl>
          </a:graphicData>
        </a:graphic>
      </p:graphicFrame>
      <p:graphicFrame>
        <p:nvGraphicFramePr>
          <p:cNvPr id="27" name="Table 1"/>
          <p:cNvGraphicFramePr>
            <a:graphicFrameLocks noGrp="1"/>
          </p:cNvGraphicFramePr>
          <p:nvPr>
            <p:extLst>
              <p:ext uri="{D42A27DB-BD31-4B8C-83A1-F6EECF244321}">
                <p14:modId xmlns:p14="http://schemas.microsoft.com/office/powerpoint/2010/main" val="1579011935"/>
              </p:ext>
            </p:extLst>
          </p:nvPr>
        </p:nvGraphicFramePr>
        <p:xfrm>
          <a:off x="3913632" y="1645920"/>
          <a:ext cx="3246120" cy="914400"/>
        </p:xfrm>
        <a:graphic>
          <a:graphicData uri="http://schemas.openxmlformats.org/drawingml/2006/table">
            <a:tbl>
              <a:tblPr/>
              <a:tblGrid>
                <a:gridCol w="621792"/>
                <a:gridCol w="2011680"/>
                <a:gridCol w="612648"/>
              </a:tblGrid>
              <a:tr h="28346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ID</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4213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Test case</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4213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Result</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4213D"/>
                    </a:solidFill>
                  </a:tcPr>
                </a:tc>
              </a:tr>
              <a:tr h="283464">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UT-09</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Create a ticket without a title</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Pass</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283464">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UT-10</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Add a public reply</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Pass</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r>
              <a:tr h="283464">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UT-11</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Add an internal note</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Pass</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283464">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UT-12</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Attach a file</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Pass</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r>
              <a:tr h="283464">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UT-13</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Invite a user</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Pass</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283464">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UT-14</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Create a team</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Pass</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r>
              <a:tr h="283464">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UT-15</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Create an SLA policy</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Pass</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bl>
          </a:graphicData>
        </a:graphic>
      </p:graphicFrame>
      <p:sp>
        <p:nvSpPr>
          <p:cNvPr id="11" name="Text 6"/>
          <p:cNvSpPr/>
          <p:nvPr/>
        </p:nvSpPr>
        <p:spPr>
          <a:xfrm>
            <a:off x="7360920" y="1280160"/>
            <a:ext cx="4206240" cy="320040"/>
          </a:xfrm>
          <a:prstGeom prst="rect">
            <a:avLst/>
          </a:prstGeom>
          <a:noFill/>
          <a:ln/>
        </p:spPr>
        <p:txBody>
          <a:bodyPr wrap="square" lIns="0" tIns="0" rIns="0" bIns="0" rtlCol="0" anchor="ctr"/>
          <a:lstStyle/>
          <a:p>
            <a:pPr indent="0" marL="0">
              <a:buNone/>
            </a:pPr>
            <a:r>
              <a:rPr lang="en-US" sz="1500" dirty="0">
                <a:solidFill>
                  <a:srgbClr val="14213D"/>
                </a:solidFill>
                <a:latin typeface="Georgia" pitchFamily="34" charset="0"/>
                <a:ea typeface="Georgia" pitchFamily="34" charset="-122"/>
                <a:cs typeface="Georgia" pitchFamily="34" charset="-120"/>
              </a:rPr>
              <a:t>System test cases</a:t>
            </a:r>
            <a:endParaRPr lang="en-US" sz="1500" dirty="0"/>
          </a:p>
        </p:txBody>
      </p:sp>
      <p:graphicFrame>
        <p:nvGraphicFramePr>
          <p:cNvPr id="40" name="Table 2"/>
          <p:cNvGraphicFramePr>
            <a:graphicFrameLocks noGrp="1"/>
          </p:cNvGraphicFramePr>
          <p:nvPr>
            <p:extLst>
              <p:ext uri="{D42A27DB-BD31-4B8C-83A1-F6EECF244321}">
                <p14:modId xmlns:p14="http://schemas.microsoft.com/office/powerpoint/2010/main" val="1579011935"/>
              </p:ext>
            </p:extLst>
          </p:nvPr>
        </p:nvGraphicFramePr>
        <p:xfrm>
          <a:off x="7360920" y="1645920"/>
          <a:ext cx="4279392" cy="914400"/>
        </p:xfrm>
        <a:graphic>
          <a:graphicData uri="http://schemas.openxmlformats.org/drawingml/2006/table">
            <a:tbl>
              <a:tblPr/>
              <a:tblGrid>
                <a:gridCol w="658368"/>
                <a:gridCol w="2980944"/>
                <a:gridCol w="640080"/>
              </a:tblGrid>
              <a:tr h="28346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ID</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4213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Scenario</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4213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Result</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4213D"/>
                    </a:solidFill>
                  </a:tcPr>
                </a:tc>
              </a:tr>
              <a:tr h="283464">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ST-01</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New user joins by invitation</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Pass</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283464">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ST-02</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Ticket from creation to closed</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Pass</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r>
              <a:tr h="283464">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ST-03</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Automatic handling, explained</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Pass</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283464">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ST-04</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Duplicate suggested</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Pass</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r>
              <a:tr h="283464">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ST-05</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Email reply lands on the ticket</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Pass</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283464">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ST-06</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Workspaces kept apart</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Pass</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r>
              <a:tr h="283464">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ST-07</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Report exported as CSV</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Pass</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283464">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ST-08</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Live site over HTTPS</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en-US" sz="1150" dirty="0">
                          <a:solidFill>
                            <a:srgbClr val="26303F"/>
                          </a:solidFill>
                          <a:latin typeface="Calibri" pitchFamily="34" charset="0"/>
                          <a:ea typeface="Calibri" pitchFamily="34" charset="-122"/>
                          <a:cs typeface="Calibri" pitchFamily="34" charset="-120"/>
                        </a:rPr>
                        <a:t>Pass</a:t>
                      </a:r>
                      <a:endParaRPr lang="en-US" sz="1150" dirty="0">
                        <a:latin typeface="Calibri" charset="0"/>
                        <a:ea typeface="Calibri" charset="0"/>
                        <a:cs typeface="Calibri" charset="0"/>
                      </a:endParaRPr>
                    </a:p>
                  </a:txBody>
                  <a:tcPr marL="76200" marR="76200" marT="25400" marB="254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r>
            </a:tbl>
          </a:graphicData>
        </a:graphic>
      </p:graphicFrame>
      <p:sp>
        <p:nvSpPr>
          <p:cNvPr id="13" name="Text 7"/>
          <p:cNvSpPr/>
          <p:nvPr/>
        </p:nvSpPr>
        <p:spPr>
          <a:xfrm>
            <a:off x="548640" y="4434840"/>
            <a:ext cx="4572000" cy="347472"/>
          </a:xfrm>
          <a:prstGeom prst="rect">
            <a:avLst/>
          </a:prstGeom>
          <a:noFill/>
          <a:ln/>
        </p:spPr>
        <p:txBody>
          <a:bodyPr wrap="square" lIns="0" tIns="0" rIns="0" bIns="0" rtlCol="0" anchor="ctr"/>
          <a:lstStyle/>
          <a:p>
            <a:pPr indent="0" marL="0">
              <a:buNone/>
            </a:pPr>
            <a:r>
              <a:rPr lang="en-US" sz="1700" dirty="0">
                <a:solidFill>
                  <a:srgbClr val="14213D"/>
                </a:solidFill>
                <a:latin typeface="Georgia" pitchFamily="34" charset="0"/>
                <a:ea typeface="Georgia" pitchFamily="34" charset="-122"/>
                <a:cs typeface="Georgia" pitchFamily="34" charset="-120"/>
              </a:rPr>
              <a:t>Results</a:t>
            </a:r>
            <a:endParaRPr lang="en-US" sz="1700" dirty="0"/>
          </a:p>
        </p:txBody>
      </p:sp>
      <p:sp>
        <p:nvSpPr>
          <p:cNvPr id="14" name="Text 8"/>
          <p:cNvSpPr/>
          <p:nvPr/>
        </p:nvSpPr>
        <p:spPr>
          <a:xfrm>
            <a:off x="548640" y="4846320"/>
            <a:ext cx="11091672" cy="1463040"/>
          </a:xfrm>
          <a:prstGeom prst="rect">
            <a:avLst/>
          </a:prstGeom>
          <a:noFill/>
          <a:ln/>
        </p:spPr>
        <p:txBody>
          <a:bodyPr wrap="square" lIns="25400" tIns="25400" rIns="25400" bIns="25400" rtlCol="0" anchor="t"/>
          <a:lstStyle/>
          <a:p>
            <a:pPr marL="190500" indent="-190500">
              <a:lnSpc>
                <a:spcPct val="105000"/>
              </a:lnSpc>
              <a:spcAft>
                <a:spcPts val="300"/>
              </a:spcAft>
              <a:buSzPct val="100000"/>
              <a:buChar char="•"/>
            </a:pPr>
            <a:r>
              <a:rPr lang="en-US" sz="1350" dirty="0">
                <a:solidFill>
                  <a:srgbClr val="26303F"/>
                </a:solidFill>
                <a:latin typeface="Calibri" pitchFamily="34" charset="0"/>
                <a:ea typeface="Calibri" pitchFamily="34" charset="-122"/>
                <a:cs typeface="Calibri" pitchFamily="34" charset="-120"/>
              </a:rPr>
              <a:t>All 15 unit and 8 system test cases passed on the development machine and on the live server, in both themes.</a:t>
            </a:r>
            <a:endParaRPr lang="en-US" sz="1350" dirty="0"/>
          </a:p>
          <a:p>
            <a:pPr marL="190500" indent="-190500">
              <a:lnSpc>
                <a:spcPct val="105000"/>
              </a:lnSpc>
              <a:spcAft>
                <a:spcPts val="300"/>
              </a:spcAft>
              <a:buSzPct val="100000"/>
              <a:buChar char="•"/>
            </a:pPr>
            <a:r>
              <a:rPr lang="en-US" sz="1350" dirty="0">
                <a:solidFill>
                  <a:srgbClr val="26303F"/>
                </a:solidFill>
                <a:latin typeface="Calibri" pitchFamily="34" charset="0"/>
                <a:ea typeface="Calibri" pitchFamily="34" charset="-122"/>
                <a:cs typeface="Calibri" pitchFamily="34" charset="-120"/>
              </a:rPr>
              <a:t>Priority levels matched our hand calculations, and new tickets went to the least-loaded eligible agent.</a:t>
            </a:r>
            <a:endParaRPr lang="en-US" sz="1350" dirty="0"/>
          </a:p>
          <a:p>
            <a:pPr marL="190500" indent="-190500">
              <a:lnSpc>
                <a:spcPct val="105000"/>
              </a:lnSpc>
              <a:spcAft>
                <a:spcPts val="300"/>
              </a:spcAft>
              <a:buSzPct val="100000"/>
              <a:buChar char="•"/>
            </a:pPr>
            <a:r>
              <a:rPr lang="en-US" sz="1350" dirty="0">
                <a:solidFill>
                  <a:srgbClr val="26303F"/>
                </a:solidFill>
                <a:latin typeface="Calibri" pitchFamily="34" charset="0"/>
                <a:ea typeface="Calibri" pitchFamily="34" charset="-122"/>
                <a:cs typeface="Calibri" pitchFamily="34" charset="-120"/>
              </a:rPr>
              <a:t>Similar tickets were suggested with their shared words; SLA timers paused, warned and breached at the expected times.</a:t>
            </a:r>
            <a:endParaRPr lang="en-US" sz="1350" dirty="0"/>
          </a:p>
          <a:p>
            <a:pPr marL="190500" indent="-190500">
              <a:lnSpc>
                <a:spcPct val="105000"/>
              </a:lnSpc>
              <a:spcAft>
                <a:spcPts val="300"/>
              </a:spcAft>
              <a:buSzPct val="100000"/>
              <a:buChar char="•"/>
            </a:pPr>
            <a:r>
              <a:rPr lang="en-US" sz="1350" dirty="0">
                <a:solidFill>
                  <a:srgbClr val="26303F"/>
                </a:solidFill>
                <a:latin typeface="Calibri" pitchFamily="34" charset="0"/>
                <a:ea typeface="Calibri" pitchFamily="34" charset="-122"/>
                <a:cs typeface="Calibri" pitchFamily="34" charset="-120"/>
              </a:rPr>
              <a:t>Reports agreed with the ticket list, and past views matched the earlier state of each ticket.</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64240" cy="640080"/>
          </a:xfrm>
          <a:prstGeom prst="rect">
            <a:avLst/>
          </a:prstGeom>
          <a:noFill/>
          <a:ln/>
        </p:spPr>
        <p:txBody>
          <a:bodyPr wrap="square" lIns="0" tIns="0" rIns="0" bIns="0" rtlCol="0" anchor="b"/>
          <a:lstStyle/>
          <a:p>
            <a:pPr indent="0" marL="0">
              <a:buNone/>
            </a:pPr>
            <a:r>
              <a:rPr lang="en-US" sz="2800" dirty="0">
                <a:solidFill>
                  <a:srgbClr val="14213D"/>
                </a:solidFill>
                <a:latin typeface="Georgia" pitchFamily="34" charset="0"/>
                <a:ea typeface="Georgia" pitchFamily="34" charset="-122"/>
                <a:cs typeface="Georgia" pitchFamily="34" charset="-120"/>
              </a:rPr>
              <a:t>Conclusion and Future Work</a:t>
            </a:r>
            <a:endParaRPr lang="en-US" sz="2800" dirty="0"/>
          </a:p>
        </p:txBody>
      </p:sp>
      <p:sp>
        <p:nvSpPr>
          <p:cNvPr id="3" name="Shape 1"/>
          <p:cNvSpPr/>
          <p:nvPr/>
        </p:nvSpPr>
        <p:spPr>
          <a:xfrm>
            <a:off x="548640" y="1060704"/>
            <a:ext cx="822960" cy="45720"/>
          </a:xfrm>
          <a:prstGeom prst="rect">
            <a:avLst/>
          </a:prstGeom>
          <a:solidFill>
            <a:srgbClr val="1F5FAD"/>
          </a:solidFill>
          <a:ln w="12700">
            <a:solidFill>
              <a:srgbClr val="1F5FAD"/>
            </a:solidFill>
            <a:prstDash val="solid"/>
          </a:ln>
        </p:spPr>
      </p:sp>
      <p:sp>
        <p:nvSpPr>
          <p:cNvPr id="4" name="Shape 2"/>
          <p:cNvSpPr/>
          <p:nvPr/>
        </p:nvSpPr>
        <p:spPr>
          <a:xfrm>
            <a:off x="548640" y="6382512"/>
            <a:ext cx="11091672" cy="0"/>
          </a:xfrm>
          <a:prstGeom prst="line">
            <a:avLst/>
          </a:prstGeom>
          <a:noFill/>
          <a:ln w="9525">
            <a:solidFill>
              <a:srgbClr val="D5DAE1"/>
            </a:solidFill>
            <a:prstDash val="solid"/>
          </a:ln>
        </p:spPr>
      </p:sp>
      <p:sp>
        <p:nvSpPr>
          <p:cNvPr id="5" name="Text 3"/>
          <p:cNvSpPr/>
          <p:nvPr/>
        </p:nvSpPr>
        <p:spPr>
          <a:xfrm>
            <a:off x="548640" y="6428232"/>
            <a:ext cx="3657600" cy="274320"/>
          </a:xfrm>
          <a:prstGeom prst="rect">
            <a:avLst/>
          </a:prstGeom>
          <a:noFill/>
          <a:ln/>
        </p:spPr>
        <p:txBody>
          <a:bodyPr wrap="square" lIns="0" tIns="0" rIns="0" bIns="0" rtlCol="0" anchor="ctr"/>
          <a:lstStyle/>
          <a:p>
            <a:pPr indent="0" marL="0">
              <a:buNone/>
            </a:pPr>
            <a:r>
              <a:rPr lang="en-US" sz="1050" dirty="0">
                <a:solidFill>
                  <a:srgbClr val="66707F"/>
                </a:solidFill>
                <a:latin typeface="Georgia" pitchFamily="34" charset="0"/>
                <a:ea typeface="Georgia" pitchFamily="34" charset="-122"/>
                <a:cs typeface="Georgia" pitchFamily="34" charset="-120"/>
              </a:rPr>
              <a:t>Smart Helpdesk</a:t>
            </a:r>
            <a:endParaRPr lang="en-US" sz="1050" dirty="0"/>
          </a:p>
        </p:txBody>
      </p:sp>
      <p:sp>
        <p:nvSpPr>
          <p:cNvPr id="6" name="Text 4"/>
          <p:cNvSpPr/>
          <p:nvPr/>
        </p:nvSpPr>
        <p:spPr>
          <a:xfrm>
            <a:off x="5669280" y="6428232"/>
            <a:ext cx="5971032" cy="274320"/>
          </a:xfrm>
          <a:prstGeom prst="rect">
            <a:avLst/>
          </a:prstGeom>
          <a:noFill/>
          <a:ln/>
        </p:spPr>
        <p:txBody>
          <a:bodyPr wrap="square" lIns="0" tIns="0" rIns="0" bIns="0" rtlCol="0" anchor="ctr"/>
          <a:lstStyle/>
          <a:p>
            <a:pPr algn="r" indent="0" marL="0">
              <a:buNone/>
            </a:pPr>
            <a:r>
              <a:rPr lang="en-US" sz="1050" dirty="0">
                <a:solidFill>
                  <a:srgbClr val="66707F"/>
                </a:solidFill>
                <a:latin typeface="Calibri" pitchFamily="34" charset="0"/>
                <a:ea typeface="Calibri" pitchFamily="34" charset="-122"/>
                <a:cs typeface="Calibri" pitchFamily="34" charset="-120"/>
              </a:rPr>
              <a:t>Chapter 5: Conclusion and Future Recommendations      13 / 13</a:t>
            </a:r>
            <a:endParaRPr lang="en-US" sz="1050" dirty="0"/>
          </a:p>
        </p:txBody>
      </p:sp>
      <p:sp>
        <p:nvSpPr>
          <p:cNvPr id="8" name="Text 5"/>
          <p:cNvSpPr/>
          <p:nvPr/>
        </p:nvSpPr>
        <p:spPr>
          <a:xfrm>
            <a:off x="548640" y="1280160"/>
            <a:ext cx="3931920" cy="384048"/>
          </a:xfrm>
          <a:prstGeom prst="rect">
            <a:avLst/>
          </a:prstGeom>
          <a:noFill/>
          <a:ln/>
        </p:spPr>
        <p:txBody>
          <a:bodyPr wrap="square" lIns="0" tIns="0" rIns="0" bIns="0" rtlCol="0" anchor="b"/>
          <a:lstStyle/>
          <a:p>
            <a:pPr indent="0" marL="0">
              <a:buNone/>
            </a:pPr>
            <a:r>
              <a:rPr lang="en-US" sz="1700" dirty="0">
                <a:solidFill>
                  <a:srgbClr val="14213D"/>
                </a:solidFill>
                <a:latin typeface="Georgia" pitchFamily="34" charset="0"/>
                <a:ea typeface="Georgia" pitchFamily="34" charset="-122"/>
                <a:cs typeface="Georgia" pitchFamily="34" charset="-120"/>
              </a:rPr>
              <a:t>Conclusion</a:t>
            </a:r>
            <a:endParaRPr lang="en-US" sz="1700" dirty="0"/>
          </a:p>
        </p:txBody>
      </p:sp>
      <p:sp>
        <p:nvSpPr>
          <p:cNvPr id="9" name="Shape 6"/>
          <p:cNvSpPr/>
          <p:nvPr/>
        </p:nvSpPr>
        <p:spPr>
          <a:xfrm>
            <a:off x="548640" y="1737360"/>
            <a:ext cx="3931920" cy="0"/>
          </a:xfrm>
          <a:prstGeom prst="line">
            <a:avLst/>
          </a:prstGeom>
          <a:noFill/>
          <a:ln w="9525">
            <a:solidFill>
              <a:srgbClr val="D5DAE1"/>
            </a:solidFill>
            <a:prstDash val="solid"/>
          </a:ln>
        </p:spPr>
      </p:sp>
      <p:sp>
        <p:nvSpPr>
          <p:cNvPr id="10" name="Text 7"/>
          <p:cNvSpPr/>
          <p:nvPr/>
        </p:nvSpPr>
        <p:spPr>
          <a:xfrm>
            <a:off x="548640" y="1847088"/>
            <a:ext cx="3931920" cy="4370832"/>
          </a:xfrm>
          <a:prstGeom prst="rect">
            <a:avLst/>
          </a:prstGeom>
          <a:noFill/>
          <a:ln/>
        </p:spPr>
        <p:txBody>
          <a:bodyPr wrap="square" lIns="25400" tIns="25400" rIns="25400" bIns="25400" rtlCol="0" anchor="t"/>
          <a:lstStyle/>
          <a:p>
            <a:pPr marL="190500" indent="-190500">
              <a:lnSpc>
                <a:spcPct val="105000"/>
              </a:lnSpc>
              <a:spcAft>
                <a:spcPts val="1400"/>
              </a:spcAft>
              <a:buSzPct val="100000"/>
              <a:buChar char="•"/>
            </a:pPr>
            <a:r>
              <a:rPr lang="en-US" sz="1600" dirty="0">
                <a:solidFill>
                  <a:srgbClr val="26303F"/>
                </a:solidFill>
                <a:latin typeface="Calibri" pitchFamily="34" charset="0"/>
                <a:ea typeface="Calibri" pitchFamily="34" charset="-122"/>
                <a:cs typeface="Calibri" pitchFamily="34" charset="-120"/>
              </a:rPr>
              <a:t>Smart Helpdesk serves many organisations from one installation and keeps their data apart in the application and the database.</a:t>
            </a:r>
            <a:endParaRPr lang="en-US" sz="1600" dirty="0"/>
          </a:p>
          <a:p>
            <a:pPr marL="190500" indent="-190500">
              <a:lnSpc>
                <a:spcPct val="105000"/>
              </a:lnSpc>
              <a:spcAft>
                <a:spcPts val="1400"/>
              </a:spcAft>
              <a:buSzPct val="100000"/>
              <a:buChar char="•"/>
            </a:pPr>
            <a:r>
              <a:rPr lang="en-US" sz="1600" dirty="0">
                <a:solidFill>
                  <a:srgbClr val="26303F"/>
                </a:solidFill>
                <a:latin typeface="Calibri" pitchFamily="34" charset="0"/>
                <a:ea typeface="Calibri" pitchFamily="34" charset="-122"/>
                <a:cs typeface="Calibri" pitchFamily="34" charset="-120"/>
              </a:rPr>
              <a:t>All four objectives were met, and manual testing confirmed the features and the algorithms.</a:t>
            </a:r>
            <a:endParaRPr lang="en-US" sz="1600" dirty="0"/>
          </a:p>
          <a:p>
            <a:pPr marL="190500" indent="-190500">
              <a:lnSpc>
                <a:spcPct val="105000"/>
              </a:lnSpc>
              <a:spcAft>
                <a:spcPts val="1400"/>
              </a:spcAft>
              <a:buSzPct val="100000"/>
              <a:buChar char="•"/>
            </a:pPr>
            <a:r>
              <a:rPr lang="en-US" sz="1600" dirty="0">
                <a:solidFill>
                  <a:srgbClr val="26303F"/>
                </a:solidFill>
                <a:latin typeface="Calibri" pitchFamily="34" charset="0"/>
                <a:ea typeface="Calibri" pitchFamily="34" charset="-122"/>
                <a:cs typeface="Calibri" pitchFamily="34" charset="-120"/>
              </a:rPr>
              <a:t>Explanations make automatic decisions easier to trust; time handling was the hardest part of SLA management.</a:t>
            </a:r>
            <a:endParaRPr lang="en-US" sz="1600" dirty="0"/>
          </a:p>
        </p:txBody>
      </p:sp>
      <p:sp>
        <p:nvSpPr>
          <p:cNvPr id="11" name="Text 8"/>
          <p:cNvSpPr/>
          <p:nvPr/>
        </p:nvSpPr>
        <p:spPr>
          <a:xfrm>
            <a:off x="4754880" y="1280160"/>
            <a:ext cx="3246120" cy="384048"/>
          </a:xfrm>
          <a:prstGeom prst="rect">
            <a:avLst/>
          </a:prstGeom>
          <a:noFill/>
          <a:ln/>
        </p:spPr>
        <p:txBody>
          <a:bodyPr wrap="square" lIns="0" tIns="0" rIns="0" bIns="0" rtlCol="0" anchor="b"/>
          <a:lstStyle/>
          <a:p>
            <a:pPr indent="0" marL="0">
              <a:buNone/>
            </a:pPr>
            <a:r>
              <a:rPr lang="en-US" sz="1700" dirty="0">
                <a:solidFill>
                  <a:srgbClr val="14213D"/>
                </a:solidFill>
                <a:latin typeface="Georgia" pitchFamily="34" charset="0"/>
                <a:ea typeface="Georgia" pitchFamily="34" charset="-122"/>
                <a:cs typeface="Georgia" pitchFamily="34" charset="-120"/>
              </a:rPr>
              <a:t>Limitations</a:t>
            </a:r>
            <a:endParaRPr lang="en-US" sz="1700" dirty="0"/>
          </a:p>
        </p:txBody>
      </p:sp>
      <p:sp>
        <p:nvSpPr>
          <p:cNvPr id="12" name="Shape 9"/>
          <p:cNvSpPr/>
          <p:nvPr/>
        </p:nvSpPr>
        <p:spPr>
          <a:xfrm>
            <a:off x="4754880" y="1737360"/>
            <a:ext cx="3246120" cy="0"/>
          </a:xfrm>
          <a:prstGeom prst="line">
            <a:avLst/>
          </a:prstGeom>
          <a:noFill/>
          <a:ln w="9525">
            <a:solidFill>
              <a:srgbClr val="D5DAE1"/>
            </a:solidFill>
            <a:prstDash val="solid"/>
          </a:ln>
        </p:spPr>
      </p:sp>
      <p:sp>
        <p:nvSpPr>
          <p:cNvPr id="13" name="Text 10"/>
          <p:cNvSpPr/>
          <p:nvPr/>
        </p:nvSpPr>
        <p:spPr>
          <a:xfrm>
            <a:off x="4754880" y="1847088"/>
            <a:ext cx="3246120" cy="4370832"/>
          </a:xfrm>
          <a:prstGeom prst="rect">
            <a:avLst/>
          </a:prstGeom>
          <a:noFill/>
          <a:ln/>
        </p:spPr>
        <p:txBody>
          <a:bodyPr wrap="square" lIns="25400" tIns="25400" rIns="25400" bIns="25400" rtlCol="0" anchor="t"/>
          <a:lstStyle/>
          <a:p>
            <a:pPr marL="190500" indent="-190500">
              <a:lnSpc>
                <a:spcPct val="105000"/>
              </a:lnSpc>
              <a:spcAft>
                <a:spcPts val="1400"/>
              </a:spcAft>
              <a:buSzPct val="100000"/>
              <a:buChar char="•"/>
            </a:pPr>
            <a:r>
              <a:rPr lang="en-US" sz="1600" dirty="0">
                <a:solidFill>
                  <a:srgbClr val="26303F"/>
                </a:solidFill>
                <a:latin typeface="Calibri" pitchFamily="34" charset="0"/>
                <a:ea typeface="Calibri" pitchFamily="34" charset="-122"/>
                <a:cs typeface="Calibri" pitchFamily="34" charset="-120"/>
              </a:rPr>
              <a:t>Weights and thresholds are set by administrators, not learned.</a:t>
            </a:r>
            <a:endParaRPr lang="en-US" sz="1600" dirty="0"/>
          </a:p>
          <a:p>
            <a:pPr marL="190500" indent="-190500">
              <a:lnSpc>
                <a:spcPct val="105000"/>
              </a:lnSpc>
              <a:spcAft>
                <a:spcPts val="1400"/>
              </a:spcAft>
              <a:buSzPct val="100000"/>
              <a:buChar char="•"/>
            </a:pPr>
            <a:r>
              <a:rPr lang="en-US" sz="1600" dirty="0">
                <a:solidFill>
                  <a:srgbClr val="26303F"/>
                </a:solidFill>
                <a:latin typeface="Calibri" pitchFamily="34" charset="0"/>
                <a:ea typeface="Calibri" pitchFamily="34" charset="-122"/>
                <a:cs typeface="Calibri" pitchFamily="34" charset="-120"/>
              </a:rPr>
              <a:t>Duplicates written in different words are missed.</a:t>
            </a:r>
            <a:endParaRPr lang="en-US" sz="1600" dirty="0"/>
          </a:p>
          <a:p>
            <a:pPr marL="190500" indent="-190500">
              <a:lnSpc>
                <a:spcPct val="105000"/>
              </a:lnSpc>
              <a:spcAft>
                <a:spcPts val="1400"/>
              </a:spcAft>
              <a:buSzPct val="100000"/>
              <a:buChar char="•"/>
            </a:pPr>
            <a:r>
              <a:rPr lang="en-US" sz="1600" dirty="0">
                <a:solidFill>
                  <a:srgbClr val="26303F"/>
                </a:solidFill>
                <a:latin typeface="Calibri" pitchFamily="34" charset="0"/>
                <a:ea typeface="Calibri" pitchFamily="34" charset="-122"/>
                <a:cs typeface="Calibri" pitchFamily="34" charset="-120"/>
              </a:rPr>
              <a:t>No load testing; one small server.</a:t>
            </a:r>
            <a:endParaRPr lang="en-US" sz="1600" dirty="0"/>
          </a:p>
          <a:p>
            <a:pPr marL="190500" indent="-190500">
              <a:lnSpc>
                <a:spcPct val="105000"/>
              </a:lnSpc>
              <a:spcAft>
                <a:spcPts val="1400"/>
              </a:spcAft>
              <a:buSzPct val="100000"/>
              <a:buChar char="•"/>
            </a:pPr>
            <a:r>
              <a:rPr lang="en-US" sz="1600" dirty="0">
                <a:solidFill>
                  <a:srgbClr val="26303F"/>
                </a:solidFill>
                <a:latin typeface="Calibri" pitchFamily="34" charset="0"/>
                <a:ea typeface="Calibri" pitchFamily="34" charset="-122"/>
                <a:cs typeface="Calibri" pitchFamily="34" charset="-120"/>
              </a:rPr>
              <a:t>No customer portal, live chat, knowledge base, custom fields or billing.</a:t>
            </a:r>
            <a:endParaRPr lang="en-US" sz="1600" dirty="0"/>
          </a:p>
          <a:p>
            <a:pPr marL="190500" indent="-190500">
              <a:lnSpc>
                <a:spcPct val="105000"/>
              </a:lnSpc>
              <a:spcAft>
                <a:spcPts val="1400"/>
              </a:spcAft>
              <a:buSzPct val="100000"/>
              <a:buChar char="•"/>
            </a:pPr>
            <a:r>
              <a:rPr lang="en-US" sz="1600" dirty="0">
                <a:solidFill>
                  <a:srgbClr val="26303F"/>
                </a:solidFill>
                <a:latin typeface="Calibri" pitchFamily="34" charset="0"/>
                <a:ea typeface="Calibri" pitchFamily="34" charset="-122"/>
                <a:cs typeface="Calibri" pitchFamily="34" charset="-120"/>
              </a:rPr>
              <a:t>Designed for desktop and laptop screens.</a:t>
            </a:r>
            <a:endParaRPr lang="en-US" sz="1600" dirty="0"/>
          </a:p>
        </p:txBody>
      </p:sp>
      <p:sp>
        <p:nvSpPr>
          <p:cNvPr id="14" name="Text 11"/>
          <p:cNvSpPr/>
          <p:nvPr/>
        </p:nvSpPr>
        <p:spPr>
          <a:xfrm>
            <a:off x="8275320" y="1280160"/>
            <a:ext cx="3364992" cy="384048"/>
          </a:xfrm>
          <a:prstGeom prst="rect">
            <a:avLst/>
          </a:prstGeom>
          <a:noFill/>
          <a:ln/>
        </p:spPr>
        <p:txBody>
          <a:bodyPr wrap="square" lIns="0" tIns="0" rIns="0" bIns="0" rtlCol="0" anchor="b"/>
          <a:lstStyle/>
          <a:p>
            <a:pPr indent="0" marL="0">
              <a:buNone/>
            </a:pPr>
            <a:r>
              <a:rPr lang="en-US" sz="1700" dirty="0">
                <a:solidFill>
                  <a:srgbClr val="14213D"/>
                </a:solidFill>
                <a:latin typeface="Georgia" pitchFamily="34" charset="0"/>
                <a:ea typeface="Georgia" pitchFamily="34" charset="-122"/>
                <a:cs typeface="Georgia" pitchFamily="34" charset="-120"/>
              </a:rPr>
              <a:t>Future work</a:t>
            </a:r>
            <a:endParaRPr lang="en-US" sz="1700" dirty="0"/>
          </a:p>
        </p:txBody>
      </p:sp>
      <p:sp>
        <p:nvSpPr>
          <p:cNvPr id="15" name="Shape 12"/>
          <p:cNvSpPr/>
          <p:nvPr/>
        </p:nvSpPr>
        <p:spPr>
          <a:xfrm>
            <a:off x="8275320" y="1737360"/>
            <a:ext cx="3364992" cy="0"/>
          </a:xfrm>
          <a:prstGeom prst="line">
            <a:avLst/>
          </a:prstGeom>
          <a:noFill/>
          <a:ln w="9525">
            <a:solidFill>
              <a:srgbClr val="D5DAE1"/>
            </a:solidFill>
            <a:prstDash val="solid"/>
          </a:ln>
        </p:spPr>
      </p:sp>
      <p:sp>
        <p:nvSpPr>
          <p:cNvPr id="16" name="Text 13"/>
          <p:cNvSpPr/>
          <p:nvPr/>
        </p:nvSpPr>
        <p:spPr>
          <a:xfrm>
            <a:off x="8275320" y="1847088"/>
            <a:ext cx="3364992" cy="4370832"/>
          </a:xfrm>
          <a:prstGeom prst="rect">
            <a:avLst/>
          </a:prstGeom>
          <a:noFill/>
          <a:ln/>
        </p:spPr>
        <p:txBody>
          <a:bodyPr wrap="square" lIns="25400" tIns="25400" rIns="25400" bIns="25400" rtlCol="0" anchor="t"/>
          <a:lstStyle/>
          <a:p>
            <a:pPr marL="190500" indent="-190500">
              <a:lnSpc>
                <a:spcPct val="105000"/>
              </a:lnSpc>
              <a:spcAft>
                <a:spcPts val="1400"/>
              </a:spcAft>
              <a:buSzPct val="100000"/>
              <a:buChar char="•"/>
            </a:pPr>
            <a:r>
              <a:rPr lang="en-US" sz="1600" dirty="0">
                <a:solidFill>
                  <a:srgbClr val="26303F"/>
                </a:solidFill>
                <a:latin typeface="Calibri" pitchFamily="34" charset="0"/>
                <a:ea typeface="Calibri" pitchFamily="34" charset="-122"/>
                <a:cs typeface="Calibri" pitchFamily="34" charset="-120"/>
              </a:rPr>
              <a:t>Load testing and monitoring with many users.</a:t>
            </a:r>
            <a:endParaRPr lang="en-US" sz="1600" dirty="0"/>
          </a:p>
          <a:p>
            <a:pPr marL="190500" indent="-190500">
              <a:lnSpc>
                <a:spcPct val="105000"/>
              </a:lnSpc>
              <a:spcAft>
                <a:spcPts val="1400"/>
              </a:spcAft>
              <a:buSzPct val="100000"/>
              <a:buChar char="•"/>
            </a:pPr>
            <a:r>
              <a:rPr lang="en-US" sz="1600" dirty="0">
                <a:solidFill>
                  <a:srgbClr val="26303F"/>
                </a:solidFill>
                <a:latin typeface="Calibri" pitchFamily="34" charset="0"/>
                <a:ea typeface="Calibri" pitchFamily="34" charset="-122"/>
                <a:cs typeface="Calibri" pitchFamily="34" charset="-120"/>
              </a:rPr>
              <a:t>Stronger algorithms: SLA-aware priority and duplicate detection that understands meaning.</a:t>
            </a:r>
            <a:endParaRPr lang="en-US" sz="1600" dirty="0"/>
          </a:p>
          <a:p>
            <a:pPr marL="190500" indent="-190500">
              <a:lnSpc>
                <a:spcPct val="105000"/>
              </a:lnSpc>
              <a:spcAft>
                <a:spcPts val="1400"/>
              </a:spcAft>
              <a:buSzPct val="100000"/>
              <a:buChar char="•"/>
            </a:pPr>
            <a:r>
              <a:rPr lang="en-US" sz="1600" dirty="0">
                <a:solidFill>
                  <a:srgbClr val="26303F"/>
                </a:solidFill>
                <a:latin typeface="Calibri" pitchFamily="34" charset="0"/>
                <a:ea typeface="Calibri" pitchFamily="34" charset="-122"/>
                <a:cs typeface="Calibri" pitchFamily="34" charset="-120"/>
              </a:rPr>
              <a:t>A customer portal with live chat.</a:t>
            </a:r>
            <a:endParaRPr lang="en-US" sz="1600" dirty="0"/>
          </a:p>
          <a:p>
            <a:pPr marL="190500" indent="-190500">
              <a:lnSpc>
                <a:spcPct val="105000"/>
              </a:lnSpc>
              <a:spcAft>
                <a:spcPts val="1400"/>
              </a:spcAft>
              <a:buSzPct val="100000"/>
              <a:buChar char="•"/>
            </a:pPr>
            <a:r>
              <a:rPr lang="en-US" sz="1600" dirty="0">
                <a:solidFill>
                  <a:srgbClr val="26303F"/>
                </a:solidFill>
                <a:latin typeface="Calibri" pitchFamily="34" charset="0"/>
                <a:ea typeface="Calibri" pitchFamily="34" charset="-122"/>
                <a:cs typeface="Calibri" pitchFamily="34" charset="-120"/>
              </a:rPr>
              <a:t>Weights learned from resolved tickets.</a:t>
            </a:r>
            <a:endParaRPr lang="en-US" sz="1600" dirty="0"/>
          </a:p>
          <a:p>
            <a:pPr marL="190500" indent="-190500">
              <a:lnSpc>
                <a:spcPct val="105000"/>
              </a:lnSpc>
              <a:spcAft>
                <a:spcPts val="1400"/>
              </a:spcAft>
              <a:buSzPct val="100000"/>
              <a:buChar char="•"/>
            </a:pPr>
            <a:r>
              <a:rPr lang="en-US" sz="1600" dirty="0">
                <a:solidFill>
                  <a:srgbClr val="26303F"/>
                </a:solidFill>
                <a:latin typeface="Calibri" pitchFamily="34" charset="0"/>
                <a:ea typeface="Calibri" pitchFamily="34" charset="-122"/>
                <a:cs typeface="Calibri" pitchFamily="34" charset="-120"/>
              </a:rPr>
              <a:t>Layouts for phones.</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0" y="0"/>
            <a:ext cx="12191695" cy="6858000"/>
          </a:xfrm>
          <a:prstGeom prst="rect">
            <a:avLst/>
          </a:prstGeom>
          <a:noFill/>
          <a:ln/>
        </p:spPr>
        <p:txBody>
          <a:bodyPr wrap="square" rtlCol="0" anchor="ctr"/>
          <a:lstStyle/>
          <a:p>
            <a:pPr algn="ctr" indent="0" marL="0">
              <a:buNone/>
            </a:pPr>
            <a:r>
              <a:rPr lang="en-US" sz="6000" dirty="0">
                <a:solidFill>
                  <a:srgbClr val="FFFFFF"/>
                </a:solidFill>
                <a:latin typeface="Georgia" pitchFamily="34" charset="0"/>
                <a:ea typeface="Georgia" pitchFamily="34" charset="-122"/>
                <a:cs typeface="Georgia" pitchFamily="34" charset="-120"/>
              </a:rPr>
              <a:t>Thank You</a:t>
            </a:r>
            <a:endParaRPr lang="en-US" sz="6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Everest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Helpdesk: A Multi-Tenant Support Ticket Management System</dc:title>
  <dc:subject>PptxGenJS Presentation</dc:subject>
  <dc:creator>Subham Bhandari, Utsav Karki</dc:creator>
  <cp:lastModifiedBy>Subham Bhandari, Utsav Karki</cp:lastModifiedBy>
  <cp:revision>1</cp:revision>
  <dcterms:created xsi:type="dcterms:W3CDTF">2026-09-26T00:57:26Z</dcterms:created>
  <dcterms:modified xsi:type="dcterms:W3CDTF">2026-09-26T00:57:26Z</dcterms:modified>
</cp:coreProperties>
</file>